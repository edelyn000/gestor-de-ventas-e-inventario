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5" r:id="rId4"/>
    <p:sldId id="274" r:id="rId5"/>
    <p:sldId id="266" r:id="rId6"/>
    <p:sldId id="258" r:id="rId7"/>
    <p:sldId id="275" r:id="rId19"/>
    <p:sldId id="276" r:id="rId20"/>
    <p:sldId id="277" r:id="rId21"/>
    <p:sldId id="278" r:id="rId22"/>
    <p:sldId id="279" r:id="rId23"/>
    <p:sldId id="280" r:id="rId24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3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5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14763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9595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5261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48371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3360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5959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7703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15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6318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05669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648011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5367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n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65" y="282653"/>
            <a:ext cx="1020690" cy="124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3214688" y="259255"/>
            <a:ext cx="51292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UNIVERSIDAD DEL ZULIA           </a:t>
            </a:r>
            <a:endParaRPr lang="es-VE" sz="2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FACULTAD</a:t>
            </a:r>
            <a:r>
              <a:rPr lang="es-VE" sz="2000" spc="-15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</a:t>
            </a:r>
            <a:r>
              <a:rPr lang="es-VE" sz="2000" spc="-3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es-VE" sz="2000" spc="-2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CIENCIAS</a:t>
            </a:r>
          </a:p>
          <a:p>
            <a:pPr algn="ctr"/>
            <a:r>
              <a:rPr lang="es-VE" sz="2000" dirty="0" smtClean="0"/>
              <a:t>DIVISIÓN DE PROGRAMAS ESPECIALES</a:t>
            </a:r>
            <a:endParaRPr lang="en-US" sz="2000" dirty="0" smtClean="0"/>
          </a:p>
          <a:p>
            <a:pPr algn="ctr"/>
            <a:r>
              <a:rPr lang="es-VE" sz="2000" dirty="0" smtClean="0"/>
              <a:t>LICENCIATURA EN COMPUTACIÓN</a:t>
            </a:r>
            <a:endParaRPr lang="es-VE" sz="2000" dirty="0"/>
          </a:p>
        </p:txBody>
      </p:sp>
      <p:sp>
        <p:nvSpPr>
          <p:cNvPr id="8" name="Rectángulo 7"/>
          <p:cNvSpPr/>
          <p:nvPr/>
        </p:nvSpPr>
        <p:spPr>
          <a:xfrm>
            <a:off x="1807593" y="2190371"/>
            <a:ext cx="85119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4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DESARROLLO DE SISTEMAS</a:t>
            </a:r>
          </a:p>
        </p:txBody>
      </p:sp>
      <p:sp>
        <p:nvSpPr>
          <p:cNvPr id="6" name="Rectángulo 5"/>
          <p:cNvSpPr/>
          <p:nvPr/>
        </p:nvSpPr>
        <p:spPr>
          <a:xfrm>
            <a:off x="4703662" y="3651566"/>
            <a:ext cx="29198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 Financiero</a:t>
            </a:r>
            <a:endParaRPr lang="es-VE" sz="2800" dirty="0"/>
          </a:p>
        </p:txBody>
      </p:sp>
      <p:sp>
        <p:nvSpPr>
          <p:cNvPr id="10" name="Rectángulo 9"/>
          <p:cNvSpPr/>
          <p:nvPr/>
        </p:nvSpPr>
        <p:spPr>
          <a:xfrm>
            <a:off x="5617328" y="6199063"/>
            <a:ext cx="16241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VE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PERIODO</a:t>
            </a:r>
            <a:r>
              <a:rPr lang="es-VE" sz="1600" spc="-4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1600" spc="-4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 </a:t>
            </a:r>
            <a:r>
              <a:rPr lang="es-VE" sz="1600" spc="-4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- 2026</a:t>
            </a:r>
            <a:endParaRPr lang="es-VE" sz="1600" dirty="0"/>
          </a:p>
        </p:txBody>
      </p:sp>
      <p:sp>
        <p:nvSpPr>
          <p:cNvPr id="9" name="Rectángulo 8"/>
          <p:cNvSpPr/>
          <p:nvPr/>
        </p:nvSpPr>
        <p:spPr>
          <a:xfrm>
            <a:off x="21869" y="2926939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PROYECTO FINAL</a:t>
            </a:r>
            <a:endParaRPr lang="es-VE" sz="2800" dirty="0"/>
          </a:p>
        </p:txBody>
      </p:sp>
      <p:sp>
        <p:nvSpPr>
          <p:cNvPr id="11" name="Rectángulo 10"/>
          <p:cNvSpPr/>
          <p:nvPr/>
        </p:nvSpPr>
        <p:spPr>
          <a:xfrm>
            <a:off x="8824264" y="5442419"/>
            <a:ext cx="16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VE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Presentado por</a:t>
            </a:r>
            <a:endParaRPr lang="es-VE" b="1" dirty="0"/>
          </a:p>
        </p:txBody>
      </p:sp>
      <p:sp>
        <p:nvSpPr>
          <p:cNvPr id="12" name="Rectángulo 11"/>
          <p:cNvSpPr/>
          <p:nvPr/>
        </p:nvSpPr>
        <p:spPr>
          <a:xfrm>
            <a:off x="9493381" y="5795051"/>
            <a:ext cx="2344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VE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Hernández, Edelyn</a:t>
            </a:r>
          </a:p>
          <a:p>
            <a:r>
              <a:t>CI: 28109107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901" y="186362"/>
            <a:ext cx="1375526" cy="137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AGENDA</a:t>
            </a:r>
            <a:endParaRPr lang="es-VE" sz="2400" dirty="0"/>
          </a:p>
        </p:txBody>
      </p:sp>
      <p:sp>
        <p:nvSpPr>
          <p:cNvPr id="7" name="CuadroTexto 6"/>
          <p:cNvSpPr txBox="1"/>
          <p:nvPr/>
        </p:nvSpPr>
        <p:spPr>
          <a:xfrm>
            <a:off x="883767" y="1561672"/>
            <a:ext cx="103238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Identificar: entradas, procesos y salidas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Ciclo </a:t>
            </a:r>
            <a:r>
              <a:rPr lang="es-VE" sz="2800" dirty="0" smtClean="0"/>
              <a:t>de Vida seleccionado (resumen)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Tecnologías y Herramientas de Desarrollo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Diagrama de Flujo de Datos (DFD)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Diccionario de Datos (DFD)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Diagrama Entidad – Relación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Diccionario de Datos (</a:t>
            </a:r>
            <a:r>
              <a:rPr lang="es-VE" sz="2800" dirty="0"/>
              <a:t>Diagrama </a:t>
            </a:r>
            <a:r>
              <a:rPr lang="es-VE" sz="2800" dirty="0" smtClean="0"/>
              <a:t>E-R)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Interfaces de Entrada / Salida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Demostración de Pruebas al SI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Plan de Mantenimiento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 </a:t>
            </a:r>
            <a:r>
              <a:rPr lang="es-VE" sz="2800" dirty="0" smtClean="0"/>
              <a:t>Personal que participo (soporte - minuta)</a:t>
            </a:r>
            <a:endParaRPr lang="es-VE" sz="2800" dirty="0"/>
          </a:p>
        </p:txBody>
      </p:sp>
    </p:spTree>
    <p:extLst>
      <p:ext uri="{BB962C8B-B14F-4D97-AF65-F5344CB8AC3E}">
        <p14:creationId xmlns:p14="http://schemas.microsoft.com/office/powerpoint/2010/main" val="256379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ENTRADA – PROCESOS - SALIDAS</a:t>
            </a:r>
            <a:endParaRPr lang="es-VE" sz="2400" dirty="0"/>
          </a:p>
        </p:txBody>
      </p:sp>
      <p:sp>
        <p:nvSpPr>
          <p:cNvPr id="2" name="Rectángulo 1"/>
          <p:cNvSpPr/>
          <p:nvPr/>
        </p:nvSpPr>
        <p:spPr>
          <a:xfrm>
            <a:off x="4214948" y="1680755"/>
            <a:ext cx="3217818" cy="4802777"/>
          </a:xfrm>
          <a:prstGeom prst="rect">
            <a:avLst/>
          </a:prstGeom>
          <a:ln w="28575">
            <a:solidFill>
              <a:srgbClr val="BD3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/>
              <a:t>PROCESOS</a:t>
            </a:r>
          </a:p>
          <a:p>
            <a:pPr>
              <a:spcAft>
                <a:spcPts val="200"/>
              </a:spcAft>
            </a:pPr>
            <a:r>
              <a:rPr sz="1000"/>
              <a:t>• Validar existencia del producto e inventario suficiente</a:t>
            </a:r>
          </a:p>
          <a:p>
            <a:pPr>
              <a:spcAft>
                <a:spcPts val="200"/>
              </a:spcAft>
            </a:pPr>
            <a:r>
              <a:rPr sz="1000"/>
              <a:t>• Convertir precio USD a bolívares (tasa BCV)</a:t>
            </a:r>
          </a:p>
          <a:p>
            <a:pPr>
              <a:spcAft>
                <a:spcPts val="200"/>
              </a:spcAft>
            </a:pPr>
            <a:r>
              <a:rPr sz="1000"/>
              <a:t>• Calcular total de venta (subtotales + total)</a:t>
            </a:r>
          </a:p>
          <a:p>
            <a:pPr>
              <a:spcAft>
                <a:spcPts val="200"/>
              </a:spcAft>
            </a:pPr>
            <a:r>
              <a:rPr sz="1000"/>
              <a:t>• Registrar tipo de pago (5 métodos, pagos mixtos VES/USD)</a:t>
            </a:r>
          </a:p>
          <a:p>
            <a:pPr>
              <a:spcAft>
                <a:spcPts val="200"/>
              </a:spcAft>
            </a:pPr>
            <a:r>
              <a:rPr sz="1000"/>
              <a:t>• Registrar tasa BCV aplicada en la venta</a:t>
            </a:r>
          </a:p>
          <a:p>
            <a:pPr>
              <a:spcAft>
                <a:spcPts val="200"/>
              </a:spcAft>
            </a:pPr>
            <a:r>
              <a:rPr sz="1000"/>
              <a:t>• Actualizar inventario con auditoría de movimientos</a:t>
            </a:r>
          </a:p>
          <a:p>
            <a:pPr>
              <a:spcAft>
                <a:spcPts val="200"/>
              </a:spcAft>
            </a:pPr>
            <a:r>
              <a:rPr sz="1000"/>
              <a:t>• Generar factura (FAC-YYYYMMDD-NNN)</a:t>
            </a:r>
          </a:p>
          <a:p>
            <a:pPr>
              <a:spcAft>
                <a:spcPts val="200"/>
              </a:spcAft>
            </a:pPr>
            <a:r>
              <a:rPr sz="1000"/>
              <a:t>• Autenticar usuarios con bcrypt</a:t>
            </a:r>
          </a:p>
          <a:p>
            <a:pPr>
              <a:spcAft>
                <a:spcPts val="200"/>
              </a:spcAft>
            </a:pPr>
            <a:r>
              <a:rPr sz="1000"/>
              <a:t>• CRUD completo de productos (crear, editar, eliminar)</a:t>
            </a:r>
          </a:p>
          <a:p>
            <a:pPr>
              <a:spcAft>
                <a:spcPts val="200"/>
              </a:spcAft>
            </a:pPr>
            <a:r>
              <a:rPr sz="1000"/>
              <a:t>• Control de inventario (compra, venta, merma, ajuste, devolución)</a:t>
            </a:r>
          </a:p>
          <a:p>
            <a:pPr>
              <a:spcAft>
                <a:spcPts val="200"/>
              </a:spcAft>
            </a:pPr>
            <a:r>
              <a:rPr sz="1000"/>
              <a:t>• Generar reporte diario consolidado</a:t>
            </a:r>
          </a:p>
          <a:p>
            <a:pPr>
              <a:spcAft>
                <a:spcPts val="200"/>
              </a:spcAft>
            </a:pPr>
            <a:r>
              <a:rPr sz="1000"/>
              <a:t>• Exportar reporte a Excel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8151224" y="1219090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/>
              <a:t>SALIDAS</a:t>
            </a:r>
            <a:endParaRPr lang="es-VE" sz="2400" b="1" dirty="0"/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814252" y="1330839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/>
              <a:t>ENTRADAS</a:t>
            </a:r>
            <a:endParaRPr lang="es-VE" sz="2400" b="1" dirty="0"/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4515395" y="1750313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chemeClr val="bg1"/>
                </a:solidFill>
              </a:rPr>
              <a:t>PROCESOS</a:t>
            </a:r>
            <a:endParaRPr lang="es-VE" sz="2400" b="1" dirty="0">
              <a:solidFill>
                <a:schemeClr val="bg1"/>
              </a:solidFill>
            </a:endParaRPr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635726" y="2364377"/>
            <a:ext cx="3513908" cy="30480"/>
          </a:xfrm>
          <a:prstGeom prst="straightConnector1">
            <a:avLst/>
          </a:prstGeom>
          <a:ln w="38100">
            <a:solidFill>
              <a:srgbClr val="BD3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/>
        </p:nvCxnSpPr>
        <p:spPr>
          <a:xfrm>
            <a:off x="7432766" y="2379617"/>
            <a:ext cx="3513908" cy="30480"/>
          </a:xfrm>
          <a:prstGeom prst="straightConnector1">
            <a:avLst/>
          </a:prstGeom>
          <a:ln w="38100">
            <a:solidFill>
              <a:srgbClr val="BD3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0000" y="2500000"/>
            <a:ext cx="34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/>
            </a:pPr>
            <a:r>
              <a:t>• Ingresar producto (nombre, categoría, precio, stock mínimo)</a:t>
            </a:r>
          </a:p>
          <a:p>
            <a:pPr>
              <a:spcAft>
                <a:spcPts val="200"/>
              </a:spcAft>
              <a:defRPr sz="1000"/>
            </a:pPr>
            <a:r>
              <a:t>• Ingresar cantidades (stock inicial, movimientos)</a:t>
            </a:r>
          </a:p>
          <a:p>
            <a:pPr>
              <a:spcAft>
                <a:spcPts val="200"/>
              </a:spcAft>
              <a:defRPr sz="1000"/>
            </a:pPr>
            <a:r>
              <a:t>• Ingresar precio (VES o USD)</a:t>
            </a:r>
          </a:p>
          <a:p>
            <a:pPr>
              <a:spcAft>
                <a:spcPts val="200"/>
              </a:spcAft>
              <a:defRPr sz="1000"/>
            </a:pPr>
            <a:r>
              <a:t>• Ingresar tipos de pago (efectivo BS/USD, pago móvil, tarjeta, bio-pago)</a:t>
            </a:r>
          </a:p>
          <a:p>
            <a:pPr>
              <a:spcAft>
                <a:spcPts val="200"/>
              </a:spcAft>
              <a:defRPr sz="1000"/>
            </a:pPr>
            <a:r>
              <a:t>• Registrar usuarios (credenciales)</a:t>
            </a:r>
          </a:p>
          <a:p>
            <a:pPr>
              <a:spcAft>
                <a:spcPts val="200"/>
              </a:spcAft>
              <a:defRPr sz="1000"/>
            </a:pPr>
            <a:r>
              <a:t>• Fecha de compra/venta</a:t>
            </a:r>
          </a:p>
          <a:p>
            <a:pPr>
              <a:spcAft>
                <a:spcPts val="200"/>
              </a:spcAft>
              <a:defRPr sz="1000"/>
            </a:pPr>
            <a:r>
              <a:t>• Cambios del día (tasa BCV automática)</a:t>
            </a:r>
          </a:p>
          <a:p>
            <a:pPr>
              <a:spcAft>
                <a:spcPts val="200"/>
              </a:spcAft>
              <a:defRPr sz="1000"/>
            </a:pPr>
            <a:r>
              <a:t>• Movimientos de inventario (compras, ajustes, mermas, devoluciones)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0000" y="2500000"/>
            <a:ext cx="38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/>
            </a:pPr>
            <a:r>
              <a:t>• Comprobante de venta: productos, precio BCV, tipo de pago, tasa aplicada, fecha/hora</a:t>
            </a:r>
          </a:p>
          <a:p>
            <a:pPr>
              <a:spcAft>
                <a:spcPts val="200"/>
              </a:spcAft>
              <a:defRPr sz="1000"/>
            </a:pPr>
            <a:r>
              <a:t>• Factura detallada con formato FAC-YYYYMMDD-NNN</a:t>
            </a:r>
          </a:p>
          <a:p>
            <a:pPr>
              <a:spcAft>
                <a:spcPts val="200"/>
              </a:spcAft>
              <a:defRPr sz="1000"/>
            </a:pPr>
            <a:r>
              <a:t>• Inventarios actualizados por producto</a:t>
            </a:r>
          </a:p>
          <a:p>
            <a:pPr>
              <a:spcAft>
                <a:spcPts val="200"/>
              </a:spcAft>
              <a:defRPr sz="1000"/>
            </a:pPr>
            <a:r>
              <a:t>• Reportes diarios consolidados (ventas, movimientos, tasas)</a:t>
            </a:r>
          </a:p>
          <a:p>
            <a:pPr>
              <a:spcAft>
                <a:spcPts val="200"/>
              </a:spcAft>
              <a:defRPr sz="1000"/>
            </a:pPr>
            <a:r>
              <a:t>• Reporte exportable a Excel</a:t>
            </a:r>
          </a:p>
          <a:p>
            <a:pPr>
              <a:spcAft>
                <a:spcPts val="200"/>
              </a:spcAft>
              <a:defRPr sz="1000"/>
            </a:pPr>
            <a:r>
              <a:t>• Dashboard: ventas hoy, stock bajo, sin stock, tasa BCV</a:t>
            </a:r>
          </a:p>
          <a:p>
            <a:pPr>
              <a:spcAft>
                <a:spcPts val="200"/>
              </a:spcAft>
              <a:defRPr sz="1000"/>
            </a:pPr>
            <a:r>
              <a:t>• Tabla de productos con alerta de stock bajo</a:t>
            </a:r>
          </a:p>
          <a:p>
            <a:pPr>
              <a:spcAft>
                <a:spcPts val="200"/>
              </a:spcAft>
              <a:defRPr sz="1000"/>
            </a:pPr>
            <a:r>
              <a:t>• Historial completo de ventas</a:t>
            </a:r>
          </a:p>
          <a:p>
            <a:pPr>
              <a:spcAft>
                <a:spcPts val="200"/>
              </a:spcAft>
              <a:defRPr sz="1000"/>
            </a:pPr>
            <a:r>
              <a:t>• Alertas visuales de stock bajo / sin stock</a:t>
            </a:r>
          </a:p>
        </p:txBody>
      </p:sp>
    </p:spTree>
    <p:extLst>
      <p:ext uri="{BB962C8B-B14F-4D97-AF65-F5344CB8AC3E}">
        <p14:creationId xmlns:p14="http://schemas.microsoft.com/office/powerpoint/2010/main" val="2323163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CICLO DE VIDA SELECCIONADO</a:t>
            </a:r>
            <a:endParaRPr lang="es-VE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Metodología Seleccionada: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Ciclo de Vida de Llorens Fábregas (II) (Modelo Cascada/Secuencial). Seleccionado por su estructura predecible para proyectos de mediana complejidad con requisitos predefinidos.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Problema Actual en el Abasto: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Inexistencia de un control de inventario sistemático.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Pérdida de tiempo en cálculos manuales de conversión VES / USD.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Dificultad para auditar y controlar el total de las ventas diarias.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Ventajas y Desventajas: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✔ Gestión ordenada por fases secuenciales y requisitos estables.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✔ Énfasis en diseño de BD para evitar fallas a largo plazo.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✘ Feedback tardío del cliente (mitigado con un robusto plan de pruebas previo al despliegue).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Fases del Ciclo de Vida Aplicadas: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1. Requisitos: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Definición de necesidades: registro diario de ventas, alertas de stock bajo, cálculo bimonetario con tasa del día y actualización de inventario por compras.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2. Análisis y Diseño: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Migración de los procesos manuales del abasto a un menú interactivo simple (CRUD de productos, facturación, tasa y reporte diario).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3. Construcción: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Creación del esquema relacional de base de datos SQLite y codificación de las interfaces en PyQt6.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4. Pruebas y Mantenimiento: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Verificación de la conversión de monedas, registro contable correcto y monitoreo continuo de fallas en el local comercial.</a:t>
            </a:r>
          </a:p>
        </p:txBody>
      </p:sp>
    </p:spTree>
    <p:extLst>
      <p:ext uri="{BB962C8B-B14F-4D97-AF65-F5344CB8AC3E}">
        <p14:creationId xmlns:p14="http://schemas.microsoft.com/office/powerpoint/2010/main" val="186769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TECNOLOGÍAS Y HERRAMIENTAS DE DESARROLLO</a:t>
            </a:r>
            <a:endParaRPr lang="es-VE" sz="2400" dirty="0"/>
          </a:p>
        </p:txBody>
      </p:sp>
      <p:sp>
        <p:nvSpPr>
          <p:cNvPr id="4" name="Rectángulo 3"/>
          <p:cNvSpPr/>
          <p:nvPr/>
        </p:nvSpPr>
        <p:spPr>
          <a:xfrm>
            <a:off x="842962" y="1645264"/>
            <a:ext cx="5219701" cy="2858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Lenguajes de Programación: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Python &gt;=3.14: Desarrollo moderno, rápido, con tipado estático y alta legibilidad.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Frameworks Frontend / Backend: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PyQt6 (&gt;=6.11): Biblioteca industrial de interfaz gráfica de escritorio. Proporciona controles reactivos, layouts dinámicos y procesamiento multihilo.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Base de Datos: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SQLite: Base de datos relacional ligera, embebida y de archivo único. No requiere administración de servidores externos.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SQLModel (&gt;=0.0.38): ORM híbrido (hijo de Pydantic y SQLAlchemy) que unifica el tipado de Python con el esquema de tablas SQL.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Herramientas de Apoyo e Integración: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✔ scraper-bcv: Consulta de tasas BCV del día en tiempo real.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✔ bcrypt: Hasheo seguro y encriptación de claves de usuario.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✔ openpyxl: Generación programática de informes en Excel.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✔ pyqtgraph: Renderizado rápido de gráficos de ventas semanales.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Herramientas Compartidas y Calidad: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pytest y pytest-qt (Pruebas unitarias/UI), Ruff (Linter) y Mypy (Tipos).</a:t>
            </a:r>
          </a:p>
        </p:txBody>
      </p:sp>
    </p:spTree>
    <p:extLst>
      <p:ext uri="{BB962C8B-B14F-4D97-AF65-F5344CB8AC3E}">
        <p14:creationId xmlns:p14="http://schemas.microsoft.com/office/powerpoint/2010/main" val="104921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DIAGRAMA DE FLUJO DE DATOS - DFD: Nivel 0 (Contexto)</a:t>
            </a:r>
          </a:p>
        </p:txBody>
      </p:sp>
      <p:pic>
        <p:nvPicPr>
          <p:cNvPr id="4" name="Picture 3" descr="Nivel_0_Con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3" y="2693419"/>
            <a:ext cx="10058400" cy="284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7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DICCIONARIO DE DATOS - DFD</a:t>
            </a:r>
            <a:endParaRPr lang="es-VE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Especificación de Almacenes de Datos (Destinos/Orígenes de información):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D1: Usuario | Guarda credenciales del personal hasheadas con bcrypt para login.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D2: Producto / MovimientoInventario | Catálogo de productos y bitácora de stock anterior/nuevo.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D3: Venta / VentaDetalle | Histórico de facturas desglosadas por métodos de pago.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D4: TasaCambio | Registro diario de tasas oficiales del BCV indexadas por fecha.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D5: ReporteDiario | Cierres de caja persistidos con totales y alertas contables.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Especificación de Flujos de Datos Principales: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Credenciales: usuario (texto) + contrasena (texto plano que se hashea en el Core).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Datos del Producto: nombre_producto (texto) + precios VES/USD (decimales) + stock (entero).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Transacción de Venta: número_factura (texto) + detalles de compra + desglose de montos pagados (efectivo_bs, efectivo_usd, tarjeta, pago_movil, bio_pago).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Auditoría de Stock: cantidad (entero) + stock_anterior/nuevo (entero) + tipo de movimiento.</a:t>
            </a:r>
          </a:p>
        </p:txBody>
      </p:sp>
    </p:spTree>
    <p:extLst>
      <p:ext uri="{BB962C8B-B14F-4D97-AF65-F5344CB8AC3E}">
        <p14:creationId xmlns:p14="http://schemas.microsoft.com/office/powerpoint/2010/main" val="3594316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DIAGRAMA ENTIDAD – RELACIÓN </a:t>
            </a:r>
            <a:endParaRPr lang="es-VE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Diseño de la Base de Datos Relacional: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Integridad y Consistencia: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La persistencia de datos utiliza SQLite. Se diseñó un esquema compuesto por 7 tablas interconectadas con llaves primarias y foráneas explícitas que impiden datos huérfanos o incongruencias matemáticas.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Relación de Ventas y Productos (N:M):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Dado que una venta incluye muchos productos, y a su vez un producto es vendido múltiples veces, se creó la tabla intermedia VentaDetalle. Esto permite almacenar la cantidad e importe unitario por cada ítem facturado.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Relación de Auditoría de Inventarios (1:N):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La tabla Producto se relaciona con MovimientoInventario. Así, cada entrada, salida o ajuste queda enlazado al artículo, permitiendo la trazabilidad completa del inventario.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2103120"/>
            <a:ext cx="4389120" cy="347472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B0B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</p:txBody>
      </p:sp>
    </p:spTree>
    <p:extLst>
      <p:ext uri="{BB962C8B-B14F-4D97-AF65-F5344CB8AC3E}">
        <p14:creationId xmlns:p14="http://schemas.microsoft.com/office/powerpoint/2010/main" val="1393320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PROYECTO FINAL - DICCIONARIO DE DATOS (DIAGRAMA E-R)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Diccionario de Datos Físico (E-R) — Estructura de Tablas: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1. Tabla 'Producto':</a:t>
            </a:r>
          </a:p>
          <a:p>
            <a:pPr lvl="2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idproducto (int, PK) | nombre_producto (varchar, indexado) | categoria (varchar) | precio_compra (decimal) | precio_venta_bs / precio_venta_usd (decimal) | stock_actual (int) | stock_minimo (int) | unidad (varchar).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2. Tabla 'Venta':</a:t>
            </a:r>
          </a:p>
          <a:p>
            <a:pPr lvl="2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idventa (int, PK) | numero_factura (varchar, único) | fecha_venta (datetime) | total_bs / total_usd (decimal) | tasa_cambio (decimal) | Desglose de Pagos: efectivo_bs, efectivo_usd, tarjeta, pago_movil, bio_pago (decimales) | estado (varchar: COMPLETADA/ANULADA).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3. Tabla 'VentaDetalle' (Intermedia):</a:t>
            </a:r>
          </a:p>
          <a:p>
            <a:pPr lvl="2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id (int, PK) | venta_id (int, FK -&gt; Venta) | producto_id (int, FK -&gt; Producto) | cantidad (int) | precio_unitario_bs (decimal) | subtotal_bs (decimal).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4. Tabla 'MovimientoInventario' (Auditoría):</a:t>
            </a:r>
          </a:p>
          <a:p>
            <a:pPr lvl="2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id (int, PK) | producto_id (int, FK) | tipo (varchar: ENTRADA/SALIDA/AJUSTE) | motivo (varchar) | cantidad (int) | stock_anterior / stock_nuevo (int) | referencia_id (int, opcional) | observaciones (varchar) | fecha_movimiento (datetime).</a:t>
            </a:r>
          </a:p>
        </p:txBody>
      </p:sp>
    </p:spTree>
    <p:extLst>
      <p:ext uri="{BB962C8B-B14F-4D97-AF65-F5344CB8AC3E}">
        <p14:creationId xmlns:p14="http://schemas.microsoft.com/office/powerpoint/2010/main" val="244807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INTERFACES DE ENTRADA / SALIDA</a:t>
            </a:r>
            <a:endParaRPr lang="es-VE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Interfaces de Entrada de Datos: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Ventana de Login (Entrada):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Captura credenciales de usuario y restringe accesos no autorizados mediante bcrypt.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Formulario Producto (Entrada):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Permite ingresar y editar códigos, nombres, categorías, precios bimonetarios y stock inicial de mercancía.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Registrar Venta / POS (Entrada):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Panel interactivo donde se escanean productos, se introduce la tasa de cambio y se desglosa el monto cobrado por cada método de pago.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Interfaces de Salida (Informes y Consultas):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Dashboard / Pantalla de Inicio (Salida):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Resumen ejecutivo con totales de venta en VES y USD, indicador reactivo de tasa BCV y gráfico dinámico de ventas semanales (pyqtgraph).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Alertas de Stock Bajo (Salida):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Panel del inventario resalta automáticamente en color de advertencia los productos con stock inferior al mínimo.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Reporte de Cierre Diario en Excel (Salida):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Generación y descarga de archivo de hoja de cálculo formateado con resúmenes por método de pago para control administrativo.</a:t>
            </a:r>
          </a:p>
        </p:txBody>
      </p:sp>
    </p:spTree>
    <p:extLst>
      <p:ext uri="{BB962C8B-B14F-4D97-AF65-F5344CB8AC3E}">
        <p14:creationId xmlns:p14="http://schemas.microsoft.com/office/powerpoint/2010/main" val="348524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PRUEBAS  DE SISTEMAS DE INFORMACIÓN</a:t>
            </a:r>
            <a:endParaRPr lang="es-VE" sz="2400" dirty="0"/>
          </a:p>
        </p:txBody>
      </p:sp>
      <p:sp>
        <p:nvSpPr>
          <p:cNvPr id="4" name="Rectángulo 3"/>
          <p:cNvSpPr/>
          <p:nvPr/>
        </p:nvSpPr>
        <p:spPr>
          <a:xfrm>
            <a:off x="842962" y="1645264"/>
            <a:ext cx="8172451" cy="1475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Pruebas Funcionales (POS e Inventario):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Verificación completa del registro de ventas en bolívares y dólares, validando el cálculo exacto del cambio a entregar y el decremento inmediato en el almacén de stock.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Pruebas No Funcionales (Seguridad y Rendimiento):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Hasheo de contraseñas de usuarios con bcrypt para impedir lecturas en texto plano en la BD. Validación de tiempos de respuesta menores a 100ms en la UI ante búsquedas en caliente.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Pruebas Unitarias y de UI Automatizadas (pytest):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✔ Total de la Suite: 172 tests unitarios ejecutados mediante integración continua.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✔ Pruebas de Interfaz (pytest-qt): 36 pruebas automatizadas de UI que simulan las acciones físicas del cajero (tipeo, selección y clics) y validan que las pantallas reaccionen correctamente sin fallas.</a:t>
            </a:r>
          </a:p>
        </p:txBody>
      </p:sp>
    </p:spTree>
    <p:extLst>
      <p:ext uri="{BB962C8B-B14F-4D97-AF65-F5344CB8AC3E}">
        <p14:creationId xmlns:p14="http://schemas.microsoft.com/office/powerpoint/2010/main" val="1172971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PLAN DE MANTENIMIENTO</a:t>
            </a:r>
            <a:endParaRPr lang="es-VE" sz="2400" dirty="0"/>
          </a:p>
        </p:txBody>
      </p:sp>
      <p:sp>
        <p:nvSpPr>
          <p:cNvPr id="4" name="Rectángulo 3"/>
          <p:cNvSpPr/>
          <p:nvPr/>
        </p:nvSpPr>
        <p:spPr>
          <a:xfrm>
            <a:off x="842962" y="1645264"/>
            <a:ext cx="5219701" cy="1936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Mantenimiento Correctivo (Resolución de fallas):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Implementación de bitácoras de logs automáticos localizadas en 'logs/'. Registra conexiones con el BCV y fallas internas del sistema PyQt6 para reparaciones inmediatas.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Mantenimiento Adaptativo (Cambios del entorno):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Integración de Alembic para realizar migraciones de esquemas en la base de datos local SQLite, permitiendo agregar columnas y tablas en el futuro sin borrar las ventas anteriores.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Mantenimiento Perfectivo (Nuevas funcionalidades):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Planificación de mejoras del software como impresión de tickets en impresoras térmicas de 80mm y soporte de cuentas por pagar a proveedores.</a:t>
            </a:r>
          </a:p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Mantenimiento Preventivo (Protección de datos):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Copias de seguridad diarias del archivo físico unico 'database/database.db' de manera automatizada hacia una unidad de almacenamiento externa o nube privada.</a:t>
            </a:r>
          </a:p>
        </p:txBody>
      </p:sp>
    </p:spTree>
    <p:extLst>
      <p:ext uri="{BB962C8B-B14F-4D97-AF65-F5344CB8AC3E}">
        <p14:creationId xmlns:p14="http://schemas.microsoft.com/office/powerpoint/2010/main" val="323250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CONCLUSIONES</a:t>
            </a:r>
            <a:endParaRPr lang="es-VE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Conclusiones del Proyecto: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✔ Solución Transaccional Bimonetaria: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El sistema resuelve la complejidad del cobro multimoneda en bolívares y dólares mediante consulta automática de la tasa BCV diaria.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✔ Auditoría de Inventarios Rigurosa: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La bitácora detallada de movimientos reduce pérdidas de stock inexplicables por merma.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✔ Calidad Certificada en Código: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La implementación de 172 pruebas garantiza robustez contable en producción.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Recomendaciones para el Negocio: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Impresión de Facturas Física: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Implementar el soporte de tickeras de 80mm para entregar recibos rápidos en el POS.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Módulo de Cuentas por Pagar: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Agregar control de deudas para gestionar compras a crédito de proveedores.</a:t>
            </a:r>
          </a:p>
          <a:p>
            <a:pPr lvl="1"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• Centralización Sincronizada:</a:t>
            </a:r>
          </a:p>
          <a:p>
            <a:pPr lvl="2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Migrar la base de datos a PostgreSQL en un servidor en la nube si el abasto se expande a múltiples tiendas físicas.</a:t>
            </a:r>
          </a:p>
        </p:txBody>
      </p:sp>
    </p:spTree>
    <p:extLst>
      <p:ext uri="{BB962C8B-B14F-4D97-AF65-F5344CB8AC3E}">
        <p14:creationId xmlns:p14="http://schemas.microsoft.com/office/powerpoint/2010/main" val="2635513044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DIAGRAMA DE FLUJO DE DATOS - DFD: Nivel 1</a:t>
            </a:r>
          </a:p>
        </p:txBody>
      </p:sp>
      <p:pic>
        <p:nvPicPr>
          <p:cNvPr id="2" name="Picture 1" descr="Ni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110" y="1828799"/>
            <a:ext cx="440358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DIAGRAMA DE FLUJO DE DATOS - DFD: Nivel 2</a:t>
            </a:r>
          </a:p>
        </p:txBody>
      </p:sp>
      <p:pic>
        <p:nvPicPr>
          <p:cNvPr id="2" name="Picture 1" descr="Nivel_2_Gestionar_Invent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720" y="2011679"/>
            <a:ext cx="4052478" cy="4389120"/>
          </a:xfrm>
          <a:prstGeom prst="rect">
            <a:avLst/>
          </a:prstGeom>
        </p:spPr>
      </p:pic>
      <p:pic>
        <p:nvPicPr>
          <p:cNvPr id="3" name="Picture 2" descr="Nivel_2_Registrar_Compr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413" y="2011679"/>
            <a:ext cx="3038293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DIAGRAMA DE FLUJO DE DATOS - DFD: Nivel 2 (Procesar Ventas)</a:t>
            </a:r>
          </a:p>
        </p:txBody>
      </p:sp>
      <p:pic>
        <p:nvPicPr>
          <p:cNvPr id="2" name="Picture 1" descr="Nivel_2_Procesar_Ve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632" y="1828799"/>
            <a:ext cx="674454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DIAGRAMA DE FLUJO DE DATOS - DFD: Nivel 2 (Generar Reportes)</a:t>
            </a:r>
          </a:p>
        </p:txBody>
      </p:sp>
      <p:pic>
        <p:nvPicPr>
          <p:cNvPr id="2" name="Picture 1" descr="Nivel_2_Generar_Repor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737" y="1828799"/>
            <a:ext cx="719233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DIAGRAMA DE FLUJO DE DATOS - DFD: Nivel 2/3</a:t>
            </a:r>
          </a:p>
        </p:txBody>
      </p:sp>
      <p:pic>
        <p:nvPicPr>
          <p:cNvPr id="2" name="Picture 1" descr="Nivel_2_Actualizar_Tasa_B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413" y="2011679"/>
            <a:ext cx="2735092" cy="4389120"/>
          </a:xfrm>
          <a:prstGeom prst="rect">
            <a:avLst/>
          </a:prstGeom>
        </p:spPr>
      </p:pic>
      <p:pic>
        <p:nvPicPr>
          <p:cNvPr id="3" name="Picture 2" descr="Nivel_3_Obtener_Validar_Ta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98" y="2011679"/>
            <a:ext cx="4928523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DIAGRAMA DE FLUJO DE DATOS - DFD: Nivel 3 (Registrar Venta)</a:t>
            </a:r>
          </a:p>
        </p:txBody>
      </p:sp>
      <p:pic>
        <p:nvPicPr>
          <p:cNvPr id="2" name="Picture 1" descr="Nivel_3_Registrar_V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974" y="1828799"/>
            <a:ext cx="2889859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204</Words>
  <Application>Microsoft Office PowerPoint</Application>
  <PresentationFormat>Panorámica</PresentationFormat>
  <Paragraphs>61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Yaskelly Yedra</dc:creator>
  <cp:lastModifiedBy>Yaskelly Yedra</cp:lastModifiedBy>
  <cp:revision>13</cp:revision>
  <dcterms:created xsi:type="dcterms:W3CDTF">2024-09-12T15:26:05Z</dcterms:created>
  <dcterms:modified xsi:type="dcterms:W3CDTF">2025-10-15T15:27:54Z</dcterms:modified>
</cp:coreProperties>
</file>