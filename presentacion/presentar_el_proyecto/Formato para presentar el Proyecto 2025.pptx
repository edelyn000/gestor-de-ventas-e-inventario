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5" r:id="rId4"/>
    <p:sldId id="274" r:id="rId5"/>
    <p:sldId id="266" r:id="rId6"/>
    <p:sldId id="258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3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5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14763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9595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5261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48371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360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5959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7703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315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36318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05669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64801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B575-880D-49D2-8A82-DE0618B8EED9}" type="datetimeFigureOut">
              <a:rPr lang="es-VE" smtClean="0"/>
              <a:t>15/10/2025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09156-D94A-49C2-BCAF-F5C01C01892D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5367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65" y="282653"/>
            <a:ext cx="1020690" cy="124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3214688" y="259255"/>
            <a:ext cx="51292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UNIVERSIDAD DEL ZULIA           </a:t>
            </a:r>
            <a:endParaRPr lang="es-VE" sz="2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FACULTAD</a:t>
            </a:r>
            <a:r>
              <a:rPr lang="es-VE" sz="2000" spc="-15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</a:t>
            </a:r>
            <a:r>
              <a:rPr lang="es-VE" sz="2000" spc="-3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es-VE" sz="2000" spc="-2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CIENCIAS</a:t>
            </a:r>
          </a:p>
          <a:p>
            <a:pPr algn="ctr"/>
            <a:r>
              <a:rPr lang="es-VE" sz="2000" dirty="0" smtClean="0"/>
              <a:t>DIVISIÓN DE PROGRAMAS ESPECIALES</a:t>
            </a:r>
            <a:endParaRPr lang="en-US" sz="2000" dirty="0" smtClean="0"/>
          </a:p>
          <a:p>
            <a:pPr algn="ctr"/>
            <a:r>
              <a:rPr lang="es-VE" sz="2000" dirty="0" smtClean="0"/>
              <a:t>LICENCIATURA EN COMPUTACIÓN</a:t>
            </a:r>
            <a:endParaRPr lang="es-VE" sz="2000" dirty="0"/>
          </a:p>
        </p:txBody>
      </p:sp>
      <p:sp>
        <p:nvSpPr>
          <p:cNvPr id="8" name="Rectángulo 7"/>
          <p:cNvSpPr/>
          <p:nvPr/>
        </p:nvSpPr>
        <p:spPr>
          <a:xfrm>
            <a:off x="1807593" y="2190371"/>
            <a:ext cx="85119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4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DESARROLLO DE SISTEMAS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4703662" y="3651566"/>
            <a:ext cx="29198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 Financiero</a:t>
            </a:r>
            <a:endParaRPr lang="es-VE" sz="2800" dirty="0"/>
          </a:p>
        </p:txBody>
      </p:sp>
      <p:sp>
        <p:nvSpPr>
          <p:cNvPr id="10" name="Rectángulo 9"/>
          <p:cNvSpPr/>
          <p:nvPr/>
        </p:nvSpPr>
        <p:spPr>
          <a:xfrm>
            <a:off x="5617328" y="6199063"/>
            <a:ext cx="16241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VE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PERIODO</a:t>
            </a:r>
            <a:r>
              <a:rPr lang="es-VE" sz="1600" spc="-4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1600" spc="-4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 </a:t>
            </a:r>
            <a:r>
              <a:rPr lang="es-VE" sz="1600" spc="-4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- 2026</a:t>
            </a:r>
            <a:endParaRPr lang="es-VE" sz="1600" dirty="0"/>
          </a:p>
        </p:txBody>
      </p:sp>
      <p:sp>
        <p:nvSpPr>
          <p:cNvPr id="9" name="Rectángulo 8"/>
          <p:cNvSpPr/>
          <p:nvPr/>
        </p:nvSpPr>
        <p:spPr>
          <a:xfrm>
            <a:off x="21869" y="2926939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PROYECTO FINAL</a:t>
            </a:r>
            <a:endParaRPr lang="es-VE" sz="2800" dirty="0"/>
          </a:p>
        </p:txBody>
      </p:sp>
      <p:sp>
        <p:nvSpPr>
          <p:cNvPr id="11" name="Rectángulo 10"/>
          <p:cNvSpPr/>
          <p:nvPr/>
        </p:nvSpPr>
        <p:spPr>
          <a:xfrm>
            <a:off x="8824264" y="5442419"/>
            <a:ext cx="16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Presentado por</a:t>
            </a:r>
            <a:endParaRPr lang="es-VE" b="1" dirty="0"/>
          </a:p>
        </p:txBody>
      </p:sp>
      <p:sp>
        <p:nvSpPr>
          <p:cNvPr id="12" name="Rectángulo 11"/>
          <p:cNvSpPr/>
          <p:nvPr/>
        </p:nvSpPr>
        <p:spPr>
          <a:xfrm>
            <a:off x="9493381" y="5795051"/>
            <a:ext cx="2344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Hernández, Edelyn</a:t>
            </a:r>
          </a:p>
          <a:p>
            <a:r>
              <a:t>CI: 28109107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901" y="186362"/>
            <a:ext cx="1375526" cy="13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AGENDA</a:t>
            </a:r>
            <a:endParaRPr lang="es-VE" sz="2400" dirty="0"/>
          </a:p>
        </p:txBody>
      </p:sp>
      <p:sp>
        <p:nvSpPr>
          <p:cNvPr id="7" name="CuadroTexto 6"/>
          <p:cNvSpPr txBox="1"/>
          <p:nvPr/>
        </p:nvSpPr>
        <p:spPr>
          <a:xfrm>
            <a:off x="883767" y="1561672"/>
            <a:ext cx="103238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Identificar: entradas, procesos y salidas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Ciclo </a:t>
            </a:r>
            <a:r>
              <a:rPr lang="es-VE" sz="2800" dirty="0" smtClean="0"/>
              <a:t>de Vida seleccionado (resumen)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Tecnologías y Herramientas de Desarrollo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Diagrama de Flujo de Datos (DFD)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Diccionario de Datos (DFD)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Diagrama Entidad – Relación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Diccionario de Datos (</a:t>
            </a:r>
            <a:r>
              <a:rPr lang="es-VE" sz="2800" dirty="0"/>
              <a:t>Diagrama </a:t>
            </a:r>
            <a:r>
              <a:rPr lang="es-VE" sz="2800" dirty="0" smtClean="0"/>
              <a:t>E-R)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Interfaces de Entrada / Salida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Demostración de Pruebas al SI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Plan de Mantenimiento</a:t>
            </a:r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 </a:t>
            </a:r>
            <a:r>
              <a:rPr lang="es-VE" sz="2800" dirty="0" smtClean="0"/>
              <a:t>Personal que participo (soporte - minuta)</a:t>
            </a:r>
            <a:endParaRPr lang="es-VE" sz="2800" dirty="0"/>
          </a:p>
        </p:txBody>
      </p:sp>
    </p:spTree>
    <p:extLst>
      <p:ext uri="{BB962C8B-B14F-4D97-AF65-F5344CB8AC3E}">
        <p14:creationId xmlns:p14="http://schemas.microsoft.com/office/powerpoint/2010/main" val="256379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ENTRADA – PROCESOS - SALIDAS</a:t>
            </a:r>
            <a:endParaRPr lang="es-VE" sz="2400" dirty="0"/>
          </a:p>
        </p:txBody>
      </p:sp>
      <p:sp>
        <p:nvSpPr>
          <p:cNvPr id="2" name="Rectángulo 1"/>
          <p:cNvSpPr/>
          <p:nvPr/>
        </p:nvSpPr>
        <p:spPr>
          <a:xfrm>
            <a:off x="4214948" y="1680755"/>
            <a:ext cx="3217818" cy="4802777"/>
          </a:xfrm>
          <a:prstGeom prst="rect">
            <a:avLst/>
          </a:prstGeom>
          <a:ln w="28575">
            <a:solidFill>
              <a:srgbClr val="BD3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/>
              <a:t>PROCESOS</a:t>
            </a:r>
          </a:p>
          <a:p>
            <a:pPr>
              <a:spcAft>
                <a:spcPts val="200"/>
              </a:spcAft>
            </a:pPr>
            <a:r>
              <a:rPr sz="1000"/>
              <a:t>• Validar existencia del producto e inventario suficiente</a:t>
            </a:r>
          </a:p>
          <a:p>
            <a:pPr>
              <a:spcAft>
                <a:spcPts val="200"/>
              </a:spcAft>
            </a:pPr>
            <a:r>
              <a:rPr sz="1000"/>
              <a:t>• Convertir precio USD a bolívares (tasa BCV)</a:t>
            </a:r>
          </a:p>
          <a:p>
            <a:pPr>
              <a:spcAft>
                <a:spcPts val="200"/>
              </a:spcAft>
            </a:pPr>
            <a:r>
              <a:rPr sz="1000"/>
              <a:t>• Calcular total de venta (subtotales + total)</a:t>
            </a:r>
          </a:p>
          <a:p>
            <a:pPr>
              <a:spcAft>
                <a:spcPts val="200"/>
              </a:spcAft>
            </a:pPr>
            <a:r>
              <a:rPr sz="1000"/>
              <a:t>• Registrar tipo de pago (5 métodos, pagos mixtos VES/USD)</a:t>
            </a:r>
          </a:p>
          <a:p>
            <a:pPr>
              <a:spcAft>
                <a:spcPts val="200"/>
              </a:spcAft>
            </a:pPr>
            <a:r>
              <a:rPr sz="1000"/>
              <a:t>• Registrar tasa BCV aplicada en la venta</a:t>
            </a:r>
          </a:p>
          <a:p>
            <a:pPr>
              <a:spcAft>
                <a:spcPts val="200"/>
              </a:spcAft>
            </a:pPr>
            <a:r>
              <a:rPr sz="1000"/>
              <a:t>• Actualizar inventario con auditoría de movimientos</a:t>
            </a:r>
          </a:p>
          <a:p>
            <a:pPr>
              <a:spcAft>
                <a:spcPts val="200"/>
              </a:spcAft>
            </a:pPr>
            <a:r>
              <a:rPr sz="1000"/>
              <a:t>• Generar factura (FAC-YYYYMMDD-NNN)</a:t>
            </a:r>
          </a:p>
          <a:p>
            <a:pPr>
              <a:spcAft>
                <a:spcPts val="200"/>
              </a:spcAft>
            </a:pPr>
            <a:r>
              <a:rPr sz="1000"/>
              <a:t>• Autenticar usuarios con bcrypt</a:t>
            </a:r>
          </a:p>
          <a:p>
            <a:pPr>
              <a:spcAft>
                <a:spcPts val="200"/>
              </a:spcAft>
            </a:pPr>
            <a:r>
              <a:rPr sz="1000"/>
              <a:t>• CRUD completo de productos (crear, editar, eliminar)</a:t>
            </a:r>
          </a:p>
          <a:p>
            <a:pPr>
              <a:spcAft>
                <a:spcPts val="200"/>
              </a:spcAft>
            </a:pPr>
            <a:r>
              <a:rPr sz="1000"/>
              <a:t>• Control de inventario (compra, venta, merma, ajuste, devolución)</a:t>
            </a:r>
          </a:p>
          <a:p>
            <a:pPr>
              <a:spcAft>
                <a:spcPts val="200"/>
              </a:spcAft>
            </a:pPr>
            <a:r>
              <a:rPr sz="1000"/>
              <a:t>• Generar reporte diario consolidado</a:t>
            </a:r>
          </a:p>
          <a:p>
            <a:pPr>
              <a:spcAft>
                <a:spcPts val="200"/>
              </a:spcAft>
            </a:pPr>
            <a:r>
              <a:rPr sz="1000"/>
              <a:t>• Exportar reporte a Excel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8151224" y="1219090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/>
              <a:t>SALIDAS</a:t>
            </a:r>
            <a:endParaRPr lang="es-VE" sz="2400" b="1" dirty="0"/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814252" y="1330839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/>
              <a:t>ENTRADAS</a:t>
            </a:r>
            <a:endParaRPr lang="es-VE" sz="2400" b="1" dirty="0"/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  <a:p>
            <a:pPr>
              <a:spcAft>
                <a:spcPts val="400"/>
              </a:spcAft>
              <a:defRPr sz="1100"/>
            </a:pPr>
            <a:r>
              <a:t/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4515395" y="1750313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chemeClr val="bg1"/>
                </a:solidFill>
              </a:rPr>
              <a:t>PROCESOS</a:t>
            </a:r>
            <a:endParaRPr lang="es-VE" sz="2400" b="1" dirty="0">
              <a:solidFill>
                <a:schemeClr val="bg1"/>
              </a:solidFill>
            </a:endParaRPr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635726" y="2364377"/>
            <a:ext cx="3513908" cy="30480"/>
          </a:xfrm>
          <a:prstGeom prst="straightConnector1">
            <a:avLst/>
          </a:prstGeom>
          <a:ln w="38100">
            <a:solidFill>
              <a:srgbClr val="BD3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>
            <a:off x="7432766" y="2379617"/>
            <a:ext cx="3513908" cy="30480"/>
          </a:xfrm>
          <a:prstGeom prst="straightConnector1">
            <a:avLst/>
          </a:prstGeom>
          <a:ln w="38100">
            <a:solidFill>
              <a:srgbClr val="BD3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0000" y="2500000"/>
            <a:ext cx="34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/>
            </a:pPr>
            <a:r>
              <a:t>• Ingresar producto (nombre, categoría, precio, stock mínimo)</a:t>
            </a:r>
          </a:p>
          <a:p>
            <a:pPr>
              <a:spcAft>
                <a:spcPts val="200"/>
              </a:spcAft>
              <a:defRPr sz="1000"/>
            </a:pPr>
            <a:r>
              <a:t>• Ingresar cantidades (stock inicial, movimientos)</a:t>
            </a:r>
          </a:p>
          <a:p>
            <a:pPr>
              <a:spcAft>
                <a:spcPts val="200"/>
              </a:spcAft>
              <a:defRPr sz="1000"/>
            </a:pPr>
            <a:r>
              <a:t>• Ingresar precio (VES o USD)</a:t>
            </a:r>
          </a:p>
          <a:p>
            <a:pPr>
              <a:spcAft>
                <a:spcPts val="200"/>
              </a:spcAft>
              <a:defRPr sz="1000"/>
            </a:pPr>
            <a:r>
              <a:t>• Ingresar tipos de pago (efectivo BS/USD, pago móvil, tarjeta, bio-pago)</a:t>
            </a:r>
          </a:p>
          <a:p>
            <a:pPr>
              <a:spcAft>
                <a:spcPts val="200"/>
              </a:spcAft>
              <a:defRPr sz="1000"/>
            </a:pPr>
            <a:r>
              <a:t>• Registrar usuarios (credenciales)</a:t>
            </a:r>
          </a:p>
          <a:p>
            <a:pPr>
              <a:spcAft>
                <a:spcPts val="200"/>
              </a:spcAft>
              <a:defRPr sz="1000"/>
            </a:pPr>
            <a:r>
              <a:t>• Fecha de compra/venta</a:t>
            </a:r>
          </a:p>
          <a:p>
            <a:pPr>
              <a:spcAft>
                <a:spcPts val="200"/>
              </a:spcAft>
              <a:defRPr sz="1000"/>
            </a:pPr>
            <a:r>
              <a:t>• Cambios del día (tasa BCV automática)</a:t>
            </a:r>
          </a:p>
          <a:p>
            <a:pPr>
              <a:spcAft>
                <a:spcPts val="200"/>
              </a:spcAft>
              <a:defRPr sz="1000"/>
            </a:pPr>
            <a:r>
              <a:t>• Movimientos de inventario (compras, ajustes, mermas, devoluciones)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0000" y="2500000"/>
            <a:ext cx="38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/>
            </a:pPr>
            <a:r>
              <a:t>• Comprobante de venta: productos, precio BCV, tipo de pago, tasa aplicada, fecha/hora</a:t>
            </a:r>
          </a:p>
          <a:p>
            <a:pPr>
              <a:spcAft>
                <a:spcPts val="200"/>
              </a:spcAft>
              <a:defRPr sz="1000"/>
            </a:pPr>
            <a:r>
              <a:t>• Factura detallada con formato FAC-YYYYMMDD-NNN</a:t>
            </a:r>
          </a:p>
          <a:p>
            <a:pPr>
              <a:spcAft>
                <a:spcPts val="200"/>
              </a:spcAft>
              <a:defRPr sz="1000"/>
            </a:pPr>
            <a:r>
              <a:t>• Inventarios actualizados por producto</a:t>
            </a:r>
          </a:p>
          <a:p>
            <a:pPr>
              <a:spcAft>
                <a:spcPts val="200"/>
              </a:spcAft>
              <a:defRPr sz="1000"/>
            </a:pPr>
            <a:r>
              <a:t>• Reportes diarios consolidados (ventas, movimientos, tasas)</a:t>
            </a:r>
          </a:p>
          <a:p>
            <a:pPr>
              <a:spcAft>
                <a:spcPts val="200"/>
              </a:spcAft>
              <a:defRPr sz="1000"/>
            </a:pPr>
            <a:r>
              <a:t>• Reporte exportable a Excel</a:t>
            </a:r>
          </a:p>
          <a:p>
            <a:pPr>
              <a:spcAft>
                <a:spcPts val="200"/>
              </a:spcAft>
              <a:defRPr sz="1000"/>
            </a:pPr>
            <a:r>
              <a:t>• Dashboard: ventas hoy, stock bajo, sin stock, tasa BCV</a:t>
            </a:r>
          </a:p>
          <a:p>
            <a:pPr>
              <a:spcAft>
                <a:spcPts val="200"/>
              </a:spcAft>
              <a:defRPr sz="1000"/>
            </a:pPr>
            <a:r>
              <a:t>• Tabla de productos con alerta de stock bajo</a:t>
            </a:r>
          </a:p>
          <a:p>
            <a:pPr>
              <a:spcAft>
                <a:spcPts val="200"/>
              </a:spcAft>
              <a:defRPr sz="1000"/>
            </a:pPr>
            <a:r>
              <a:t>• Historial completo de ventas</a:t>
            </a:r>
          </a:p>
          <a:p>
            <a:pPr>
              <a:spcAft>
                <a:spcPts val="200"/>
              </a:spcAft>
              <a:defRPr sz="1000"/>
            </a:pPr>
            <a:r>
              <a:t>• Alertas visuales de stock bajo / sin stock</a:t>
            </a:r>
          </a:p>
        </p:txBody>
      </p:sp>
    </p:spTree>
    <p:extLst>
      <p:ext uri="{BB962C8B-B14F-4D97-AF65-F5344CB8AC3E}">
        <p14:creationId xmlns:p14="http://schemas.microsoft.com/office/powerpoint/2010/main" val="232316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CICLO DE VIDA SELECCIONADO</a:t>
            </a:r>
            <a:endParaRPr lang="es-VE" sz="2400" dirty="0"/>
          </a:p>
        </p:txBody>
      </p:sp>
    </p:spTree>
    <p:extLst>
      <p:ext uri="{BB962C8B-B14F-4D97-AF65-F5344CB8AC3E}">
        <p14:creationId xmlns:p14="http://schemas.microsoft.com/office/powerpoint/2010/main" val="186769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TECNOLOGÍAS Y HERRAMIENTAS DE DESARROLLO</a:t>
            </a:r>
            <a:endParaRPr lang="es-VE" sz="2400" dirty="0"/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5219701" cy="2858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Lenguajes </a:t>
            </a: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programación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Frontend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de Datos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Herramiestas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apoyo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Herramientas compartidas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1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DIAGRAMA DE FLUJO DE DATOS - DFD</a:t>
            </a:r>
            <a:endParaRPr lang="es-VE" sz="2400" dirty="0"/>
          </a:p>
        </p:txBody>
      </p:sp>
    </p:spTree>
    <p:extLst>
      <p:ext uri="{BB962C8B-B14F-4D97-AF65-F5344CB8AC3E}">
        <p14:creationId xmlns:p14="http://schemas.microsoft.com/office/powerpoint/2010/main" val="175397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DICCIONARIO DE DATOS - DFD</a:t>
            </a:r>
            <a:endParaRPr lang="es-VE" sz="2400" dirty="0"/>
          </a:p>
        </p:txBody>
      </p:sp>
    </p:spTree>
    <p:extLst>
      <p:ext uri="{BB962C8B-B14F-4D97-AF65-F5344CB8AC3E}">
        <p14:creationId xmlns:p14="http://schemas.microsoft.com/office/powerpoint/2010/main" val="3594316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DIAGRAMA ENTIDAD – RELACIÓN </a:t>
            </a:r>
            <a:endParaRPr lang="es-VE" sz="2400" dirty="0"/>
          </a:p>
        </p:txBody>
      </p:sp>
    </p:spTree>
    <p:extLst>
      <p:ext uri="{BB962C8B-B14F-4D97-AF65-F5344CB8AC3E}">
        <p14:creationId xmlns:p14="http://schemas.microsoft.com/office/powerpoint/2010/main" val="1393320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DICCIONARIO DE DATOS - DFD </a:t>
            </a:r>
            <a:endParaRPr lang="es-VE" sz="2400" dirty="0"/>
          </a:p>
        </p:txBody>
      </p:sp>
    </p:spTree>
    <p:extLst>
      <p:ext uri="{BB962C8B-B14F-4D97-AF65-F5344CB8AC3E}">
        <p14:creationId xmlns:p14="http://schemas.microsoft.com/office/powerpoint/2010/main" val="244807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INTERFACES DE ENTRADA / SALIDA</a:t>
            </a:r>
            <a:endParaRPr lang="es-VE" sz="2400" dirty="0"/>
          </a:p>
        </p:txBody>
      </p:sp>
    </p:spTree>
    <p:extLst>
      <p:ext uri="{BB962C8B-B14F-4D97-AF65-F5344CB8AC3E}">
        <p14:creationId xmlns:p14="http://schemas.microsoft.com/office/powerpoint/2010/main" val="348524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PRUEBAS  DE SISTEMAS DE INFORMACIÓN</a:t>
            </a:r>
            <a:endParaRPr lang="es-VE" sz="2400" dirty="0"/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8172451" cy="147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Pruebas Funcionales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Pruea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Funcionales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Pruebas Unitarias con </a:t>
            </a: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971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PLAN DE MANTENIMIENTO</a:t>
            </a:r>
            <a:endParaRPr lang="es-VE" sz="2400" dirty="0"/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5219701" cy="1936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Correctivo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Adaptativo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Perfectivo</a:t>
            </a: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Preventivo</a:t>
            </a:r>
          </a:p>
        </p:txBody>
      </p:sp>
    </p:spTree>
    <p:extLst>
      <p:ext uri="{BB962C8B-B14F-4D97-AF65-F5344CB8AC3E}">
        <p14:creationId xmlns:p14="http://schemas.microsoft.com/office/powerpoint/2010/main" val="323250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CONCLUSIONES</a:t>
            </a:r>
            <a:endParaRPr lang="es-VE" sz="2400" dirty="0"/>
          </a:p>
        </p:txBody>
      </p:sp>
    </p:spTree>
    <p:extLst>
      <p:ext uri="{BB962C8B-B14F-4D97-AF65-F5344CB8AC3E}">
        <p14:creationId xmlns:p14="http://schemas.microsoft.com/office/powerpoint/2010/main" val="26355130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204</Words>
  <Application>Microsoft Office PowerPoint</Application>
  <PresentationFormat>Panorámica</PresentationFormat>
  <Paragraphs>61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Yaskelly Yedra</dc:creator>
  <cp:lastModifiedBy>Yaskelly Yedra</cp:lastModifiedBy>
  <cp:revision>13</cp:revision>
  <dcterms:created xsi:type="dcterms:W3CDTF">2024-09-12T15:26:05Z</dcterms:created>
  <dcterms:modified xsi:type="dcterms:W3CDTF">2025-10-15T15:27:54Z</dcterms:modified>
</cp:coreProperties>
</file>