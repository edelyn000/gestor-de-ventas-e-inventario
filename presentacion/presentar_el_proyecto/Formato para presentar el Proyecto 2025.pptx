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6" r:id="rId3"/>
    <p:sldId id="265" r:id="rId4"/>
    <p:sldId id="274" r:id="rId5"/>
    <p:sldId id="266" r:id="rId6"/>
    <p:sldId id="258" r:id="rId7"/>
    <p:sldId id="267" r:id="rId8"/>
    <p:sldId id="268" r:id="rId9"/>
    <p:sldId id="269" r:id="rId10"/>
    <p:sldId id="270" r:id="rId11"/>
    <p:sldId id="271" r:id="rId12"/>
    <p:sldId id="272" r:id="rId13"/>
    <p:sldId id="273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D36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7" autoAdjust="0"/>
    <p:restoredTop sz="94660"/>
  </p:normalViewPr>
  <p:slideViewPr>
    <p:cSldViewPr snapToGrid="0">
      <p:cViewPr varScale="1">
        <p:scale>
          <a:sx n="73" d="100"/>
          <a:sy n="73" d="100"/>
        </p:scale>
        <p:origin x="350" y="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 smtClean="0"/>
              <a:t>Haga clic para modificar el estilo de título del patrón</a:t>
            </a:r>
            <a:endParaRPr lang="es-VE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 smtClean="0"/>
              <a:t>Haga clic para editar el estilo de subtítulo del patrón</a:t>
            </a:r>
            <a:endParaRPr lang="es-V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93B575-880D-49D2-8A82-DE0618B8EED9}" type="datetimeFigureOut">
              <a:rPr lang="es-VE" smtClean="0"/>
              <a:t>15/10/2025</a:t>
            </a:fld>
            <a:endParaRPr lang="es-V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V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09156-D94A-49C2-BCAF-F5C01C01892D}" type="slidenum">
              <a:rPr lang="es-VE" smtClean="0"/>
              <a:t>‹Nº›</a:t>
            </a:fld>
            <a:endParaRPr lang="es-VE"/>
          </a:p>
        </p:txBody>
      </p:sp>
    </p:spTree>
    <p:extLst>
      <p:ext uri="{BB962C8B-B14F-4D97-AF65-F5344CB8AC3E}">
        <p14:creationId xmlns:p14="http://schemas.microsoft.com/office/powerpoint/2010/main" val="18147635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VE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V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93B575-880D-49D2-8A82-DE0618B8EED9}" type="datetimeFigureOut">
              <a:rPr lang="es-VE" smtClean="0"/>
              <a:t>15/10/2025</a:t>
            </a:fld>
            <a:endParaRPr lang="es-V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V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09156-D94A-49C2-BCAF-F5C01C01892D}" type="slidenum">
              <a:rPr lang="es-VE" smtClean="0"/>
              <a:t>‹Nº›</a:t>
            </a:fld>
            <a:endParaRPr lang="es-VE"/>
          </a:p>
        </p:txBody>
      </p:sp>
    </p:spTree>
    <p:extLst>
      <p:ext uri="{BB962C8B-B14F-4D97-AF65-F5344CB8AC3E}">
        <p14:creationId xmlns:p14="http://schemas.microsoft.com/office/powerpoint/2010/main" val="9959528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 smtClean="0"/>
              <a:t>Haga clic para modificar el estilo de título del patrón</a:t>
            </a:r>
            <a:endParaRPr lang="es-VE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93B575-880D-49D2-8A82-DE0618B8EED9}" type="datetimeFigureOut">
              <a:rPr lang="es-VE" smtClean="0"/>
              <a:t>15/10/2025</a:t>
            </a:fld>
            <a:endParaRPr lang="es-V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V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09156-D94A-49C2-BCAF-F5C01C01892D}" type="slidenum">
              <a:rPr lang="es-VE" smtClean="0"/>
              <a:t>‹Nº›</a:t>
            </a:fld>
            <a:endParaRPr lang="es-VE"/>
          </a:p>
        </p:txBody>
      </p:sp>
    </p:spTree>
    <p:extLst>
      <p:ext uri="{BB962C8B-B14F-4D97-AF65-F5344CB8AC3E}">
        <p14:creationId xmlns:p14="http://schemas.microsoft.com/office/powerpoint/2010/main" val="33526106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VE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VE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VE"/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93B575-880D-49D2-8A82-DE0618B8EED9}" type="datetimeFigureOut">
              <a:rPr lang="es-VE" smtClean="0"/>
              <a:t>15/10/2025</a:t>
            </a:fld>
            <a:endParaRPr lang="es-V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V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09156-D94A-49C2-BCAF-F5C01C01892D}" type="slidenum">
              <a:rPr lang="es-VE" smtClean="0"/>
              <a:t>‹Nº›</a:t>
            </a:fld>
            <a:endParaRPr lang="es-VE"/>
          </a:p>
        </p:txBody>
      </p:sp>
    </p:spTree>
    <p:extLst>
      <p:ext uri="{BB962C8B-B14F-4D97-AF65-F5344CB8AC3E}">
        <p14:creationId xmlns:p14="http://schemas.microsoft.com/office/powerpoint/2010/main" val="30483710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VE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VE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VE"/>
          </a:p>
        </p:txBody>
      </p:sp>
      <p:sp>
        <p:nvSpPr>
          <p:cNvPr id="7" name="Marcador de fech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93B575-880D-49D2-8A82-DE0618B8EED9}" type="datetimeFigureOut">
              <a:rPr lang="es-VE" smtClean="0"/>
              <a:t>15/10/2025</a:t>
            </a:fld>
            <a:endParaRPr lang="es-VE"/>
          </a:p>
        </p:txBody>
      </p:sp>
      <p:sp>
        <p:nvSpPr>
          <p:cNvPr id="8" name="Marcador de pie de página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VE"/>
          </a:p>
        </p:txBody>
      </p:sp>
      <p:sp>
        <p:nvSpPr>
          <p:cNvPr id="9" name="Marcador de número de diapos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09156-D94A-49C2-BCAF-F5C01C01892D}" type="slidenum">
              <a:rPr lang="es-VE" smtClean="0"/>
              <a:t>‹Nº›</a:t>
            </a:fld>
            <a:endParaRPr lang="es-VE"/>
          </a:p>
        </p:txBody>
      </p:sp>
    </p:spTree>
    <p:extLst>
      <p:ext uri="{BB962C8B-B14F-4D97-AF65-F5344CB8AC3E}">
        <p14:creationId xmlns:p14="http://schemas.microsoft.com/office/powerpoint/2010/main" val="28336014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VE"/>
          </a:p>
        </p:txBody>
      </p:sp>
      <p:sp>
        <p:nvSpPr>
          <p:cNvPr id="3" name="Marcador de fech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93B575-880D-49D2-8A82-DE0618B8EED9}" type="datetimeFigureOut">
              <a:rPr lang="es-VE" smtClean="0"/>
              <a:t>15/10/2025</a:t>
            </a:fld>
            <a:endParaRPr lang="es-VE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VE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09156-D94A-49C2-BCAF-F5C01C01892D}" type="slidenum">
              <a:rPr lang="es-VE" smtClean="0"/>
              <a:t>‹Nº›</a:t>
            </a:fld>
            <a:endParaRPr lang="es-VE"/>
          </a:p>
        </p:txBody>
      </p:sp>
    </p:spTree>
    <p:extLst>
      <p:ext uri="{BB962C8B-B14F-4D97-AF65-F5344CB8AC3E}">
        <p14:creationId xmlns:p14="http://schemas.microsoft.com/office/powerpoint/2010/main" val="9595923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93B575-880D-49D2-8A82-DE0618B8EED9}" type="datetimeFigureOut">
              <a:rPr lang="es-VE" smtClean="0"/>
              <a:t>15/10/2025</a:t>
            </a:fld>
            <a:endParaRPr lang="es-VE"/>
          </a:p>
        </p:txBody>
      </p:sp>
      <p:sp>
        <p:nvSpPr>
          <p:cNvPr id="3" name="Marcador de pie de págin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VE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09156-D94A-49C2-BCAF-F5C01C01892D}" type="slidenum">
              <a:rPr lang="es-VE" smtClean="0"/>
              <a:t>‹Nº›</a:t>
            </a:fld>
            <a:endParaRPr lang="es-VE"/>
          </a:p>
        </p:txBody>
      </p:sp>
    </p:spTree>
    <p:extLst>
      <p:ext uri="{BB962C8B-B14F-4D97-AF65-F5344CB8AC3E}">
        <p14:creationId xmlns:p14="http://schemas.microsoft.com/office/powerpoint/2010/main" val="25770381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 smtClean="0"/>
              <a:t>Haga clic para modificar el estilo de título del patrón</a:t>
            </a:r>
            <a:endParaRPr lang="es-VE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VE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93B575-880D-49D2-8A82-DE0618B8EED9}" type="datetimeFigureOut">
              <a:rPr lang="es-VE" smtClean="0"/>
              <a:t>15/10/2025</a:t>
            </a:fld>
            <a:endParaRPr lang="es-V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V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09156-D94A-49C2-BCAF-F5C01C01892D}" type="slidenum">
              <a:rPr lang="es-VE" smtClean="0"/>
              <a:t>‹Nº›</a:t>
            </a:fld>
            <a:endParaRPr lang="es-VE"/>
          </a:p>
        </p:txBody>
      </p:sp>
    </p:spTree>
    <p:extLst>
      <p:ext uri="{BB962C8B-B14F-4D97-AF65-F5344CB8AC3E}">
        <p14:creationId xmlns:p14="http://schemas.microsoft.com/office/powerpoint/2010/main" val="231520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 smtClean="0"/>
              <a:t>Haga clic para modificar el estilo de título del patrón</a:t>
            </a:r>
            <a:endParaRPr lang="es-VE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VE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93B575-880D-49D2-8A82-DE0618B8EED9}" type="datetimeFigureOut">
              <a:rPr lang="es-VE" smtClean="0"/>
              <a:t>15/10/2025</a:t>
            </a:fld>
            <a:endParaRPr lang="es-V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V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09156-D94A-49C2-BCAF-F5C01C01892D}" type="slidenum">
              <a:rPr lang="es-VE" smtClean="0"/>
              <a:t>‹Nº›</a:t>
            </a:fld>
            <a:endParaRPr lang="es-VE"/>
          </a:p>
        </p:txBody>
      </p:sp>
    </p:spTree>
    <p:extLst>
      <p:ext uri="{BB962C8B-B14F-4D97-AF65-F5344CB8AC3E}">
        <p14:creationId xmlns:p14="http://schemas.microsoft.com/office/powerpoint/2010/main" val="13631849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VE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V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93B575-880D-49D2-8A82-DE0618B8EED9}" type="datetimeFigureOut">
              <a:rPr lang="es-VE" smtClean="0"/>
              <a:t>15/10/2025</a:t>
            </a:fld>
            <a:endParaRPr lang="es-V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V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09156-D94A-49C2-BCAF-F5C01C01892D}" type="slidenum">
              <a:rPr lang="es-VE" smtClean="0"/>
              <a:t>‹Nº›</a:t>
            </a:fld>
            <a:endParaRPr lang="es-VE"/>
          </a:p>
        </p:txBody>
      </p:sp>
    </p:spTree>
    <p:extLst>
      <p:ext uri="{BB962C8B-B14F-4D97-AF65-F5344CB8AC3E}">
        <p14:creationId xmlns:p14="http://schemas.microsoft.com/office/powerpoint/2010/main" val="11056699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 smtClean="0"/>
              <a:t>Haga clic para modificar el estilo de título del patrón</a:t>
            </a:r>
            <a:endParaRPr lang="es-VE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V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93B575-880D-49D2-8A82-DE0618B8EED9}" type="datetimeFigureOut">
              <a:rPr lang="es-VE" smtClean="0"/>
              <a:t>15/10/2025</a:t>
            </a:fld>
            <a:endParaRPr lang="es-V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V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09156-D94A-49C2-BCAF-F5C01C01892D}" type="slidenum">
              <a:rPr lang="es-VE" smtClean="0"/>
              <a:t>‹Nº›</a:t>
            </a:fld>
            <a:endParaRPr lang="es-VE"/>
          </a:p>
        </p:txBody>
      </p:sp>
    </p:spTree>
    <p:extLst>
      <p:ext uri="{BB962C8B-B14F-4D97-AF65-F5344CB8AC3E}">
        <p14:creationId xmlns:p14="http://schemas.microsoft.com/office/powerpoint/2010/main" val="34648011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 smtClean="0"/>
              <a:t>Haga clic para modificar el estilo de título del patrón</a:t>
            </a:r>
            <a:endParaRPr lang="es-VE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V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093B575-880D-49D2-8A82-DE0618B8EED9}" type="datetimeFigureOut">
              <a:rPr lang="es-VE" smtClean="0"/>
              <a:t>15/10/2025</a:t>
            </a:fld>
            <a:endParaRPr lang="es-V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V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5509156-D94A-49C2-BCAF-F5C01C01892D}" type="slidenum">
              <a:rPr lang="es-VE" smtClean="0"/>
              <a:t>‹Nº›</a:t>
            </a:fld>
            <a:endParaRPr lang="es-VE"/>
          </a:p>
        </p:txBody>
      </p:sp>
    </p:spTree>
    <p:extLst>
      <p:ext uri="{BB962C8B-B14F-4D97-AF65-F5344CB8AC3E}">
        <p14:creationId xmlns:p14="http://schemas.microsoft.com/office/powerpoint/2010/main" val="16536706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Imagen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7965" y="282653"/>
            <a:ext cx="1020690" cy="124611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Rectángulo 4"/>
          <p:cNvSpPr/>
          <p:nvPr/>
        </p:nvSpPr>
        <p:spPr>
          <a:xfrm>
            <a:off x="3214688" y="259255"/>
            <a:ext cx="5129212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s-VE" sz="20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UNIVERSIDAD DEL ZULIA           </a:t>
            </a:r>
            <a:endParaRPr lang="es-VE" sz="2000" dirty="0" smtClean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s-VE" sz="2000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FACULTAD</a:t>
            </a:r>
            <a:r>
              <a:rPr lang="es-VE" sz="2000" spc="-15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s-VE" sz="2000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EXPERIMENTAL</a:t>
            </a:r>
            <a:r>
              <a:rPr lang="es-VE" sz="2000" spc="-30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s-VE" sz="2000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DE</a:t>
            </a:r>
            <a:r>
              <a:rPr lang="es-VE" sz="2000" spc="-20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s-VE" sz="2000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CIENCIAS</a:t>
            </a:r>
          </a:p>
          <a:p>
            <a:pPr algn="ctr"/>
            <a:r>
              <a:rPr lang="es-VE" sz="2000" dirty="0" smtClean="0"/>
              <a:t>DIVISIÓN DE PROGRAMAS ESPECIALES</a:t>
            </a:r>
            <a:endParaRPr lang="en-US" sz="2000" dirty="0" smtClean="0"/>
          </a:p>
          <a:p>
            <a:pPr algn="ctr"/>
            <a:r>
              <a:rPr lang="es-VE" sz="2000" dirty="0" smtClean="0"/>
              <a:t>LICENCIATURA EN COMPUTACIÓN</a:t>
            </a:r>
            <a:endParaRPr lang="es-VE" sz="2000" dirty="0"/>
          </a:p>
        </p:txBody>
      </p:sp>
      <p:sp>
        <p:nvSpPr>
          <p:cNvPr id="8" name="Rectángulo 7"/>
          <p:cNvSpPr/>
          <p:nvPr/>
        </p:nvSpPr>
        <p:spPr>
          <a:xfrm>
            <a:off x="1807593" y="2190371"/>
            <a:ext cx="8511908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s-VE" sz="4400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DESARROLLO DE SISTEMAS</a:t>
            </a:r>
          </a:p>
        </p:txBody>
      </p:sp>
      <p:sp>
        <p:nvSpPr>
          <p:cNvPr id="6" name="Rectángulo 5"/>
          <p:cNvSpPr/>
          <p:nvPr/>
        </p:nvSpPr>
        <p:spPr>
          <a:xfrm>
            <a:off x="4703662" y="3651566"/>
            <a:ext cx="2919838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VE" sz="2800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Sistema Financiero</a:t>
            </a:r>
            <a:endParaRPr lang="es-VE" sz="2800" dirty="0"/>
          </a:p>
        </p:txBody>
      </p:sp>
      <p:sp>
        <p:nvSpPr>
          <p:cNvPr id="10" name="Rectángulo 9"/>
          <p:cNvSpPr/>
          <p:nvPr/>
        </p:nvSpPr>
        <p:spPr>
          <a:xfrm>
            <a:off x="5617328" y="6199063"/>
            <a:ext cx="1624163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s-VE" sz="16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PERIODO</a:t>
            </a:r>
            <a:r>
              <a:rPr lang="es-VE" sz="1600" spc="-4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s-VE" sz="1600" spc="-40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II </a:t>
            </a:r>
            <a:r>
              <a:rPr lang="es-VE" sz="1600" spc="-40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- 2026</a:t>
            </a:r>
            <a:endParaRPr lang="es-VE" sz="1600" dirty="0"/>
          </a:p>
        </p:txBody>
      </p:sp>
      <p:sp>
        <p:nvSpPr>
          <p:cNvPr id="9" name="Rectángulo 8"/>
          <p:cNvSpPr/>
          <p:nvPr/>
        </p:nvSpPr>
        <p:spPr>
          <a:xfrm>
            <a:off x="21869" y="2926939"/>
            <a:ext cx="12192000" cy="503434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800" dirty="0" smtClean="0">
                <a:latin typeface="Verdana" panose="020B0604030504040204" pitchFamily="34" charset="0"/>
                <a:ea typeface="Verdana" panose="020B0604030504040204" pitchFamily="34" charset="0"/>
              </a:rPr>
              <a:t>PROYECTO FINAL</a:t>
            </a:r>
            <a:endParaRPr lang="es-VE" sz="2800" dirty="0"/>
          </a:p>
        </p:txBody>
      </p:sp>
      <p:sp>
        <p:nvSpPr>
          <p:cNvPr id="11" name="Rectángulo 10"/>
          <p:cNvSpPr/>
          <p:nvPr/>
        </p:nvSpPr>
        <p:spPr>
          <a:xfrm>
            <a:off x="8824264" y="5442419"/>
            <a:ext cx="165090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VE" b="1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Presentado por</a:t>
            </a:r>
            <a:endParaRPr lang="es-VE" b="1" dirty="0"/>
          </a:p>
        </p:txBody>
      </p:sp>
      <p:sp>
        <p:nvSpPr>
          <p:cNvPr id="12" name="Rectángulo 11"/>
          <p:cNvSpPr/>
          <p:nvPr/>
        </p:nvSpPr>
        <p:spPr>
          <a:xfrm>
            <a:off x="9493381" y="5795051"/>
            <a:ext cx="234474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VE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Hernández, Edelyn</a:t>
            </a:r>
          </a:p>
          <a:p>
            <a:r>
              <a:t>CI: 28109107</a:t>
            </a:r>
          </a:p>
        </p:txBody>
      </p:sp>
      <p:pic>
        <p:nvPicPr>
          <p:cNvPr id="3" name="Imagen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48901" y="186362"/>
            <a:ext cx="1375526" cy="13755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25509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ángulo 3"/>
          <p:cNvSpPr/>
          <p:nvPr/>
        </p:nvSpPr>
        <p:spPr>
          <a:xfrm>
            <a:off x="0" y="0"/>
            <a:ext cx="12192000" cy="503434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400" dirty="0" smtClean="0"/>
              <a:t>PROYECTO FINAL</a:t>
            </a:r>
            <a:endParaRPr lang="es-VE" sz="2400" dirty="0"/>
          </a:p>
        </p:txBody>
      </p:sp>
      <p:sp>
        <p:nvSpPr>
          <p:cNvPr id="5" name="Rectángulo 4"/>
          <p:cNvSpPr/>
          <p:nvPr/>
        </p:nvSpPr>
        <p:spPr>
          <a:xfrm>
            <a:off x="0" y="503434"/>
            <a:ext cx="12192000" cy="554804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400" dirty="0" smtClean="0"/>
              <a:t>AGENDA</a:t>
            </a:r>
            <a:endParaRPr lang="es-VE" sz="2400" dirty="0"/>
          </a:p>
        </p:txBody>
      </p:sp>
      <p:sp>
        <p:nvSpPr>
          <p:cNvPr id="7" name="CuadroTexto 6"/>
          <p:cNvSpPr txBox="1"/>
          <p:nvPr/>
        </p:nvSpPr>
        <p:spPr>
          <a:xfrm>
            <a:off x="883767" y="1561672"/>
            <a:ext cx="10323871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39750" indent="-539750">
              <a:buFont typeface="+mj-lt"/>
              <a:buAutoNum type="arabicPeriod"/>
            </a:pPr>
            <a:r>
              <a:rPr lang="es-VE" sz="2800" dirty="0" smtClean="0"/>
              <a:t>Identificar: entradas, procesos y salidas</a:t>
            </a:r>
          </a:p>
          <a:p>
            <a:pPr marL="539750" indent="-539750">
              <a:buFont typeface="+mj-lt"/>
              <a:buAutoNum type="arabicPeriod"/>
            </a:pPr>
            <a:r>
              <a:rPr lang="es-VE" sz="2800" dirty="0" smtClean="0"/>
              <a:t>Ciclo </a:t>
            </a:r>
            <a:r>
              <a:rPr lang="es-VE" sz="2800" dirty="0" smtClean="0"/>
              <a:t>de Vida seleccionado (resumen)</a:t>
            </a:r>
          </a:p>
          <a:p>
            <a:pPr marL="539750" indent="-539750">
              <a:buFont typeface="+mj-lt"/>
              <a:buAutoNum type="arabicPeriod"/>
            </a:pPr>
            <a:r>
              <a:rPr lang="es-VE" sz="2800" dirty="0" smtClean="0"/>
              <a:t>Tecnologías y Herramientas de Desarrollo</a:t>
            </a:r>
          </a:p>
          <a:p>
            <a:pPr marL="539750" indent="-539750">
              <a:buFont typeface="+mj-lt"/>
              <a:buAutoNum type="arabicPeriod"/>
            </a:pPr>
            <a:r>
              <a:rPr lang="es-VE" sz="2800" dirty="0" smtClean="0"/>
              <a:t>Diagrama de Flujo de Datos (DFD)</a:t>
            </a:r>
          </a:p>
          <a:p>
            <a:pPr marL="539750" indent="-539750">
              <a:buFont typeface="+mj-lt"/>
              <a:buAutoNum type="arabicPeriod"/>
            </a:pPr>
            <a:r>
              <a:rPr lang="es-VE" sz="2800" dirty="0" smtClean="0"/>
              <a:t>Diccionario de Datos (DFD)</a:t>
            </a:r>
          </a:p>
          <a:p>
            <a:pPr marL="539750" indent="-539750">
              <a:buFont typeface="+mj-lt"/>
              <a:buAutoNum type="arabicPeriod"/>
            </a:pPr>
            <a:r>
              <a:rPr lang="es-VE" sz="2800" dirty="0" smtClean="0"/>
              <a:t>Diagrama Entidad – Relación</a:t>
            </a:r>
          </a:p>
          <a:p>
            <a:pPr marL="539750" indent="-539750">
              <a:buFont typeface="+mj-lt"/>
              <a:buAutoNum type="arabicPeriod"/>
            </a:pPr>
            <a:r>
              <a:rPr lang="es-VE" sz="2800" dirty="0" smtClean="0"/>
              <a:t>Diccionario de Datos (</a:t>
            </a:r>
            <a:r>
              <a:rPr lang="es-VE" sz="2800" dirty="0"/>
              <a:t>Diagrama </a:t>
            </a:r>
            <a:r>
              <a:rPr lang="es-VE" sz="2800" dirty="0" smtClean="0"/>
              <a:t>E-R)</a:t>
            </a:r>
          </a:p>
          <a:p>
            <a:pPr marL="539750" indent="-539750">
              <a:buFont typeface="+mj-lt"/>
              <a:buAutoNum type="arabicPeriod"/>
            </a:pPr>
            <a:r>
              <a:rPr lang="es-VE" sz="2800" dirty="0" smtClean="0"/>
              <a:t>Interfaces de Entrada / Salida</a:t>
            </a:r>
          </a:p>
          <a:p>
            <a:pPr marL="539750" indent="-539750">
              <a:buFont typeface="+mj-lt"/>
              <a:buAutoNum type="arabicPeriod"/>
            </a:pPr>
            <a:r>
              <a:rPr lang="es-VE" sz="2800" dirty="0" smtClean="0"/>
              <a:t>Demostración de Pruebas al SI</a:t>
            </a:r>
          </a:p>
          <a:p>
            <a:pPr marL="539750" indent="-539750">
              <a:buFont typeface="+mj-lt"/>
              <a:buAutoNum type="arabicPeriod"/>
            </a:pPr>
            <a:r>
              <a:rPr lang="es-VE" sz="2800" dirty="0" smtClean="0"/>
              <a:t>Plan de Mantenimiento</a:t>
            </a:r>
          </a:p>
          <a:p>
            <a:pPr marL="539750" indent="-539750">
              <a:buFont typeface="+mj-lt"/>
              <a:buAutoNum type="arabicPeriod"/>
            </a:pPr>
            <a:r>
              <a:rPr lang="es-VE" sz="2800" dirty="0"/>
              <a:t> </a:t>
            </a:r>
            <a:r>
              <a:rPr lang="es-VE" sz="2800" dirty="0" smtClean="0"/>
              <a:t>Personal que participo (soporte - minuta)</a:t>
            </a:r>
            <a:endParaRPr lang="es-VE" sz="2800" dirty="0"/>
          </a:p>
        </p:txBody>
      </p:sp>
    </p:spTree>
    <p:extLst>
      <p:ext uri="{BB962C8B-B14F-4D97-AF65-F5344CB8AC3E}">
        <p14:creationId xmlns:p14="http://schemas.microsoft.com/office/powerpoint/2010/main" val="25637959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ángulo 3"/>
          <p:cNvSpPr/>
          <p:nvPr/>
        </p:nvSpPr>
        <p:spPr>
          <a:xfrm>
            <a:off x="0" y="0"/>
            <a:ext cx="12192000" cy="503434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400" dirty="0" smtClean="0"/>
              <a:t>PROYECTO FINAL</a:t>
            </a:r>
            <a:endParaRPr lang="es-VE" sz="2400" dirty="0"/>
          </a:p>
        </p:txBody>
      </p:sp>
      <p:sp>
        <p:nvSpPr>
          <p:cNvPr id="5" name="Rectángulo 4"/>
          <p:cNvSpPr/>
          <p:nvPr/>
        </p:nvSpPr>
        <p:spPr>
          <a:xfrm>
            <a:off x="0" y="503434"/>
            <a:ext cx="12192000" cy="554804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400" dirty="0" smtClean="0"/>
              <a:t>ENTRADA – PROCESOS - SALIDAS</a:t>
            </a:r>
            <a:endParaRPr lang="es-VE" sz="2400" dirty="0"/>
          </a:p>
        </p:txBody>
      </p:sp>
      <p:sp>
        <p:nvSpPr>
          <p:cNvPr id="2" name="Rectángulo 1"/>
          <p:cNvSpPr/>
          <p:nvPr/>
        </p:nvSpPr>
        <p:spPr>
          <a:xfrm>
            <a:off x="4214948" y="1680755"/>
            <a:ext cx="3217818" cy="4802777"/>
          </a:xfrm>
          <a:prstGeom prst="rect">
            <a:avLst/>
          </a:prstGeom>
          <a:ln w="28575">
            <a:solidFill>
              <a:srgbClr val="BD36F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spcAft>
                <a:spcPts val="400"/>
              </a:spcAft>
            </a:pPr>
            <a:r>
              <a:rPr sz="1400" b="1"/>
              <a:t>PROCESOS</a:t>
            </a:r>
          </a:p>
          <a:p>
            <a:pPr>
              <a:spcAft>
                <a:spcPts val="400"/>
              </a:spcAft>
            </a:pPr>
            <a:r>
              <a:rPr sz="1100"/>
              <a:t>• Validar datos ingresados: existencia del producto, inventario suficiente</a:t>
            </a:r>
          </a:p>
          <a:p>
            <a:pPr>
              <a:spcAft>
                <a:spcPts val="400"/>
              </a:spcAft>
            </a:pPr>
            <a:r>
              <a:rPr sz="1100"/>
              <a:t>• Convertir precio de dólar a bolívares</a:t>
            </a:r>
          </a:p>
          <a:p>
            <a:pPr>
              <a:spcAft>
                <a:spcPts val="400"/>
              </a:spcAft>
            </a:pPr>
            <a:r>
              <a:rPr sz="1100"/>
              <a:t>• Calcular total de venta</a:t>
            </a:r>
          </a:p>
          <a:p>
            <a:pPr>
              <a:spcAft>
                <a:spcPts val="400"/>
              </a:spcAft>
            </a:pPr>
            <a:r>
              <a:rPr sz="1100"/>
              <a:t>• Registrar tipo de pago</a:t>
            </a:r>
          </a:p>
          <a:p>
            <a:pPr>
              <a:spcAft>
                <a:spcPts val="400"/>
              </a:spcAft>
            </a:pPr>
            <a:r>
              <a:rPr sz="1100"/>
              <a:t>• Registrar la tasa BCV utilizada el día de compra</a:t>
            </a:r>
          </a:p>
          <a:p>
            <a:pPr>
              <a:spcAft>
                <a:spcPts val="400"/>
              </a:spcAft>
            </a:pPr>
            <a:r>
              <a:rPr sz="1100"/>
              <a:t>• Actualizar inventario</a:t>
            </a:r>
          </a:p>
          <a:p>
            <a:pPr>
              <a:spcAft>
                <a:spcPts val="400"/>
              </a:spcAft>
            </a:pPr>
            <a:r>
              <a:rPr sz="1100"/>
              <a:t>• Generar un comprobante</a:t>
            </a:r>
          </a:p>
        </p:txBody>
      </p:sp>
      <p:sp>
        <p:nvSpPr>
          <p:cNvPr id="3" name="CuadroTexto 2"/>
          <p:cNvSpPr txBox="1"/>
          <p:nvPr/>
        </p:nvSpPr>
        <p:spPr>
          <a:xfrm>
            <a:off x="8151224" y="1219090"/>
            <a:ext cx="24427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VE" sz="2400" b="1" dirty="0" smtClean="0"/>
              <a:t>SALIDAS</a:t>
            </a:r>
            <a:endParaRPr lang="es-VE" sz="2400" b="1" dirty="0"/>
          </a:p>
          <a:p>
            <a:pPr>
              <a:spcAft>
                <a:spcPts val="400"/>
              </a:spcAft>
              <a:defRPr sz="1100"/>
            </a:pPr>
            <a:r>
              <a:t/>
            </a:r>
          </a:p>
          <a:p>
            <a:pPr>
              <a:spcAft>
                <a:spcPts val="400"/>
              </a:spcAft>
              <a:defRPr sz="1100"/>
            </a:pPr>
            <a:r>
              <a:t/>
            </a:r>
          </a:p>
          <a:p>
            <a:pPr>
              <a:spcAft>
                <a:spcPts val="400"/>
              </a:spcAft>
              <a:defRPr sz="1100"/>
            </a:pPr>
            <a:r>
              <a:t/>
            </a:r>
          </a:p>
          <a:p>
            <a:pPr>
              <a:spcAft>
                <a:spcPts val="400"/>
              </a:spcAft>
              <a:defRPr sz="1100"/>
            </a:pPr>
            <a:r>
              <a:t/>
            </a:r>
          </a:p>
          <a:p>
            <a:pPr>
              <a:spcAft>
                <a:spcPts val="400"/>
              </a:spcAft>
              <a:defRPr sz="1100"/>
            </a:pPr>
            <a:r>
              <a:t/>
            </a:r>
          </a:p>
        </p:txBody>
      </p:sp>
      <p:sp>
        <p:nvSpPr>
          <p:cNvPr id="7" name="CuadroTexto 6"/>
          <p:cNvSpPr txBox="1"/>
          <p:nvPr/>
        </p:nvSpPr>
        <p:spPr>
          <a:xfrm>
            <a:off x="814252" y="1330839"/>
            <a:ext cx="24427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VE" sz="2400" b="1" dirty="0" smtClean="0"/>
              <a:t>ENTRADAS</a:t>
            </a:r>
            <a:endParaRPr lang="es-VE" sz="2400" b="1" dirty="0"/>
          </a:p>
          <a:p>
            <a:pPr>
              <a:spcAft>
                <a:spcPts val="400"/>
              </a:spcAft>
              <a:defRPr sz="1100"/>
            </a:pPr>
            <a:r>
              <a:t/>
            </a:r>
          </a:p>
          <a:p>
            <a:pPr>
              <a:spcAft>
                <a:spcPts val="400"/>
              </a:spcAft>
              <a:defRPr sz="1100"/>
            </a:pPr>
            <a:r>
              <a:t/>
            </a:r>
          </a:p>
          <a:p>
            <a:pPr>
              <a:spcAft>
                <a:spcPts val="400"/>
              </a:spcAft>
              <a:defRPr sz="1100"/>
            </a:pPr>
            <a:r>
              <a:t/>
            </a:r>
          </a:p>
          <a:p>
            <a:pPr>
              <a:spcAft>
                <a:spcPts val="400"/>
              </a:spcAft>
              <a:defRPr sz="1100"/>
            </a:pPr>
            <a:r>
              <a:t/>
            </a:r>
          </a:p>
        </p:txBody>
      </p:sp>
      <p:sp>
        <p:nvSpPr>
          <p:cNvPr id="8" name="CuadroTexto 7"/>
          <p:cNvSpPr txBox="1"/>
          <p:nvPr/>
        </p:nvSpPr>
        <p:spPr>
          <a:xfrm>
            <a:off x="4515395" y="1750313"/>
            <a:ext cx="24427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VE" sz="2400" b="1" dirty="0" smtClean="0">
                <a:solidFill>
                  <a:schemeClr val="bg1"/>
                </a:solidFill>
              </a:rPr>
              <a:t>PROCESOS</a:t>
            </a:r>
            <a:endParaRPr lang="es-VE" sz="2400" b="1" dirty="0">
              <a:solidFill>
                <a:schemeClr val="bg1"/>
              </a:solidFill>
            </a:endParaRPr>
          </a:p>
        </p:txBody>
      </p:sp>
      <p:cxnSp>
        <p:nvCxnSpPr>
          <p:cNvPr id="10" name="Conector recto de flecha 9"/>
          <p:cNvCxnSpPr/>
          <p:nvPr/>
        </p:nvCxnSpPr>
        <p:spPr>
          <a:xfrm>
            <a:off x="635726" y="2364377"/>
            <a:ext cx="3513908" cy="30480"/>
          </a:xfrm>
          <a:prstGeom prst="straightConnector1">
            <a:avLst/>
          </a:prstGeom>
          <a:ln w="38100">
            <a:solidFill>
              <a:srgbClr val="BD36F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recto de flecha 10"/>
          <p:cNvCxnSpPr/>
          <p:nvPr/>
        </p:nvCxnSpPr>
        <p:spPr>
          <a:xfrm>
            <a:off x="7432766" y="2379617"/>
            <a:ext cx="3513908" cy="30480"/>
          </a:xfrm>
          <a:prstGeom prst="straightConnector1">
            <a:avLst/>
          </a:prstGeom>
          <a:ln w="38100">
            <a:solidFill>
              <a:srgbClr val="BD36F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00000" y="2500000"/>
            <a:ext cx="3200000" cy="2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/>
            </a:pPr>
            <a:r>
              <a:t>• Ingresar producto</a:t>
            </a:r>
          </a:p>
          <a:p>
            <a:pPr>
              <a:spcAft>
                <a:spcPts val="400"/>
              </a:spcAft>
              <a:defRPr sz="1100"/>
            </a:pPr>
            <a:r>
              <a:t>• Ingresar cantidades</a:t>
            </a:r>
          </a:p>
          <a:p>
            <a:pPr>
              <a:spcAft>
                <a:spcPts val="400"/>
              </a:spcAft>
              <a:defRPr sz="1100"/>
            </a:pPr>
            <a:r>
              <a:t>• Ingresar precio</a:t>
            </a:r>
          </a:p>
          <a:p>
            <a:pPr>
              <a:spcAft>
                <a:spcPts val="400"/>
              </a:spcAft>
              <a:defRPr sz="1100"/>
            </a:pPr>
            <a:r>
              <a:t>• Ingresar tipos de pago</a:t>
            </a:r>
          </a:p>
          <a:p>
            <a:pPr>
              <a:spcAft>
                <a:spcPts val="400"/>
              </a:spcAft>
              <a:defRPr sz="1100"/>
            </a:pPr>
            <a:r>
              <a:t>• Fecha de compra</a:t>
            </a:r>
          </a:p>
          <a:p>
            <a:pPr>
              <a:spcAft>
                <a:spcPts val="400"/>
              </a:spcAft>
              <a:defRPr sz="1100"/>
            </a:pPr>
            <a:r>
              <a:t>• Cambios del día (tasa BCV)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0000" y="2500000"/>
            <a:ext cx="36000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/>
            </a:pPr>
            <a:r>
              <a:t>• Comprobante de la venta: nombre de productos comprados, precio del día (BCV), tipo de pago, tasa aplicada, fecha y hora</a:t>
            </a:r>
          </a:p>
          <a:p>
            <a:pPr>
              <a:spcAft>
                <a:spcPts val="400"/>
              </a:spcAft>
              <a:defRPr sz="1100"/>
            </a:pPr>
            <a:r>
              <a:t>• Inventarios actualizados</a:t>
            </a:r>
          </a:p>
          <a:p>
            <a:pPr>
              <a:spcAft>
                <a:spcPts val="400"/>
              </a:spcAft>
              <a:defRPr sz="1100"/>
            </a:pPr>
            <a:r>
              <a:t>• Reportes diarios</a:t>
            </a:r>
          </a:p>
        </p:txBody>
      </p:sp>
    </p:spTree>
    <p:extLst>
      <p:ext uri="{BB962C8B-B14F-4D97-AF65-F5344CB8AC3E}">
        <p14:creationId xmlns:p14="http://schemas.microsoft.com/office/powerpoint/2010/main" val="23231630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ángulo 3"/>
          <p:cNvSpPr/>
          <p:nvPr/>
        </p:nvSpPr>
        <p:spPr>
          <a:xfrm>
            <a:off x="0" y="0"/>
            <a:ext cx="12192000" cy="503434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400" dirty="0" smtClean="0"/>
              <a:t>PROYECTO FINAL</a:t>
            </a:r>
            <a:endParaRPr lang="es-VE" sz="2400" dirty="0"/>
          </a:p>
        </p:txBody>
      </p:sp>
      <p:sp>
        <p:nvSpPr>
          <p:cNvPr id="5" name="Rectángulo 4"/>
          <p:cNvSpPr/>
          <p:nvPr/>
        </p:nvSpPr>
        <p:spPr>
          <a:xfrm>
            <a:off x="0" y="503434"/>
            <a:ext cx="12192000" cy="554804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400" dirty="0" smtClean="0"/>
              <a:t>CICLO DE VIDA SELECCIONADO</a:t>
            </a:r>
            <a:endParaRPr lang="es-VE" sz="2400" dirty="0"/>
          </a:p>
        </p:txBody>
      </p:sp>
    </p:spTree>
    <p:extLst>
      <p:ext uri="{BB962C8B-B14F-4D97-AF65-F5344CB8AC3E}">
        <p14:creationId xmlns:p14="http://schemas.microsoft.com/office/powerpoint/2010/main" val="18676987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/>
          <p:cNvSpPr/>
          <p:nvPr/>
        </p:nvSpPr>
        <p:spPr>
          <a:xfrm>
            <a:off x="0" y="0"/>
            <a:ext cx="12192000" cy="503434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400" dirty="0" smtClean="0"/>
              <a:t>PROYECTO FINAL</a:t>
            </a:r>
            <a:endParaRPr lang="es-VE" sz="2400" dirty="0"/>
          </a:p>
        </p:txBody>
      </p:sp>
      <p:sp>
        <p:nvSpPr>
          <p:cNvPr id="3" name="Rectángulo 2"/>
          <p:cNvSpPr/>
          <p:nvPr/>
        </p:nvSpPr>
        <p:spPr>
          <a:xfrm>
            <a:off x="0" y="503434"/>
            <a:ext cx="12192000" cy="554804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400" dirty="0" smtClean="0"/>
              <a:t>TECNOLOGÍAS Y HERRAMIENTAS DE DESARROLLO</a:t>
            </a:r>
            <a:endParaRPr lang="es-VE" sz="2400" dirty="0"/>
          </a:p>
        </p:txBody>
      </p:sp>
      <p:sp>
        <p:nvSpPr>
          <p:cNvPr id="4" name="Rectángulo 3"/>
          <p:cNvSpPr/>
          <p:nvPr/>
        </p:nvSpPr>
        <p:spPr>
          <a:xfrm>
            <a:off x="842962" y="1645264"/>
            <a:ext cx="5219701" cy="28584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 algn="just">
              <a:lnSpc>
                <a:spcPct val="107000"/>
              </a:lnSpc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VE" sz="2800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Lenguajes </a:t>
            </a:r>
            <a:r>
              <a:rPr lang="es-VE" sz="2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de </a:t>
            </a:r>
            <a:r>
              <a:rPr lang="es-VE" sz="2800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programación</a:t>
            </a:r>
          </a:p>
          <a:p>
            <a:pPr marL="457200" indent="-457200" algn="just">
              <a:lnSpc>
                <a:spcPct val="107000"/>
              </a:lnSpc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VE" sz="2800" dirty="0" err="1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Frameworks</a:t>
            </a:r>
            <a:endParaRPr lang="es-VE" sz="2800" dirty="0" smtClean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457200" indent="-457200" algn="just">
              <a:lnSpc>
                <a:spcPct val="107000"/>
              </a:lnSpc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VE" sz="2800" dirty="0" err="1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Frontend</a:t>
            </a:r>
            <a:r>
              <a:rPr lang="es-VE" sz="2800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/</a:t>
            </a:r>
            <a:r>
              <a:rPr lang="es-VE" sz="2800" dirty="0" err="1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Backend</a:t>
            </a:r>
            <a:endParaRPr lang="es-VE" sz="2800" dirty="0" smtClean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457200" indent="-457200" algn="just">
              <a:lnSpc>
                <a:spcPct val="107000"/>
              </a:lnSpc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VE" sz="2800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Base de Datos</a:t>
            </a:r>
          </a:p>
          <a:p>
            <a:pPr marL="457200" indent="-457200" algn="just">
              <a:lnSpc>
                <a:spcPct val="107000"/>
              </a:lnSpc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VE" sz="2800" dirty="0" err="1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Herramiestas</a:t>
            </a:r>
            <a:r>
              <a:rPr lang="es-VE" sz="2800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de apoyo</a:t>
            </a:r>
          </a:p>
          <a:p>
            <a:pPr marL="457200" indent="-457200" algn="just">
              <a:lnSpc>
                <a:spcPct val="107000"/>
              </a:lnSpc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VE" sz="2800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Herramientas compartidas</a:t>
            </a:r>
            <a:endParaRPr lang="en-US" sz="28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492116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/>
          <p:cNvSpPr/>
          <p:nvPr/>
        </p:nvSpPr>
        <p:spPr>
          <a:xfrm>
            <a:off x="0" y="0"/>
            <a:ext cx="12192000" cy="503434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400" dirty="0" smtClean="0"/>
              <a:t>PROYECTO FINAL</a:t>
            </a:r>
            <a:endParaRPr lang="es-VE" sz="2400" dirty="0"/>
          </a:p>
        </p:txBody>
      </p:sp>
      <p:sp>
        <p:nvSpPr>
          <p:cNvPr id="3" name="Rectángulo 2"/>
          <p:cNvSpPr/>
          <p:nvPr/>
        </p:nvSpPr>
        <p:spPr>
          <a:xfrm>
            <a:off x="0" y="503434"/>
            <a:ext cx="12192000" cy="554804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400" dirty="0" smtClean="0"/>
              <a:t>DIAGRAMA DE FLUJO DE DATOS - DFD</a:t>
            </a:r>
            <a:endParaRPr lang="es-VE" sz="2400" dirty="0"/>
          </a:p>
        </p:txBody>
      </p:sp>
    </p:spTree>
    <p:extLst>
      <p:ext uri="{BB962C8B-B14F-4D97-AF65-F5344CB8AC3E}">
        <p14:creationId xmlns:p14="http://schemas.microsoft.com/office/powerpoint/2010/main" val="17539785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/>
          <p:cNvSpPr/>
          <p:nvPr/>
        </p:nvSpPr>
        <p:spPr>
          <a:xfrm>
            <a:off x="0" y="0"/>
            <a:ext cx="12192000" cy="503434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400" dirty="0" smtClean="0"/>
              <a:t>PROYECTO FINAL</a:t>
            </a:r>
            <a:endParaRPr lang="es-VE" sz="2400" dirty="0"/>
          </a:p>
        </p:txBody>
      </p:sp>
      <p:sp>
        <p:nvSpPr>
          <p:cNvPr id="3" name="Rectángulo 2"/>
          <p:cNvSpPr/>
          <p:nvPr/>
        </p:nvSpPr>
        <p:spPr>
          <a:xfrm>
            <a:off x="0" y="503434"/>
            <a:ext cx="12192000" cy="554804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400" dirty="0" smtClean="0"/>
              <a:t>DICCIONARIO DE DATOS - DFD</a:t>
            </a:r>
            <a:endParaRPr lang="es-VE" sz="2400" dirty="0"/>
          </a:p>
        </p:txBody>
      </p:sp>
    </p:spTree>
    <p:extLst>
      <p:ext uri="{BB962C8B-B14F-4D97-AF65-F5344CB8AC3E}">
        <p14:creationId xmlns:p14="http://schemas.microsoft.com/office/powerpoint/2010/main" val="35943161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/>
          <p:cNvSpPr/>
          <p:nvPr/>
        </p:nvSpPr>
        <p:spPr>
          <a:xfrm>
            <a:off x="0" y="0"/>
            <a:ext cx="12192000" cy="503434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400" dirty="0" smtClean="0"/>
              <a:t>PROYECTO FINAL</a:t>
            </a:r>
            <a:endParaRPr lang="es-VE" sz="2400" dirty="0"/>
          </a:p>
        </p:txBody>
      </p:sp>
      <p:sp>
        <p:nvSpPr>
          <p:cNvPr id="3" name="Rectángulo 2"/>
          <p:cNvSpPr/>
          <p:nvPr/>
        </p:nvSpPr>
        <p:spPr>
          <a:xfrm>
            <a:off x="0" y="503434"/>
            <a:ext cx="12192000" cy="554804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400" dirty="0" smtClean="0"/>
              <a:t>DIAGRAMA ENTIDAD – RELACIÓN </a:t>
            </a:r>
            <a:endParaRPr lang="es-VE" sz="2400" dirty="0"/>
          </a:p>
        </p:txBody>
      </p:sp>
    </p:spTree>
    <p:extLst>
      <p:ext uri="{BB962C8B-B14F-4D97-AF65-F5344CB8AC3E}">
        <p14:creationId xmlns:p14="http://schemas.microsoft.com/office/powerpoint/2010/main" val="13933204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/>
          <p:cNvSpPr/>
          <p:nvPr/>
        </p:nvSpPr>
        <p:spPr>
          <a:xfrm>
            <a:off x="0" y="0"/>
            <a:ext cx="12192000" cy="503434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400" dirty="0" smtClean="0"/>
              <a:t>PROYECTO FINAL</a:t>
            </a:r>
            <a:endParaRPr lang="es-VE" sz="2400" dirty="0"/>
          </a:p>
        </p:txBody>
      </p:sp>
      <p:sp>
        <p:nvSpPr>
          <p:cNvPr id="3" name="Rectángulo 2"/>
          <p:cNvSpPr/>
          <p:nvPr/>
        </p:nvSpPr>
        <p:spPr>
          <a:xfrm>
            <a:off x="0" y="503434"/>
            <a:ext cx="12192000" cy="554804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400" dirty="0" smtClean="0"/>
              <a:t>DICCIONARIO DE DATOS - DFD </a:t>
            </a:r>
            <a:endParaRPr lang="es-VE" sz="2400" dirty="0"/>
          </a:p>
        </p:txBody>
      </p:sp>
    </p:spTree>
    <p:extLst>
      <p:ext uri="{BB962C8B-B14F-4D97-AF65-F5344CB8AC3E}">
        <p14:creationId xmlns:p14="http://schemas.microsoft.com/office/powerpoint/2010/main" val="24480710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/>
          <p:cNvSpPr/>
          <p:nvPr/>
        </p:nvSpPr>
        <p:spPr>
          <a:xfrm>
            <a:off x="0" y="0"/>
            <a:ext cx="12192000" cy="503434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400" dirty="0" smtClean="0"/>
              <a:t>PROYECTO FINAL</a:t>
            </a:r>
            <a:endParaRPr lang="es-VE" sz="2400" dirty="0"/>
          </a:p>
        </p:txBody>
      </p:sp>
      <p:sp>
        <p:nvSpPr>
          <p:cNvPr id="3" name="Rectángulo 2"/>
          <p:cNvSpPr/>
          <p:nvPr/>
        </p:nvSpPr>
        <p:spPr>
          <a:xfrm>
            <a:off x="0" y="503434"/>
            <a:ext cx="12192000" cy="554804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400" dirty="0" smtClean="0"/>
              <a:t>INTERFACES DE ENTRADA / SALIDA</a:t>
            </a:r>
            <a:endParaRPr lang="es-VE" sz="2400" dirty="0"/>
          </a:p>
        </p:txBody>
      </p:sp>
    </p:spTree>
    <p:extLst>
      <p:ext uri="{BB962C8B-B14F-4D97-AF65-F5344CB8AC3E}">
        <p14:creationId xmlns:p14="http://schemas.microsoft.com/office/powerpoint/2010/main" val="34852434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/>
          <p:cNvSpPr/>
          <p:nvPr/>
        </p:nvSpPr>
        <p:spPr>
          <a:xfrm>
            <a:off x="0" y="0"/>
            <a:ext cx="12192000" cy="503434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400" dirty="0" smtClean="0"/>
              <a:t>PROYECTO FINAL</a:t>
            </a:r>
            <a:endParaRPr lang="es-VE" sz="2400" dirty="0"/>
          </a:p>
        </p:txBody>
      </p:sp>
      <p:sp>
        <p:nvSpPr>
          <p:cNvPr id="3" name="Rectángulo 2"/>
          <p:cNvSpPr/>
          <p:nvPr/>
        </p:nvSpPr>
        <p:spPr>
          <a:xfrm>
            <a:off x="0" y="503434"/>
            <a:ext cx="12192000" cy="554804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400" dirty="0" smtClean="0"/>
              <a:t>PRUEBAS  DE SISTEMAS DE INFORMACIÓN</a:t>
            </a:r>
            <a:endParaRPr lang="es-VE" sz="2400" dirty="0"/>
          </a:p>
        </p:txBody>
      </p:sp>
      <p:sp>
        <p:nvSpPr>
          <p:cNvPr id="4" name="Rectángulo 3"/>
          <p:cNvSpPr/>
          <p:nvPr/>
        </p:nvSpPr>
        <p:spPr>
          <a:xfrm>
            <a:off x="842962" y="1645264"/>
            <a:ext cx="8172451" cy="14754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 algn="just">
              <a:lnSpc>
                <a:spcPct val="107000"/>
              </a:lnSpc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VE" sz="2800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Pruebas Funcionales</a:t>
            </a:r>
          </a:p>
          <a:p>
            <a:pPr marL="457200" indent="-457200" algn="just">
              <a:lnSpc>
                <a:spcPct val="107000"/>
              </a:lnSpc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VE" sz="2800" dirty="0" err="1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Pruea</a:t>
            </a:r>
            <a:r>
              <a:rPr lang="es-VE" sz="2800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No Funcionales</a:t>
            </a:r>
          </a:p>
          <a:p>
            <a:pPr marL="457200" indent="-457200" algn="just">
              <a:lnSpc>
                <a:spcPct val="107000"/>
              </a:lnSpc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VE" sz="2800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Pruebas Unitarias con </a:t>
            </a:r>
            <a:r>
              <a:rPr lang="es-VE" sz="2800" dirty="0" err="1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Github</a:t>
            </a:r>
            <a:r>
              <a:rPr lang="es-VE" sz="2800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s-VE" sz="2800" dirty="0" err="1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Copilot</a:t>
            </a:r>
            <a:endParaRPr lang="es-VE" sz="2800" dirty="0" smtClean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729717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/>
          <p:cNvSpPr/>
          <p:nvPr/>
        </p:nvSpPr>
        <p:spPr>
          <a:xfrm>
            <a:off x="0" y="0"/>
            <a:ext cx="12192000" cy="503434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400" dirty="0" smtClean="0"/>
              <a:t>PROYECTO FINAL</a:t>
            </a:r>
            <a:endParaRPr lang="es-VE" sz="2400" dirty="0"/>
          </a:p>
        </p:txBody>
      </p:sp>
      <p:sp>
        <p:nvSpPr>
          <p:cNvPr id="3" name="Rectángulo 2"/>
          <p:cNvSpPr/>
          <p:nvPr/>
        </p:nvSpPr>
        <p:spPr>
          <a:xfrm>
            <a:off x="0" y="503434"/>
            <a:ext cx="12192000" cy="554804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400" dirty="0" smtClean="0"/>
              <a:t>PLAN DE MANTENIMIENTO</a:t>
            </a:r>
            <a:endParaRPr lang="es-VE" sz="2400" dirty="0"/>
          </a:p>
        </p:txBody>
      </p:sp>
      <p:sp>
        <p:nvSpPr>
          <p:cNvPr id="4" name="Rectángulo 3"/>
          <p:cNvSpPr/>
          <p:nvPr/>
        </p:nvSpPr>
        <p:spPr>
          <a:xfrm>
            <a:off x="842962" y="1645264"/>
            <a:ext cx="5219701" cy="19364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 algn="just">
              <a:lnSpc>
                <a:spcPct val="107000"/>
              </a:lnSpc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VE" sz="2800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Correctivo</a:t>
            </a:r>
          </a:p>
          <a:p>
            <a:pPr marL="457200" indent="-457200" algn="just">
              <a:lnSpc>
                <a:spcPct val="107000"/>
              </a:lnSpc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VE" sz="2800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Adaptativo</a:t>
            </a:r>
          </a:p>
          <a:p>
            <a:pPr marL="457200" indent="-457200" algn="just">
              <a:lnSpc>
                <a:spcPct val="107000"/>
              </a:lnSpc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VE" sz="2800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Perfectivo</a:t>
            </a:r>
          </a:p>
          <a:p>
            <a:pPr marL="457200" indent="-457200" algn="just">
              <a:lnSpc>
                <a:spcPct val="107000"/>
              </a:lnSpc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VE" sz="2800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Preventivo</a:t>
            </a:r>
          </a:p>
        </p:txBody>
      </p:sp>
    </p:spTree>
    <p:extLst>
      <p:ext uri="{BB962C8B-B14F-4D97-AF65-F5344CB8AC3E}">
        <p14:creationId xmlns:p14="http://schemas.microsoft.com/office/powerpoint/2010/main" val="323250268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/>
          <p:cNvSpPr/>
          <p:nvPr/>
        </p:nvSpPr>
        <p:spPr>
          <a:xfrm>
            <a:off x="0" y="0"/>
            <a:ext cx="12192000" cy="503434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400" dirty="0" smtClean="0"/>
              <a:t>PROYECTO FINAL</a:t>
            </a:r>
            <a:endParaRPr lang="es-VE" sz="2400" dirty="0"/>
          </a:p>
        </p:txBody>
      </p:sp>
      <p:sp>
        <p:nvSpPr>
          <p:cNvPr id="3" name="Rectángulo 2"/>
          <p:cNvSpPr/>
          <p:nvPr/>
        </p:nvSpPr>
        <p:spPr>
          <a:xfrm>
            <a:off x="0" y="503434"/>
            <a:ext cx="12192000" cy="554804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400" dirty="0" smtClean="0"/>
              <a:t>CONCLUSIONES</a:t>
            </a:r>
            <a:endParaRPr lang="es-VE" sz="2400" dirty="0"/>
          </a:p>
        </p:txBody>
      </p:sp>
    </p:spTree>
    <p:extLst>
      <p:ext uri="{BB962C8B-B14F-4D97-AF65-F5344CB8AC3E}">
        <p14:creationId xmlns:p14="http://schemas.microsoft.com/office/powerpoint/2010/main" val="263551304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67</TotalTime>
  <Words>204</Words>
  <Application>Microsoft Office PowerPoint</Application>
  <PresentationFormat>Panorámica</PresentationFormat>
  <Paragraphs>61</Paragraphs>
  <Slides>13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13</vt:i4>
      </vt:variant>
    </vt:vector>
  </HeadingPairs>
  <TitlesOfParts>
    <vt:vector size="19" baseType="lpstr">
      <vt:lpstr>Arial</vt:lpstr>
      <vt:lpstr>Calibri</vt:lpstr>
      <vt:lpstr>Calibri Light</vt:lpstr>
      <vt:lpstr>Times New Roman</vt:lpstr>
      <vt:lpstr>Verdana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Yaskelly Yedra</dc:creator>
  <cp:lastModifiedBy>Yaskelly Yedra</cp:lastModifiedBy>
  <cp:revision>13</cp:revision>
  <dcterms:created xsi:type="dcterms:W3CDTF">2024-09-12T15:26:05Z</dcterms:created>
  <dcterms:modified xsi:type="dcterms:W3CDTF">2025-10-15T15:27:54Z</dcterms:modified>
</cp:coreProperties>
</file>