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4.xml" ContentType="application/vnd.openxmlformats-officedocument.presentationml.slide+xml"/>
  <Override PartName="/ppt/slides/slide7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</p:sldIdLst>
  <p:sldSz cx="9144000" cy="51435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496800"/>
            <a:ext cx="822852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del texto de título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</a:t>
            </a: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editar el </a:t>
            </a: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formato del </a:t>
            </a: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texto de </a:t>
            </a: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título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24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slideLayout" Target="../slideLayouts/slideLayout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slideLayout" Target="../slideLayouts/slideLayout2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slideLayout" Target="../slideLayouts/slideLayout2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slideLayout" Target="../slideLayouts/slideLayout2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slideLayout" Target="../slideLayouts/slideLayout2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slideLayout" Target="../slideLayouts/slideLayout2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slideLayout" Target="../slideLayouts/slideLayout2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4.png"/><Relationship Id="rId3" Type="http://schemas.openxmlformats.org/officeDocument/2006/relationships/slideLayout" Target="../slideLayouts/slideLayout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5.png"/><Relationship Id="rId3" Type="http://schemas.openxmlformats.org/officeDocument/2006/relationships/slideLayout" Target="../slideLayouts/slideLayout2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6.png"/><Relationship Id="rId3" Type="http://schemas.openxmlformats.org/officeDocument/2006/relationships/slideLayout" Target="../slideLayouts/slideLayout2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7.png"/><Relationship Id="rId3" Type="http://schemas.openxmlformats.org/officeDocument/2006/relationships/slideLayout" Target="../slideLayouts/slideLayout2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8.png"/><Relationship Id="rId3" Type="http://schemas.openxmlformats.org/officeDocument/2006/relationships/slideLayout" Target="../slideLayouts/slideLayout2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slideLayout" Target="../slideLayouts/slideLayout2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3.png"/><Relationship Id="rId3" Type="http://schemas.openxmlformats.org/officeDocument/2006/relationships/image" Target="../media/image44.png"/><Relationship Id="rId4" Type="http://schemas.openxmlformats.org/officeDocument/2006/relationships/slideLayout" Target="../slideLayouts/slideLayout2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/>
          <p:nvPr/>
        </p:nvSpPr>
        <p:spPr>
          <a:xfrm>
            <a:off x="0" y="0"/>
            <a:ext cx="9143280" cy="14396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6" name="Picture 2" descr="escudo.png"/>
          <p:cNvPicPr/>
          <p:nvPr/>
        </p:nvPicPr>
        <p:blipFill>
          <a:blip r:embed="rId1"/>
          <a:stretch/>
        </p:blipFill>
        <p:spPr>
          <a:xfrm>
            <a:off x="317160" y="279720"/>
            <a:ext cx="761040" cy="761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" name="Picture 3" descr="logo2.png"/>
          <p:cNvPicPr/>
          <p:nvPr/>
        </p:nvPicPr>
        <p:blipFill>
          <a:blip r:embed="rId2"/>
          <a:stretch/>
        </p:blipFill>
        <p:spPr>
          <a:xfrm>
            <a:off x="8344080" y="279720"/>
            <a:ext cx="481320" cy="5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" name="TextBox 4"/>
          <p:cNvSpPr/>
          <p:nvPr/>
        </p:nvSpPr>
        <p:spPr>
          <a:xfrm>
            <a:off x="2011680" y="429840"/>
            <a:ext cx="5119920" cy="97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s-E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UNIVERSIDAD DEL ZULIA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s-E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FACULTAD EXPERIMENTAL DE CIENCIAS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s-E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DIVISIÓN DE PROGRAMAS ESPECIALES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s-E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LICENCIATURA EN COMPUTACIÓN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TextBox 5"/>
          <p:cNvSpPr/>
          <p:nvPr/>
        </p:nvSpPr>
        <p:spPr>
          <a:xfrm>
            <a:off x="2194560" y="2406600"/>
            <a:ext cx="4754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s-ES" sz="2400" b="1" u="none" strike="noStrike">
                <a:solidFill>
                  <a:srgbClr val="2E75B5"/>
                </a:solidFill>
                <a:effectLst/>
                <a:uFillTx/>
                <a:latin typeface="Arial"/>
                <a:ea typeface="DejaVu Sans"/>
              </a:rPr>
              <a:t>DESARROLLO DE SISTEMAS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TextBox 6"/>
          <p:cNvSpPr/>
          <p:nvPr/>
        </p:nvSpPr>
        <p:spPr>
          <a:xfrm>
            <a:off x="2194560" y="2966040"/>
            <a:ext cx="4754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s-ES" sz="1800" b="0" u="none" strike="noStrike">
                <a:solidFill>
                  <a:srgbClr val="1F3864"/>
                </a:solidFill>
                <a:effectLst/>
                <a:uFillTx/>
                <a:latin typeface="Arial"/>
                <a:ea typeface="DejaVu Sans"/>
              </a:rPr>
              <a:t>Gestor de Ventas e Inventario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Rectangle 7"/>
          <p:cNvSpPr/>
          <p:nvPr/>
        </p:nvSpPr>
        <p:spPr>
          <a:xfrm>
            <a:off x="3600000" y="3324240"/>
            <a:ext cx="1904040" cy="11880"/>
          </a:xfrm>
          <a:prstGeom prst="rect">
            <a:avLst/>
          </a:prstGeom>
          <a:solidFill>
            <a:srgbClr val="B4C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2400" rIns="90000" bIns="-324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2" name="TextBox 8"/>
          <p:cNvSpPr/>
          <p:nvPr/>
        </p:nvSpPr>
        <p:spPr>
          <a:xfrm>
            <a:off x="5760000" y="4320000"/>
            <a:ext cx="47541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s-ES" sz="1200" b="0" u="none" strike="noStrike">
                <a:solidFill>
                  <a:srgbClr val="595959"/>
                </a:solidFill>
                <a:effectLst/>
                <a:uFillTx/>
                <a:latin typeface="Arial"/>
                <a:ea typeface="DejaVu Sans"/>
              </a:rPr>
              <a:t>Presentado por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Box 9"/>
          <p:cNvSpPr/>
          <p:nvPr/>
        </p:nvSpPr>
        <p:spPr>
          <a:xfrm>
            <a:off x="5940000" y="4509360"/>
            <a:ext cx="4754160" cy="17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s-ES" sz="1200" b="1" u="none" strike="noStrike">
                <a:solidFill>
                  <a:srgbClr val="1A1A1A"/>
                </a:solidFill>
                <a:effectLst/>
                <a:uFillTx/>
                <a:latin typeface="Arial"/>
                <a:ea typeface="DejaVu Sans"/>
              </a:rPr>
              <a:t>Hernández, Edelyn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TextBox 10"/>
          <p:cNvSpPr/>
          <p:nvPr/>
        </p:nvSpPr>
        <p:spPr>
          <a:xfrm>
            <a:off x="5760000" y="4677480"/>
            <a:ext cx="47541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s-ES" sz="1200" b="0" u="none" strike="noStrike">
                <a:solidFill>
                  <a:srgbClr val="595959"/>
                </a:solidFill>
                <a:effectLst/>
                <a:uFillTx/>
                <a:latin typeface="Arial"/>
                <a:ea typeface="DejaVu Sans"/>
              </a:rPr>
              <a:t>CI: 28109107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Box 11"/>
          <p:cNvSpPr/>
          <p:nvPr/>
        </p:nvSpPr>
        <p:spPr>
          <a:xfrm>
            <a:off x="2160000" y="4860000"/>
            <a:ext cx="475416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s-ES" sz="1000" b="0" u="none" strike="noStrike">
                <a:solidFill>
                  <a:srgbClr val="595959"/>
                </a:solidFill>
                <a:effectLst/>
                <a:uFillTx/>
                <a:latin typeface="Arial"/>
                <a:ea typeface="DejaVu Sans"/>
              </a:rPr>
              <a:t>PERIODO II - 2026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"/>
          <p:cNvSpPr/>
          <p:nvPr/>
        </p:nvSpPr>
        <p:spPr>
          <a:xfrm>
            <a:off x="0" y="0"/>
            <a:ext cx="9143280" cy="5324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17" name="Picture 2" descr="escudo.png"/>
          <p:cNvPicPr/>
          <p:nvPr/>
        </p:nvPicPr>
        <p:blipFill>
          <a:blip r:embed="rId1"/>
          <a:stretch/>
        </p:blipFill>
        <p:spPr>
          <a:xfrm>
            <a:off x="152640" y="88560"/>
            <a:ext cx="354960" cy="354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TextBox 3"/>
          <p:cNvSpPr/>
          <p:nvPr/>
        </p:nvSpPr>
        <p:spPr>
          <a:xfrm>
            <a:off x="634680" y="147240"/>
            <a:ext cx="27424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s-ES" sz="1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PROYECTO FINAL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Box 4"/>
          <p:cNvSpPr/>
          <p:nvPr/>
        </p:nvSpPr>
        <p:spPr>
          <a:xfrm>
            <a:off x="7863840" y="194760"/>
            <a:ext cx="1123920" cy="14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>
              <a:lnSpc>
                <a:spcPct val="100000"/>
              </a:lnSpc>
            </a:pPr>
            <a:r>
              <a:rPr lang="es-ES" sz="1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2/31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Rectangle 5"/>
          <p:cNvSpPr/>
          <p:nvPr/>
        </p:nvSpPr>
        <p:spPr>
          <a:xfrm>
            <a:off x="0" y="533160"/>
            <a:ext cx="9143280" cy="354960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1" name="TextBox 6"/>
          <p:cNvSpPr/>
          <p:nvPr/>
        </p:nvSpPr>
        <p:spPr>
          <a:xfrm>
            <a:off x="190080" y="610920"/>
            <a:ext cx="822888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s-ES" sz="13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AGENDA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Rectangle 7"/>
          <p:cNvSpPr/>
          <p:nvPr/>
        </p:nvSpPr>
        <p:spPr>
          <a:xfrm>
            <a:off x="0" y="4966200"/>
            <a:ext cx="9143280" cy="10080"/>
          </a:xfrm>
          <a:prstGeom prst="rect">
            <a:avLst/>
          </a:prstGeom>
          <a:solidFill>
            <a:srgbClr val="B4C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3" name="TextBox 8"/>
          <p:cNvSpPr/>
          <p:nvPr/>
        </p:nvSpPr>
        <p:spPr>
          <a:xfrm>
            <a:off x="152640" y="5007240"/>
            <a:ext cx="4571280" cy="9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s-ES" sz="700" b="0" u="none" strike="noStrike">
                <a:solidFill>
                  <a:srgbClr val="595959"/>
                </a:solidFill>
                <a:effectLst/>
                <a:uFillTx/>
                <a:latin typeface="Arial"/>
                <a:ea typeface="DejaVu Sans"/>
              </a:rPr>
              <a:t>Gestor de Ventas e Inventario</a:t>
            </a:r>
            <a:endParaRPr lang="es-E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Box 9"/>
          <p:cNvSpPr/>
          <p:nvPr/>
        </p:nvSpPr>
        <p:spPr>
          <a:xfrm>
            <a:off x="5943600" y="5007240"/>
            <a:ext cx="3047040" cy="9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>
              <a:lnSpc>
                <a:spcPct val="100000"/>
              </a:lnSpc>
            </a:pPr>
            <a:r>
              <a:rPr lang="es-ES" sz="700" b="0" u="none" strike="noStrike">
                <a:solidFill>
                  <a:srgbClr val="595959"/>
                </a:solidFill>
                <a:effectLst/>
                <a:uFillTx/>
                <a:latin typeface="Arial"/>
                <a:ea typeface="DejaVu Sans"/>
              </a:rPr>
              <a:t>Hernández, Edelyn - CI: 28109107</a:t>
            </a:r>
            <a:endParaRPr lang="es-E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Box 10"/>
          <p:cNvSpPr/>
          <p:nvPr/>
        </p:nvSpPr>
        <p:spPr>
          <a:xfrm>
            <a:off x="407880" y="1187640"/>
            <a:ext cx="8327520" cy="349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6000"/>
              </a:lnSpc>
            </a:pPr>
            <a:r>
              <a:rPr lang="es-ES" sz="1200" b="0" u="none" strike="noStrike">
                <a:solidFill>
                  <a:srgbClr val="1A1A1A"/>
                </a:solidFill>
                <a:effectLst/>
                <a:uFillTx/>
                <a:latin typeface="Arial"/>
                <a:ea typeface="DejaVu Sans"/>
              </a:rPr>
              <a:t>1.  Identificar: entradas, procesos y salidas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6000"/>
              </a:lnSpc>
              <a:spcBef>
                <a:spcPts val="499"/>
              </a:spcBef>
            </a:pPr>
            <a:r>
              <a:rPr lang="es-ES" sz="1200" b="0" u="none" strike="noStrike">
                <a:solidFill>
                  <a:srgbClr val="1A1A1A"/>
                </a:solidFill>
                <a:effectLst/>
                <a:uFillTx/>
                <a:latin typeface="Arial"/>
                <a:ea typeface="DejaVu Sans"/>
              </a:rPr>
              <a:t>2.  Ciclo de Vida seleccionado (resumen)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6000"/>
              </a:lnSpc>
              <a:spcBef>
                <a:spcPts val="499"/>
              </a:spcBef>
            </a:pPr>
            <a:r>
              <a:rPr lang="es-ES" sz="1200" b="0" u="none" strike="noStrike">
                <a:solidFill>
                  <a:srgbClr val="1A1A1A"/>
                </a:solidFill>
                <a:effectLst/>
                <a:uFillTx/>
                <a:latin typeface="Arial"/>
                <a:ea typeface="DejaVu Sans"/>
              </a:rPr>
              <a:t>3.  Tecnologías y Herramientas de Desarrollo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6000"/>
              </a:lnSpc>
              <a:spcBef>
                <a:spcPts val="499"/>
              </a:spcBef>
            </a:pPr>
            <a:r>
              <a:rPr lang="es-ES" sz="1200" b="0" u="none" strike="noStrike">
                <a:solidFill>
                  <a:srgbClr val="1A1A1A"/>
                </a:solidFill>
                <a:effectLst/>
                <a:uFillTx/>
                <a:latin typeface="Arial"/>
                <a:ea typeface="DejaVu Sans"/>
              </a:rPr>
              <a:t>4.  Diagrama de Flujo de Datos (DFD)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6000"/>
              </a:lnSpc>
              <a:spcBef>
                <a:spcPts val="499"/>
              </a:spcBef>
            </a:pPr>
            <a:r>
              <a:rPr lang="es-ES" sz="1200" b="0" u="none" strike="noStrike">
                <a:solidFill>
                  <a:srgbClr val="1A1A1A"/>
                </a:solidFill>
                <a:effectLst/>
                <a:uFillTx/>
                <a:latin typeface="Arial"/>
                <a:ea typeface="DejaVu Sans"/>
              </a:rPr>
              <a:t>5.  Diccionario de Datos (DFD)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6000"/>
              </a:lnSpc>
              <a:spcBef>
                <a:spcPts val="499"/>
              </a:spcBef>
            </a:pPr>
            <a:r>
              <a:rPr lang="es-ES" sz="1200" b="0" u="none" strike="noStrike">
                <a:solidFill>
                  <a:srgbClr val="1A1A1A"/>
                </a:solidFill>
                <a:effectLst/>
                <a:uFillTx/>
                <a:latin typeface="Arial"/>
                <a:ea typeface="DejaVu Sans"/>
              </a:rPr>
              <a:t>6.  Diagrama Entidad – Relación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6000"/>
              </a:lnSpc>
              <a:spcBef>
                <a:spcPts val="499"/>
              </a:spcBef>
            </a:pPr>
            <a:r>
              <a:rPr lang="es-ES" sz="1200" b="0" u="none" strike="noStrike">
                <a:solidFill>
                  <a:srgbClr val="1A1A1A"/>
                </a:solidFill>
                <a:effectLst/>
                <a:uFillTx/>
                <a:latin typeface="Arial"/>
                <a:ea typeface="DejaVu Sans"/>
              </a:rPr>
              <a:t>7.  Diccionario de Datos (Diagrama E-R)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6000"/>
              </a:lnSpc>
              <a:spcBef>
                <a:spcPts val="499"/>
              </a:spcBef>
            </a:pPr>
            <a:r>
              <a:rPr lang="es-ES" sz="1200" b="0" u="none" strike="noStrike">
                <a:solidFill>
                  <a:srgbClr val="1A1A1A"/>
                </a:solidFill>
                <a:effectLst/>
                <a:uFillTx/>
                <a:latin typeface="Arial"/>
                <a:ea typeface="DejaVu Sans"/>
              </a:rPr>
              <a:t>8.  Interfaces de Entrada / Salida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6000"/>
              </a:lnSpc>
              <a:spcBef>
                <a:spcPts val="499"/>
              </a:spcBef>
            </a:pPr>
            <a:r>
              <a:rPr lang="es-ES" sz="1200" b="0" u="none" strike="noStrike">
                <a:solidFill>
                  <a:srgbClr val="1A1A1A"/>
                </a:solidFill>
                <a:effectLst/>
                <a:uFillTx/>
                <a:latin typeface="Arial"/>
                <a:ea typeface="DejaVu Sans"/>
              </a:rPr>
              <a:t>9.  Demostración de Pruebas al SI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6000"/>
              </a:lnSpc>
              <a:spcBef>
                <a:spcPts val="499"/>
              </a:spcBef>
            </a:pPr>
            <a:r>
              <a:rPr lang="es-ES" sz="1200" b="0" u="none" strike="noStrike">
                <a:solidFill>
                  <a:srgbClr val="1A1A1A"/>
                </a:solidFill>
                <a:effectLst/>
                <a:uFillTx/>
                <a:latin typeface="Arial"/>
                <a:ea typeface="DejaVu Sans"/>
              </a:rPr>
              <a:t>10.  Plan de Mantenimiento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1"/>
          <p:cNvSpPr/>
          <p:nvPr/>
        </p:nvSpPr>
        <p:spPr>
          <a:xfrm>
            <a:off x="0" y="0"/>
            <a:ext cx="9143280" cy="5324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27" name="Picture 2" descr="escudo.png"/>
          <p:cNvPicPr/>
          <p:nvPr/>
        </p:nvPicPr>
        <p:blipFill>
          <a:blip r:embed="rId1"/>
          <a:stretch/>
        </p:blipFill>
        <p:spPr>
          <a:xfrm>
            <a:off x="152640" y="88560"/>
            <a:ext cx="354960" cy="354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" name="TextBox 3"/>
          <p:cNvSpPr/>
          <p:nvPr/>
        </p:nvSpPr>
        <p:spPr>
          <a:xfrm>
            <a:off x="634680" y="147240"/>
            <a:ext cx="27424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s-ES" sz="1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PROYECTO FINAL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Box 4"/>
          <p:cNvSpPr/>
          <p:nvPr/>
        </p:nvSpPr>
        <p:spPr>
          <a:xfrm>
            <a:off x="7863840" y="194760"/>
            <a:ext cx="1123920" cy="14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>
              <a:lnSpc>
                <a:spcPct val="100000"/>
              </a:lnSpc>
            </a:pPr>
            <a:r>
              <a:rPr lang="es-ES" sz="1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3/31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Rectangle 5"/>
          <p:cNvSpPr/>
          <p:nvPr/>
        </p:nvSpPr>
        <p:spPr>
          <a:xfrm>
            <a:off x="0" y="533160"/>
            <a:ext cx="9143280" cy="354960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1" name="TextBox 6"/>
          <p:cNvSpPr/>
          <p:nvPr/>
        </p:nvSpPr>
        <p:spPr>
          <a:xfrm>
            <a:off x="190080" y="610920"/>
            <a:ext cx="822888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s-ES" sz="13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ENTRADAS → PROCESOS → SALIDAS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Rectangle 7"/>
          <p:cNvSpPr/>
          <p:nvPr/>
        </p:nvSpPr>
        <p:spPr>
          <a:xfrm>
            <a:off x="0" y="4966200"/>
            <a:ext cx="9143280" cy="10080"/>
          </a:xfrm>
          <a:prstGeom prst="rect">
            <a:avLst/>
          </a:prstGeom>
          <a:solidFill>
            <a:srgbClr val="B4C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3" name="TextBox 8"/>
          <p:cNvSpPr/>
          <p:nvPr/>
        </p:nvSpPr>
        <p:spPr>
          <a:xfrm>
            <a:off x="152640" y="5007240"/>
            <a:ext cx="4571280" cy="9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s-ES" sz="700" b="0" u="none" strike="noStrike">
                <a:solidFill>
                  <a:srgbClr val="595959"/>
                </a:solidFill>
                <a:effectLst/>
                <a:uFillTx/>
                <a:latin typeface="Arial"/>
                <a:ea typeface="DejaVu Sans"/>
              </a:rPr>
              <a:t>Gestor de Ventas e Inventario</a:t>
            </a:r>
            <a:endParaRPr lang="es-E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Box 9"/>
          <p:cNvSpPr/>
          <p:nvPr/>
        </p:nvSpPr>
        <p:spPr>
          <a:xfrm>
            <a:off x="5943600" y="5007240"/>
            <a:ext cx="3047040" cy="9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>
              <a:lnSpc>
                <a:spcPct val="100000"/>
              </a:lnSpc>
            </a:pPr>
            <a:r>
              <a:rPr lang="es-ES" sz="700" b="0" u="none" strike="noStrike">
                <a:solidFill>
                  <a:srgbClr val="595959"/>
                </a:solidFill>
                <a:effectLst/>
                <a:uFillTx/>
                <a:latin typeface="Arial"/>
                <a:ea typeface="DejaVu Sans"/>
              </a:rPr>
              <a:t>Hernández, Edelyn - CI: 28109107</a:t>
            </a:r>
            <a:endParaRPr lang="es-E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Rectangle 10"/>
          <p:cNvSpPr/>
          <p:nvPr/>
        </p:nvSpPr>
        <p:spPr>
          <a:xfrm>
            <a:off x="426240" y="1041480"/>
            <a:ext cx="502200" cy="24840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9440" rIns="90000" bIns="-1944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6" name="TextBox 11"/>
          <p:cNvSpPr/>
          <p:nvPr/>
        </p:nvSpPr>
        <p:spPr>
          <a:xfrm>
            <a:off x="279720" y="1117440"/>
            <a:ext cx="2614320" cy="17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s-ES" sz="1000" b="1" u="none" strike="noStrike">
                <a:solidFill>
                  <a:srgbClr val="1F3864"/>
                </a:solidFill>
                <a:effectLst/>
                <a:uFillTx/>
                <a:latin typeface="Arial"/>
                <a:ea typeface="DejaVu Sans"/>
              </a:rPr>
              <a:t>ENTRADAS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Box 12"/>
          <p:cNvSpPr/>
          <p:nvPr/>
        </p:nvSpPr>
        <p:spPr>
          <a:xfrm>
            <a:off x="426240" y="1344240"/>
            <a:ext cx="2322000" cy="20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3000"/>
              </a:lnSpc>
            </a:pPr>
            <a:r>
              <a:rPr lang="es-ES" sz="950" b="0" u="none" strike="noStrike">
                <a:solidFill>
                  <a:srgbClr val="1A1A1A"/>
                </a:solidFill>
                <a:effectLst/>
                <a:uFillTx/>
                <a:latin typeface="Arial"/>
                <a:ea typeface="DejaVu Sans"/>
              </a:rPr>
              <a:t>Ingresar producto (nombre, categoría, precio, stock mínimo)</a:t>
            </a:r>
            <a:endParaRPr lang="es-E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3000"/>
              </a:lnSpc>
              <a:spcBef>
                <a:spcPts val="499"/>
              </a:spcBef>
            </a:pPr>
            <a:r>
              <a:rPr lang="es-ES" sz="950" b="0" u="none" strike="noStrike">
                <a:solidFill>
                  <a:srgbClr val="1A1A1A"/>
                </a:solidFill>
                <a:effectLst/>
                <a:uFillTx/>
                <a:latin typeface="Arial"/>
                <a:ea typeface="DejaVu Sans"/>
              </a:rPr>
              <a:t>Ingresar cantidades (stock inicial, movimientos)</a:t>
            </a:r>
            <a:endParaRPr lang="es-E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3000"/>
              </a:lnSpc>
              <a:spcBef>
                <a:spcPts val="499"/>
              </a:spcBef>
            </a:pPr>
            <a:r>
              <a:rPr lang="es-ES" sz="950" b="0" u="none" strike="noStrike">
                <a:solidFill>
                  <a:srgbClr val="1A1A1A"/>
                </a:solidFill>
                <a:effectLst/>
                <a:uFillTx/>
                <a:latin typeface="Arial"/>
                <a:ea typeface="DejaVu Sans"/>
              </a:rPr>
              <a:t>Ingresar precio (VES o USD)</a:t>
            </a:r>
            <a:endParaRPr lang="es-E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3000"/>
              </a:lnSpc>
              <a:spcBef>
                <a:spcPts val="499"/>
              </a:spcBef>
            </a:pPr>
            <a:r>
              <a:rPr lang="es-ES" sz="950" b="0" u="none" strike="noStrike">
                <a:solidFill>
                  <a:srgbClr val="1A1A1A"/>
                </a:solidFill>
                <a:effectLst/>
                <a:uFillTx/>
                <a:latin typeface="Arial"/>
                <a:ea typeface="DejaVu Sans"/>
              </a:rPr>
              <a:t>Ingresar tipos de pago (efectivo BS/USD, pago móvil, tarjeta, bio-pago)</a:t>
            </a:r>
            <a:endParaRPr lang="es-E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3000"/>
              </a:lnSpc>
              <a:spcBef>
                <a:spcPts val="499"/>
              </a:spcBef>
            </a:pPr>
            <a:r>
              <a:rPr lang="es-ES" sz="950" b="0" u="none" strike="noStrike">
                <a:solidFill>
                  <a:srgbClr val="1A1A1A"/>
                </a:solidFill>
                <a:effectLst/>
                <a:uFillTx/>
                <a:latin typeface="Arial"/>
                <a:ea typeface="DejaVu Sans"/>
              </a:rPr>
              <a:t>Registrar usuarios (credenciales)</a:t>
            </a:r>
            <a:endParaRPr lang="es-E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3000"/>
              </a:lnSpc>
              <a:spcBef>
                <a:spcPts val="499"/>
              </a:spcBef>
            </a:pPr>
            <a:r>
              <a:rPr lang="es-ES" sz="950" b="0" u="none" strike="noStrike">
                <a:solidFill>
                  <a:srgbClr val="1A1A1A"/>
                </a:solidFill>
                <a:effectLst/>
                <a:uFillTx/>
                <a:latin typeface="Arial"/>
                <a:ea typeface="DejaVu Sans"/>
              </a:rPr>
              <a:t>Fecha de compra/venta</a:t>
            </a:r>
            <a:endParaRPr lang="es-E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3000"/>
              </a:lnSpc>
              <a:spcBef>
                <a:spcPts val="499"/>
              </a:spcBef>
            </a:pPr>
            <a:r>
              <a:rPr lang="es-ES" sz="950" b="0" u="none" strike="noStrike">
                <a:solidFill>
                  <a:srgbClr val="1A1A1A"/>
                </a:solidFill>
                <a:effectLst/>
                <a:uFillTx/>
                <a:latin typeface="Arial"/>
                <a:ea typeface="DejaVu Sans"/>
              </a:rPr>
              <a:t>Cambios del día (tasa BCV automática)</a:t>
            </a:r>
            <a:endParaRPr lang="es-E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3000"/>
              </a:lnSpc>
              <a:spcBef>
                <a:spcPts val="499"/>
              </a:spcBef>
            </a:pPr>
            <a:r>
              <a:rPr lang="es-ES" sz="950" b="0" u="none" strike="noStrike">
                <a:solidFill>
                  <a:srgbClr val="1A1A1A"/>
                </a:solidFill>
                <a:effectLst/>
                <a:uFillTx/>
                <a:latin typeface="Arial"/>
                <a:ea typeface="DejaVu Sans"/>
              </a:rPr>
              <a:t>Movimientos de inventario</a:t>
            </a:r>
            <a:endParaRPr lang="es-E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Rectangle 13"/>
          <p:cNvSpPr/>
          <p:nvPr/>
        </p:nvSpPr>
        <p:spPr>
          <a:xfrm>
            <a:off x="3193920" y="1041480"/>
            <a:ext cx="502200" cy="24840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9440" rIns="90000" bIns="-1944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9" name="TextBox 14"/>
          <p:cNvSpPr/>
          <p:nvPr/>
        </p:nvSpPr>
        <p:spPr>
          <a:xfrm>
            <a:off x="3047760" y="1117440"/>
            <a:ext cx="3047040" cy="17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s-ES" sz="1000" b="1" u="none" strike="noStrike">
                <a:solidFill>
                  <a:srgbClr val="1F3864"/>
                </a:solidFill>
                <a:effectLst/>
                <a:uFillTx/>
                <a:latin typeface="Arial"/>
                <a:ea typeface="DejaVu Sans"/>
              </a:rPr>
              <a:t>PROCESOS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Box 15"/>
          <p:cNvSpPr/>
          <p:nvPr/>
        </p:nvSpPr>
        <p:spPr>
          <a:xfrm>
            <a:off x="3193920" y="1344240"/>
            <a:ext cx="2754360" cy="22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3000"/>
              </a:lnSpc>
            </a:pPr>
            <a:r>
              <a:rPr lang="es-ES" sz="950" b="0" u="none" strike="noStrike">
                <a:solidFill>
                  <a:srgbClr val="1A1A1A"/>
                </a:solidFill>
                <a:effectLst/>
                <a:uFillTx/>
                <a:latin typeface="Arial"/>
                <a:ea typeface="DejaVu Sans"/>
              </a:rPr>
              <a:t>Validar existencia del producto e inventario suficiente</a:t>
            </a:r>
            <a:endParaRPr lang="es-E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3000"/>
              </a:lnSpc>
              <a:spcBef>
                <a:spcPts val="499"/>
              </a:spcBef>
            </a:pPr>
            <a:r>
              <a:rPr lang="es-ES" sz="950" b="0" u="none" strike="noStrike">
                <a:solidFill>
                  <a:srgbClr val="1A1A1A"/>
                </a:solidFill>
                <a:effectLst/>
                <a:uFillTx/>
                <a:latin typeface="Arial"/>
                <a:ea typeface="DejaVu Sans"/>
              </a:rPr>
              <a:t>Convertir precio USD a bolívares (tasa BCV)</a:t>
            </a:r>
            <a:endParaRPr lang="es-E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3000"/>
              </a:lnSpc>
              <a:spcBef>
                <a:spcPts val="499"/>
              </a:spcBef>
            </a:pPr>
            <a:r>
              <a:rPr lang="es-ES" sz="950" b="0" u="none" strike="noStrike">
                <a:solidFill>
                  <a:srgbClr val="1A1A1A"/>
                </a:solidFill>
                <a:effectLst/>
                <a:uFillTx/>
                <a:latin typeface="Arial"/>
                <a:ea typeface="DejaVu Sans"/>
              </a:rPr>
              <a:t>Calcular total de venta (subtotales + total)</a:t>
            </a:r>
            <a:endParaRPr lang="es-E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3000"/>
              </a:lnSpc>
              <a:spcBef>
                <a:spcPts val="499"/>
              </a:spcBef>
            </a:pPr>
            <a:r>
              <a:rPr lang="es-ES" sz="950" b="0" u="none" strike="noStrike">
                <a:solidFill>
                  <a:srgbClr val="1A1A1A"/>
                </a:solidFill>
                <a:effectLst/>
                <a:uFillTx/>
                <a:latin typeface="Arial"/>
                <a:ea typeface="DejaVu Sans"/>
              </a:rPr>
              <a:t>Registrar tipo de pago (5 métodos, pagos mixtos VES/USD)</a:t>
            </a:r>
            <a:endParaRPr lang="es-E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3000"/>
              </a:lnSpc>
              <a:spcBef>
                <a:spcPts val="499"/>
              </a:spcBef>
            </a:pPr>
            <a:r>
              <a:rPr lang="es-ES" sz="950" b="0" u="none" strike="noStrike">
                <a:solidFill>
                  <a:srgbClr val="1A1A1A"/>
                </a:solidFill>
                <a:effectLst/>
                <a:uFillTx/>
                <a:latin typeface="Arial"/>
                <a:ea typeface="DejaVu Sans"/>
              </a:rPr>
              <a:t>Registrar tasa BCV aplicada en la venta</a:t>
            </a:r>
            <a:endParaRPr lang="es-E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3000"/>
              </a:lnSpc>
              <a:spcBef>
                <a:spcPts val="499"/>
              </a:spcBef>
            </a:pPr>
            <a:r>
              <a:rPr lang="es-ES" sz="950" b="0" u="none" strike="noStrike">
                <a:solidFill>
                  <a:srgbClr val="1A1A1A"/>
                </a:solidFill>
                <a:effectLst/>
                <a:uFillTx/>
                <a:latin typeface="Arial"/>
                <a:ea typeface="DejaVu Sans"/>
              </a:rPr>
              <a:t>Actualizar inventario con auditoría de movimientos</a:t>
            </a:r>
            <a:endParaRPr lang="es-E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3000"/>
              </a:lnSpc>
              <a:spcBef>
                <a:spcPts val="499"/>
              </a:spcBef>
            </a:pPr>
            <a:r>
              <a:rPr lang="es-ES" sz="950" b="0" u="none" strike="noStrike">
                <a:solidFill>
                  <a:srgbClr val="1A1A1A"/>
                </a:solidFill>
                <a:effectLst/>
                <a:uFillTx/>
                <a:latin typeface="Arial"/>
                <a:ea typeface="DejaVu Sans"/>
              </a:rPr>
              <a:t>Generar factura (FAC-AAAAMMDD-NNN)</a:t>
            </a:r>
            <a:endParaRPr lang="es-E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3000"/>
              </a:lnSpc>
              <a:spcBef>
                <a:spcPts val="499"/>
              </a:spcBef>
            </a:pPr>
            <a:r>
              <a:rPr lang="es-ES" sz="950" b="0" u="none" strike="noStrike">
                <a:solidFill>
                  <a:srgbClr val="1A1A1A"/>
                </a:solidFill>
                <a:effectLst/>
                <a:uFillTx/>
                <a:latin typeface="Arial"/>
                <a:ea typeface="DejaVu Sans"/>
              </a:rPr>
              <a:t>Registrar por completo de productos</a:t>
            </a:r>
            <a:endParaRPr lang="es-E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3000"/>
              </a:lnSpc>
              <a:spcBef>
                <a:spcPts val="499"/>
              </a:spcBef>
            </a:pPr>
            <a:r>
              <a:rPr lang="es-ES" sz="950" b="0" u="none" strike="noStrike">
                <a:solidFill>
                  <a:srgbClr val="1A1A1A"/>
                </a:solidFill>
                <a:effectLst/>
                <a:uFillTx/>
                <a:latin typeface="Arial"/>
                <a:ea typeface="DejaVu Sans"/>
              </a:rPr>
              <a:t>Control de inventario (compra, venta, merma, ajuste, devolución)</a:t>
            </a:r>
            <a:endParaRPr lang="es-E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Rectangle 16"/>
          <p:cNvSpPr/>
          <p:nvPr/>
        </p:nvSpPr>
        <p:spPr>
          <a:xfrm>
            <a:off x="6521400" y="1041480"/>
            <a:ext cx="502200" cy="24840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9440" rIns="90000" bIns="-1944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2" name="TextBox 17"/>
          <p:cNvSpPr/>
          <p:nvPr/>
        </p:nvSpPr>
        <p:spPr>
          <a:xfrm>
            <a:off x="6375240" y="1117440"/>
            <a:ext cx="2488320" cy="17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s-ES" sz="1000" b="1" u="none" strike="noStrike">
                <a:solidFill>
                  <a:srgbClr val="1F3864"/>
                </a:solidFill>
                <a:effectLst/>
                <a:uFillTx/>
                <a:latin typeface="Arial"/>
                <a:ea typeface="DejaVu Sans"/>
              </a:rPr>
              <a:t>SALIDAS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Box 18"/>
          <p:cNvSpPr/>
          <p:nvPr/>
        </p:nvSpPr>
        <p:spPr>
          <a:xfrm>
            <a:off x="6521400" y="1344240"/>
            <a:ext cx="2195640" cy="180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3000"/>
              </a:lnSpc>
            </a:pPr>
            <a:r>
              <a:rPr lang="es-ES" sz="950" b="0" u="none" strike="noStrike">
                <a:solidFill>
                  <a:srgbClr val="1A1A1A"/>
                </a:solidFill>
                <a:effectLst/>
                <a:uFillTx/>
                <a:latin typeface="Arial"/>
                <a:ea typeface="DejaVu Sans"/>
              </a:rPr>
              <a:t>Comprobante de venta: productos, precio BCV, tipo de pago, tasa aplicada, fecha/hora</a:t>
            </a:r>
            <a:endParaRPr lang="es-E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3000"/>
              </a:lnSpc>
              <a:spcBef>
                <a:spcPts val="499"/>
              </a:spcBef>
            </a:pPr>
            <a:r>
              <a:rPr lang="es-ES" sz="950" b="0" u="none" strike="noStrike">
                <a:solidFill>
                  <a:srgbClr val="1A1A1A"/>
                </a:solidFill>
                <a:effectLst/>
                <a:uFillTx/>
                <a:latin typeface="Arial"/>
                <a:ea typeface="DejaVu Sans"/>
              </a:rPr>
              <a:t>Factura detallada con formato FAC-AAAAMMDD-NNN</a:t>
            </a:r>
            <a:endParaRPr lang="es-E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3000"/>
              </a:lnSpc>
              <a:spcBef>
                <a:spcPts val="499"/>
              </a:spcBef>
            </a:pPr>
            <a:r>
              <a:rPr lang="es-ES" sz="950" b="0" u="none" strike="noStrike">
                <a:solidFill>
                  <a:srgbClr val="1A1A1A"/>
                </a:solidFill>
                <a:effectLst/>
                <a:uFillTx/>
                <a:latin typeface="Arial"/>
                <a:ea typeface="DejaVu Sans"/>
              </a:rPr>
              <a:t>Inventarios actualizados por producto</a:t>
            </a:r>
            <a:endParaRPr lang="es-E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3000"/>
              </a:lnSpc>
              <a:spcBef>
                <a:spcPts val="499"/>
              </a:spcBef>
            </a:pPr>
            <a:r>
              <a:rPr lang="es-ES" sz="950" b="0" u="none" strike="noStrike">
                <a:solidFill>
                  <a:srgbClr val="1A1A1A"/>
                </a:solidFill>
                <a:effectLst/>
                <a:uFillTx/>
                <a:latin typeface="Arial"/>
                <a:ea typeface="DejaVu Sans"/>
              </a:rPr>
              <a:t>Reportes diarios consolidados (ventas, movimientos, tasas)</a:t>
            </a:r>
            <a:endParaRPr lang="es-E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3000"/>
              </a:lnSpc>
              <a:spcBef>
                <a:spcPts val="499"/>
              </a:spcBef>
            </a:pPr>
            <a:r>
              <a:rPr lang="es-ES" sz="950" b="0" u="none" strike="noStrike">
                <a:solidFill>
                  <a:srgbClr val="1A1A1A"/>
                </a:solidFill>
                <a:effectLst/>
                <a:uFillTx/>
                <a:latin typeface="Arial"/>
                <a:ea typeface="DejaVu Sans"/>
              </a:rPr>
              <a:t>Reporte exportable a Excel</a:t>
            </a:r>
            <a:endParaRPr lang="es-E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3000"/>
              </a:lnSpc>
              <a:spcBef>
                <a:spcPts val="499"/>
              </a:spcBef>
            </a:pPr>
            <a:endParaRPr lang="es-E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Box 19"/>
          <p:cNvSpPr/>
          <p:nvPr/>
        </p:nvSpPr>
        <p:spPr>
          <a:xfrm>
            <a:off x="2797920" y="2773440"/>
            <a:ext cx="21888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s-ES" sz="1800" b="0" u="none" strike="noStrike">
                <a:solidFill>
                  <a:srgbClr val="2E75B5"/>
                </a:solidFill>
                <a:effectLst/>
                <a:uFillTx/>
                <a:latin typeface="Arial"/>
                <a:ea typeface="DejaVu Sans"/>
              </a:rPr>
              <a:t>→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Box 20"/>
          <p:cNvSpPr/>
          <p:nvPr/>
        </p:nvSpPr>
        <p:spPr>
          <a:xfrm>
            <a:off x="6126480" y="2773440"/>
            <a:ext cx="21888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s-ES" sz="1800" b="0" u="none" strike="noStrike">
                <a:solidFill>
                  <a:srgbClr val="2E75B5"/>
                </a:solidFill>
                <a:effectLst/>
                <a:uFillTx/>
                <a:latin typeface="Arial"/>
                <a:ea typeface="DejaVu Sans"/>
              </a:rPr>
              <a:t>→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1"/>
          <p:cNvSpPr/>
          <p:nvPr/>
        </p:nvSpPr>
        <p:spPr>
          <a:xfrm>
            <a:off x="0" y="0"/>
            <a:ext cx="9143280" cy="5324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47" name="Picture 2" descr="escudo.png"/>
          <p:cNvPicPr/>
          <p:nvPr/>
        </p:nvPicPr>
        <p:blipFill>
          <a:blip r:embed="rId1"/>
          <a:stretch/>
        </p:blipFill>
        <p:spPr>
          <a:xfrm>
            <a:off x="152640" y="88560"/>
            <a:ext cx="354960" cy="354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" name="TextBox 3"/>
          <p:cNvSpPr/>
          <p:nvPr/>
        </p:nvSpPr>
        <p:spPr>
          <a:xfrm>
            <a:off x="634680" y="147240"/>
            <a:ext cx="27424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s-ES" sz="1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PROYECTO FINAL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Box 4"/>
          <p:cNvSpPr/>
          <p:nvPr/>
        </p:nvSpPr>
        <p:spPr>
          <a:xfrm>
            <a:off x="7863840" y="194760"/>
            <a:ext cx="1123920" cy="14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>
              <a:lnSpc>
                <a:spcPct val="100000"/>
              </a:lnSpc>
            </a:pPr>
            <a:r>
              <a:rPr lang="es-ES" sz="1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4/31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Rectangle 5"/>
          <p:cNvSpPr/>
          <p:nvPr/>
        </p:nvSpPr>
        <p:spPr>
          <a:xfrm>
            <a:off x="0" y="533160"/>
            <a:ext cx="9143280" cy="354960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1" name="TextBox 6"/>
          <p:cNvSpPr/>
          <p:nvPr/>
        </p:nvSpPr>
        <p:spPr>
          <a:xfrm>
            <a:off x="190080" y="610920"/>
            <a:ext cx="822888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s-ES" sz="13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CICLO DE VIDA SELECCIONADO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Rectangle 7"/>
          <p:cNvSpPr/>
          <p:nvPr/>
        </p:nvSpPr>
        <p:spPr>
          <a:xfrm>
            <a:off x="0" y="4966200"/>
            <a:ext cx="9143280" cy="10080"/>
          </a:xfrm>
          <a:prstGeom prst="rect">
            <a:avLst/>
          </a:prstGeom>
          <a:solidFill>
            <a:srgbClr val="B4C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3" name="TextBox 8"/>
          <p:cNvSpPr/>
          <p:nvPr/>
        </p:nvSpPr>
        <p:spPr>
          <a:xfrm>
            <a:off x="152640" y="5007240"/>
            <a:ext cx="4571280" cy="9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s-ES" sz="700" b="0" u="none" strike="noStrike">
                <a:solidFill>
                  <a:srgbClr val="595959"/>
                </a:solidFill>
                <a:effectLst/>
                <a:uFillTx/>
                <a:latin typeface="Arial"/>
                <a:ea typeface="DejaVu Sans"/>
              </a:rPr>
              <a:t>Gestor de Ventas e Inventario</a:t>
            </a:r>
            <a:endParaRPr lang="es-E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Box 9"/>
          <p:cNvSpPr/>
          <p:nvPr/>
        </p:nvSpPr>
        <p:spPr>
          <a:xfrm>
            <a:off x="5943600" y="5007240"/>
            <a:ext cx="3047040" cy="9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>
              <a:lnSpc>
                <a:spcPct val="100000"/>
              </a:lnSpc>
            </a:pPr>
            <a:r>
              <a:rPr lang="es-ES" sz="700" b="0" u="none" strike="noStrike">
                <a:solidFill>
                  <a:srgbClr val="595959"/>
                </a:solidFill>
                <a:effectLst/>
                <a:uFillTx/>
                <a:latin typeface="Arial"/>
                <a:ea typeface="DejaVu Sans"/>
              </a:rPr>
              <a:t>Hernández, Edelyn - CI: 28109107</a:t>
            </a:r>
            <a:endParaRPr lang="es-E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Rectangle 10"/>
          <p:cNvSpPr/>
          <p:nvPr/>
        </p:nvSpPr>
        <p:spPr>
          <a:xfrm>
            <a:off x="279720" y="1078920"/>
            <a:ext cx="502200" cy="24840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9440" rIns="90000" bIns="-1944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6" name="TextBox 11"/>
          <p:cNvSpPr/>
          <p:nvPr/>
        </p:nvSpPr>
        <p:spPr>
          <a:xfrm>
            <a:off x="407880" y="1187640"/>
            <a:ext cx="3949560" cy="78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3000"/>
              </a:lnSpc>
            </a:pPr>
            <a:r>
              <a:rPr lang="es-ES" sz="1100" b="1" u="none" strike="noStrike">
                <a:solidFill>
                  <a:srgbClr val="1F3864"/>
                </a:solidFill>
                <a:effectLst/>
                <a:uFillTx/>
                <a:latin typeface="Arial"/>
                <a:ea typeface="DejaVu Sans"/>
              </a:rPr>
              <a:t>Metodología Seleccionada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3000"/>
              </a:lnSpc>
              <a:spcBef>
                <a:spcPts val="300"/>
              </a:spcBef>
            </a:pPr>
            <a:r>
              <a:rPr lang="es-ES" sz="950" b="0" u="none" strike="noStrike">
                <a:solidFill>
                  <a:srgbClr val="1A1A1A"/>
                </a:solidFill>
                <a:effectLst/>
                <a:uFillTx/>
                <a:latin typeface="Arial"/>
                <a:ea typeface="DejaVu Sans"/>
              </a:rPr>
              <a:t>Ciclo de Vida de Llorens Fábregas (II) – modelo Cascada/Secuencial. Metodología que organiza el proyecto por fases, iniciando con la arquitectura de datos antes de pasar al desarrollo del software.</a:t>
            </a:r>
            <a:endParaRPr lang="es-E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Rectangle 12"/>
          <p:cNvSpPr/>
          <p:nvPr/>
        </p:nvSpPr>
        <p:spPr>
          <a:xfrm>
            <a:off x="279720" y="2157840"/>
            <a:ext cx="502200" cy="24840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9440" rIns="90000" bIns="-1944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8" name="TextBox 13"/>
          <p:cNvSpPr/>
          <p:nvPr/>
        </p:nvSpPr>
        <p:spPr>
          <a:xfrm>
            <a:off x="407880" y="2266920"/>
            <a:ext cx="3949560" cy="103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3000"/>
              </a:lnSpc>
            </a:pPr>
            <a:r>
              <a:rPr lang="es-ES" sz="1100" b="1" u="none" strike="noStrike">
                <a:solidFill>
                  <a:srgbClr val="1F3864"/>
                </a:solidFill>
                <a:effectLst/>
                <a:uFillTx/>
                <a:latin typeface="Arial"/>
                <a:ea typeface="DejaVu Sans"/>
              </a:rPr>
              <a:t>Problema Actual en el Abasto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3000"/>
              </a:lnSpc>
              <a:spcBef>
                <a:spcPts val="300"/>
              </a:spcBef>
            </a:pPr>
            <a:r>
              <a:rPr lang="es-ES" sz="950" b="0" u="none" strike="noStrike">
                <a:solidFill>
                  <a:srgbClr val="1A1A1A"/>
                </a:solidFill>
                <a:effectLst/>
                <a:uFillTx/>
                <a:latin typeface="Arial"/>
                <a:ea typeface="DejaVu Sans"/>
              </a:rPr>
              <a:t>1.  No existe un control de inventario sistemático: las cuentas llevan a mano.</a:t>
            </a:r>
            <a:endParaRPr lang="es-E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3000"/>
              </a:lnSpc>
              <a:spcBef>
                <a:spcPts val="300"/>
              </a:spcBef>
            </a:pPr>
            <a:r>
              <a:rPr lang="es-ES" sz="950" b="0" u="none" strike="noStrike">
                <a:solidFill>
                  <a:srgbClr val="1A1A1A"/>
                </a:solidFill>
                <a:effectLst/>
                <a:uFillTx/>
                <a:latin typeface="Arial"/>
                <a:ea typeface="DejaVu Sans"/>
              </a:rPr>
              <a:t>2.  El cambio de bolívares a dólares se calcula a mano; un error cambia el cobro.</a:t>
            </a:r>
            <a:endParaRPr lang="es-E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3000"/>
              </a:lnSpc>
              <a:spcBef>
                <a:spcPts val="300"/>
              </a:spcBef>
            </a:pPr>
            <a:r>
              <a:rPr lang="es-ES" sz="950" b="0" u="none" strike="noStrike">
                <a:solidFill>
                  <a:srgbClr val="1A1A1A"/>
                </a:solidFill>
                <a:effectLst/>
                <a:uFillTx/>
                <a:latin typeface="Arial"/>
                <a:ea typeface="DejaVu Sans"/>
              </a:rPr>
              <a:t>3.  No hay forma de auditar ni controlar el total de las ventas diarias.</a:t>
            </a:r>
            <a:endParaRPr lang="es-E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Rectangle 14"/>
          <p:cNvSpPr/>
          <p:nvPr/>
        </p:nvSpPr>
        <p:spPr>
          <a:xfrm>
            <a:off x="279720" y="3493080"/>
            <a:ext cx="502200" cy="24840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9440" rIns="90000" bIns="-1944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60" name="TextBox 15"/>
          <p:cNvSpPr/>
          <p:nvPr/>
        </p:nvSpPr>
        <p:spPr>
          <a:xfrm>
            <a:off x="407880" y="3601800"/>
            <a:ext cx="3949560" cy="85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3000"/>
              </a:lnSpc>
            </a:pPr>
            <a:r>
              <a:rPr lang="es-ES" sz="1100" b="1" u="none" strike="noStrike">
                <a:solidFill>
                  <a:srgbClr val="1F3864"/>
                </a:solidFill>
                <a:effectLst/>
                <a:uFillTx/>
                <a:latin typeface="Arial"/>
                <a:ea typeface="DejaVu Sans"/>
              </a:rPr>
              <a:t>Ventajas y Desventajas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3000"/>
              </a:lnSpc>
              <a:spcBef>
                <a:spcPts val="300"/>
              </a:spcBef>
            </a:pPr>
            <a:r>
              <a:rPr lang="es-ES" sz="950" b="0" u="none" strike="noStrike">
                <a:solidFill>
                  <a:srgbClr val="1F3864"/>
                </a:solidFill>
                <a:effectLst/>
                <a:uFillTx/>
                <a:latin typeface="Arial"/>
                <a:ea typeface="DejaVu Sans"/>
              </a:rPr>
              <a:t>1.  Gestión ordenada por fases secuenciales y requisitos estables.</a:t>
            </a:r>
            <a:endParaRPr lang="es-E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3000"/>
              </a:lnSpc>
              <a:spcBef>
                <a:spcPts val="201"/>
              </a:spcBef>
            </a:pPr>
            <a:r>
              <a:rPr lang="es-ES" sz="950" b="0" u="none" strike="noStrike">
                <a:solidFill>
                  <a:srgbClr val="1F3864"/>
                </a:solidFill>
                <a:effectLst/>
                <a:uFillTx/>
                <a:latin typeface="Arial"/>
                <a:ea typeface="DejaVu Sans"/>
              </a:rPr>
              <a:t>2.  Énfasis en diseño de BD para evitar fallas a largo plazo.</a:t>
            </a:r>
            <a:endParaRPr lang="es-E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3000"/>
              </a:lnSpc>
              <a:spcBef>
                <a:spcPts val="201"/>
              </a:spcBef>
            </a:pPr>
            <a:r>
              <a:rPr lang="es-ES" sz="950" b="0" u="none" strike="noStrike">
                <a:solidFill>
                  <a:srgbClr val="595959"/>
                </a:solidFill>
                <a:effectLst/>
                <a:uFillTx/>
                <a:latin typeface="Arial"/>
                <a:ea typeface="DejaVu Sans"/>
              </a:rPr>
              <a:t>3.  El cliente ve resultados tarde; el plan de pruebas previo al despliegue (530 pruebas) cubre ese hueco.</a:t>
            </a:r>
            <a:endParaRPr lang="es-E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Rectangle 16"/>
          <p:cNvSpPr/>
          <p:nvPr/>
        </p:nvSpPr>
        <p:spPr>
          <a:xfrm>
            <a:off x="4678200" y="1078920"/>
            <a:ext cx="502200" cy="24840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9440" rIns="90000" bIns="-1944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62" name="TextBox 17"/>
          <p:cNvSpPr/>
          <p:nvPr/>
        </p:nvSpPr>
        <p:spPr>
          <a:xfrm>
            <a:off x="4806000" y="1187640"/>
            <a:ext cx="3929400" cy="360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3000"/>
              </a:lnSpc>
            </a:pPr>
            <a:r>
              <a:rPr lang="es-ES" sz="1100" b="1" u="none" strike="noStrike">
                <a:solidFill>
                  <a:srgbClr val="1F3864"/>
                </a:solidFill>
                <a:effectLst/>
                <a:uFillTx/>
                <a:latin typeface="Arial"/>
                <a:ea typeface="DejaVu Sans"/>
              </a:rPr>
              <a:t>Fases del Ciclo de Vida Aplicadas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3000"/>
              </a:lnSpc>
              <a:spcBef>
                <a:spcPts val="601"/>
              </a:spcBef>
            </a:pPr>
            <a:r>
              <a:rPr lang="es-ES" sz="980" b="1" u="none" strike="noStrike">
                <a:solidFill>
                  <a:srgbClr val="1A1A1A"/>
                </a:solidFill>
                <a:effectLst/>
                <a:uFillTx/>
                <a:latin typeface="Arial"/>
                <a:ea typeface="DejaVu Sans"/>
              </a:rPr>
              <a:t>1. Requisitos</a:t>
            </a:r>
            <a:endParaRPr lang="es-E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3000"/>
              </a:lnSpc>
            </a:pPr>
            <a:r>
              <a:rPr lang="es-ES" sz="950" b="0" u="none" strike="noStrike">
                <a:solidFill>
                  <a:srgbClr val="1A1A1A"/>
                </a:solidFill>
                <a:effectLst/>
                <a:uFillTx/>
                <a:latin typeface="Arial"/>
                <a:ea typeface="DejaVu Sans"/>
              </a:rPr>
              <a:t>Definición de necesidades: registro diario de ventas, alertas de stock bajo y cálculo bimonetario con la tasa del día.</a:t>
            </a:r>
            <a:endParaRPr lang="es-E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3000"/>
              </a:lnSpc>
              <a:spcBef>
                <a:spcPts val="300"/>
              </a:spcBef>
            </a:pPr>
            <a:r>
              <a:rPr lang="es-ES" sz="980" b="1" u="none" strike="noStrike">
                <a:solidFill>
                  <a:srgbClr val="1A1A1A"/>
                </a:solidFill>
                <a:effectLst/>
                <a:uFillTx/>
                <a:latin typeface="Arial"/>
                <a:ea typeface="DejaVu Sans"/>
              </a:rPr>
              <a:t>2. Análisis y Diseño</a:t>
            </a:r>
            <a:endParaRPr lang="es-E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3000"/>
              </a:lnSpc>
            </a:pPr>
            <a:r>
              <a:rPr lang="es-ES" sz="950" b="0" u="none" strike="noStrike">
                <a:solidFill>
                  <a:srgbClr val="1A1A1A"/>
                </a:solidFill>
                <a:effectLst/>
                <a:uFillTx/>
                <a:latin typeface="Arial"/>
                <a:ea typeface="DejaVu Sans"/>
              </a:rPr>
              <a:t>Migración de los procesos manuales del abasto a un menú interactivo: CRUD de productos, facturación, tasa y reportes.</a:t>
            </a:r>
            <a:endParaRPr lang="es-E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3000"/>
              </a:lnSpc>
              <a:spcBef>
                <a:spcPts val="300"/>
              </a:spcBef>
            </a:pPr>
            <a:r>
              <a:rPr lang="es-ES" sz="980" b="1" u="none" strike="noStrike">
                <a:solidFill>
                  <a:srgbClr val="1A1A1A"/>
                </a:solidFill>
                <a:effectLst/>
                <a:uFillTx/>
                <a:latin typeface="Arial"/>
                <a:ea typeface="DejaVu Sans"/>
              </a:rPr>
              <a:t>3. Construcción</a:t>
            </a:r>
            <a:endParaRPr lang="es-E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3000"/>
              </a:lnSpc>
            </a:pPr>
            <a:r>
              <a:rPr lang="es-ES" sz="950" b="0" u="none" strike="noStrike">
                <a:solidFill>
                  <a:srgbClr val="1A1A1A"/>
                </a:solidFill>
                <a:effectLst/>
                <a:uFillTx/>
                <a:latin typeface="Arial"/>
                <a:ea typeface="DejaVu Sans"/>
              </a:rPr>
              <a:t>Creación del esquema relacional en SQLite, la base de datos de archivo único, y codificación de las interfaces en PyQt6.</a:t>
            </a:r>
            <a:endParaRPr lang="es-E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3000"/>
              </a:lnSpc>
              <a:spcBef>
                <a:spcPts val="300"/>
              </a:spcBef>
            </a:pPr>
            <a:r>
              <a:rPr lang="es-ES" sz="980" b="1" u="none" strike="noStrike">
                <a:solidFill>
                  <a:srgbClr val="1A1A1A"/>
                </a:solidFill>
                <a:effectLst/>
                <a:uFillTx/>
                <a:latin typeface="Arial"/>
                <a:ea typeface="DejaVu Sans"/>
              </a:rPr>
              <a:t>4. Pruebas y Mantenimiento</a:t>
            </a:r>
            <a:endParaRPr lang="es-E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3000"/>
              </a:lnSpc>
            </a:pPr>
            <a:r>
              <a:rPr lang="es-ES" sz="950" b="0" u="none" strike="noStrike">
                <a:solidFill>
                  <a:srgbClr val="1A1A1A"/>
                </a:solidFill>
                <a:effectLst/>
                <a:uFillTx/>
                <a:latin typeface="Arial"/>
                <a:ea typeface="DejaVu Sans"/>
              </a:rPr>
              <a:t>Verificación de la conversión de monedas y del registro de ventas, y monitoreo continuo en el local.</a:t>
            </a:r>
            <a:endParaRPr lang="es-E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1"/>
          <p:cNvSpPr/>
          <p:nvPr/>
        </p:nvSpPr>
        <p:spPr>
          <a:xfrm>
            <a:off x="0" y="0"/>
            <a:ext cx="9143280" cy="5324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64" name="Picture 2" descr="escudo.png"/>
          <p:cNvPicPr/>
          <p:nvPr/>
        </p:nvPicPr>
        <p:blipFill>
          <a:blip r:embed="rId1"/>
          <a:stretch/>
        </p:blipFill>
        <p:spPr>
          <a:xfrm>
            <a:off x="152640" y="88560"/>
            <a:ext cx="354960" cy="354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" name="TextBox 3"/>
          <p:cNvSpPr/>
          <p:nvPr/>
        </p:nvSpPr>
        <p:spPr>
          <a:xfrm>
            <a:off x="634680" y="147240"/>
            <a:ext cx="27424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s-ES" sz="1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PROYECTO FINAL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4"/>
          <p:cNvSpPr/>
          <p:nvPr/>
        </p:nvSpPr>
        <p:spPr>
          <a:xfrm>
            <a:off x="7863840" y="194760"/>
            <a:ext cx="1123920" cy="14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>
              <a:lnSpc>
                <a:spcPct val="100000"/>
              </a:lnSpc>
            </a:pPr>
            <a:r>
              <a:rPr lang="es-ES" sz="1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5/31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Rectangle 5"/>
          <p:cNvSpPr/>
          <p:nvPr/>
        </p:nvSpPr>
        <p:spPr>
          <a:xfrm>
            <a:off x="0" y="533160"/>
            <a:ext cx="9143280" cy="354960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6"/>
          <p:cNvSpPr/>
          <p:nvPr/>
        </p:nvSpPr>
        <p:spPr>
          <a:xfrm>
            <a:off x="190080" y="610920"/>
            <a:ext cx="822888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s-ES" sz="13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TECNOLOGÍAS Y HERRAMIENTAS DE DESARROLLO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Rectangle 7"/>
          <p:cNvSpPr/>
          <p:nvPr/>
        </p:nvSpPr>
        <p:spPr>
          <a:xfrm>
            <a:off x="0" y="4966200"/>
            <a:ext cx="9143280" cy="10080"/>
          </a:xfrm>
          <a:prstGeom prst="rect">
            <a:avLst/>
          </a:prstGeom>
          <a:solidFill>
            <a:srgbClr val="B4C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8"/>
          <p:cNvSpPr/>
          <p:nvPr/>
        </p:nvSpPr>
        <p:spPr>
          <a:xfrm>
            <a:off x="152640" y="5007240"/>
            <a:ext cx="4571280" cy="9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s-ES" sz="700" b="0" u="none" strike="noStrike">
                <a:solidFill>
                  <a:srgbClr val="595959"/>
                </a:solidFill>
                <a:effectLst/>
                <a:uFillTx/>
                <a:latin typeface="Arial"/>
                <a:ea typeface="DejaVu Sans"/>
              </a:rPr>
              <a:t>Gestor de Ventas e Inventario</a:t>
            </a:r>
            <a:endParaRPr lang="es-E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9"/>
          <p:cNvSpPr/>
          <p:nvPr/>
        </p:nvSpPr>
        <p:spPr>
          <a:xfrm>
            <a:off x="5943600" y="5007240"/>
            <a:ext cx="3047040" cy="9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>
              <a:lnSpc>
                <a:spcPct val="100000"/>
              </a:lnSpc>
            </a:pPr>
            <a:r>
              <a:rPr lang="es-ES" sz="700" b="0" u="none" strike="noStrike">
                <a:solidFill>
                  <a:srgbClr val="595959"/>
                </a:solidFill>
                <a:effectLst/>
                <a:uFillTx/>
                <a:latin typeface="Arial"/>
                <a:ea typeface="DejaVu Sans"/>
              </a:rPr>
              <a:t>Hernández, Edelyn - CI: 28109107</a:t>
            </a:r>
            <a:endParaRPr lang="es-E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Rectangle 10"/>
          <p:cNvSpPr/>
          <p:nvPr/>
        </p:nvSpPr>
        <p:spPr>
          <a:xfrm>
            <a:off x="279720" y="1078920"/>
            <a:ext cx="502200" cy="24840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9440" rIns="90000" bIns="-1944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11"/>
          <p:cNvSpPr/>
          <p:nvPr/>
        </p:nvSpPr>
        <p:spPr>
          <a:xfrm>
            <a:off x="407880" y="1187640"/>
            <a:ext cx="3949560" cy="50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3000"/>
              </a:lnSpc>
            </a:pPr>
            <a:r>
              <a:rPr lang="es-ES" sz="1100" b="1" u="none" strike="noStrike">
                <a:solidFill>
                  <a:srgbClr val="1F3864"/>
                </a:solidFill>
                <a:effectLst/>
                <a:uFillTx/>
                <a:latin typeface="Arial"/>
                <a:ea typeface="DejaVu Sans"/>
              </a:rPr>
              <a:t>Lenguaje y Framework de Interfaz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3000"/>
              </a:lnSpc>
              <a:spcBef>
                <a:spcPts val="300"/>
              </a:spcBef>
            </a:pPr>
            <a:r>
              <a:rPr lang="es-ES" sz="950" b="0" u="none" strike="noStrike">
                <a:solidFill>
                  <a:srgbClr val="1A1A1A"/>
                </a:solidFill>
                <a:effectLst/>
                <a:uFillTx/>
                <a:latin typeface="Arial"/>
                <a:ea typeface="DejaVu Sans"/>
              </a:rPr>
              <a:t>Python &gt;= 3.14 y PyQt6 &gt;= 6.11: tipado estático, controles de escritorio reactivos, layouts dinámicos y señal/slot.</a:t>
            </a:r>
            <a:endParaRPr lang="es-E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Rectangle 12"/>
          <p:cNvSpPr/>
          <p:nvPr/>
        </p:nvSpPr>
        <p:spPr>
          <a:xfrm>
            <a:off x="279720" y="2286000"/>
            <a:ext cx="502200" cy="24840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9440" rIns="90000" bIns="-1944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13"/>
          <p:cNvSpPr/>
          <p:nvPr/>
        </p:nvSpPr>
        <p:spPr>
          <a:xfrm>
            <a:off x="407880" y="2394720"/>
            <a:ext cx="3949560" cy="10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3000"/>
              </a:lnSpc>
            </a:pPr>
            <a:r>
              <a:rPr lang="es-ES" sz="1100" b="1" u="none" strike="noStrike">
                <a:solidFill>
                  <a:srgbClr val="1F3864"/>
                </a:solidFill>
                <a:effectLst/>
                <a:uFillTx/>
                <a:latin typeface="Arial"/>
                <a:ea typeface="DejaVu Sans"/>
              </a:rPr>
              <a:t>Base de Datos y Persistencia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3000"/>
              </a:lnSpc>
              <a:spcBef>
                <a:spcPts val="300"/>
              </a:spcBef>
            </a:pPr>
            <a:r>
              <a:rPr lang="es-ES" sz="950" b="0" u="none" strike="noStrike">
                <a:solidFill>
                  <a:srgbClr val="1A1A1A"/>
                </a:solidFill>
                <a:effectLst/>
                <a:uFillTx/>
                <a:latin typeface="Arial"/>
                <a:ea typeface="DejaVu Sans"/>
              </a:rPr>
              <a:t>SQLite: base de datos relacional ligera, embebida y de archivo único; no requiere administración de servidores externos.</a:t>
            </a:r>
            <a:endParaRPr lang="es-E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3000"/>
              </a:lnSpc>
              <a:spcBef>
                <a:spcPts val="300"/>
              </a:spcBef>
            </a:pPr>
            <a:r>
              <a:rPr lang="es-ES" sz="950" b="0" u="none" strike="noStrike">
                <a:solidFill>
                  <a:srgbClr val="1A1A1A"/>
                </a:solidFill>
                <a:effectLst/>
                <a:uFillTx/>
                <a:latin typeface="Arial"/>
                <a:ea typeface="DejaVu Sans"/>
              </a:rPr>
              <a:t>SQLModel &gt;= 0.0.38: ORM híbrido (Pydantic + SQLAlchemy) que unifica el tipado de Python con el esquema de tablas.</a:t>
            </a:r>
            <a:endParaRPr lang="es-E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Rectangle 14"/>
          <p:cNvSpPr/>
          <p:nvPr/>
        </p:nvSpPr>
        <p:spPr>
          <a:xfrm>
            <a:off x="279720" y="3639240"/>
            <a:ext cx="502200" cy="24840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9440" rIns="90000" bIns="-1944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15"/>
          <p:cNvSpPr/>
          <p:nvPr/>
        </p:nvSpPr>
        <p:spPr>
          <a:xfrm>
            <a:off x="407880" y="3747960"/>
            <a:ext cx="394956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3000"/>
              </a:lnSpc>
            </a:pPr>
            <a:r>
              <a:rPr lang="es-ES" sz="1100" b="1" u="none" strike="noStrike">
                <a:solidFill>
                  <a:srgbClr val="1F3864"/>
                </a:solidFill>
                <a:effectLst/>
                <a:uFillTx/>
                <a:latin typeface="Arial"/>
                <a:ea typeface="DejaVu Sans"/>
              </a:rPr>
              <a:t>Migraciones y Calidad de Código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3000"/>
              </a:lnSpc>
              <a:spcBef>
                <a:spcPts val="300"/>
              </a:spcBef>
            </a:pPr>
            <a:r>
              <a:rPr lang="es-ES" sz="950" b="0" u="none" strike="noStrike">
                <a:solidFill>
                  <a:srgbClr val="1A1A1A"/>
                </a:solidFill>
                <a:effectLst/>
                <a:uFillTx/>
                <a:latin typeface="Arial"/>
                <a:ea typeface="DejaVu Sans"/>
              </a:rPr>
              <a:t>Alembic &gt;= 1.18.4: migraciones controladas del esquema SQLite.</a:t>
            </a:r>
            <a:endParaRPr lang="es-E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3000"/>
              </a:lnSpc>
              <a:spcBef>
                <a:spcPts val="300"/>
              </a:spcBef>
            </a:pPr>
            <a:endParaRPr lang="es-E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Rectangle 16"/>
          <p:cNvSpPr/>
          <p:nvPr/>
        </p:nvSpPr>
        <p:spPr>
          <a:xfrm>
            <a:off x="4678200" y="1078920"/>
            <a:ext cx="502200" cy="24840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9440" rIns="90000" bIns="-1944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17"/>
          <p:cNvSpPr/>
          <p:nvPr/>
        </p:nvSpPr>
        <p:spPr>
          <a:xfrm>
            <a:off x="4806000" y="1187640"/>
            <a:ext cx="3929400" cy="10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3000"/>
              </a:lnSpc>
            </a:pPr>
            <a:r>
              <a:rPr lang="es-ES" sz="1100" b="1" u="none" strike="noStrike">
                <a:solidFill>
                  <a:srgbClr val="1F3864"/>
                </a:solidFill>
                <a:effectLst/>
                <a:uFillTx/>
                <a:latin typeface="Arial"/>
                <a:ea typeface="DejaVu Sans"/>
              </a:rPr>
              <a:t>Herramientas de Apoyo e Integración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3000"/>
              </a:lnSpc>
              <a:spcBef>
                <a:spcPts val="300"/>
              </a:spcBef>
            </a:pPr>
            <a:r>
              <a:rPr lang="es-ES" sz="950" b="0" u="none" strike="noStrike">
                <a:solidFill>
                  <a:srgbClr val="1F3864"/>
                </a:solidFill>
                <a:effectLst/>
                <a:uFillTx/>
                <a:latin typeface="Arial"/>
                <a:ea typeface="DejaVu Sans"/>
              </a:rPr>
              <a:t>1.  scraper-bcv &gt;= 0.1.1: consulta de la tasa BCV del día en tiempo real.</a:t>
            </a:r>
            <a:endParaRPr lang="es-E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3000"/>
              </a:lnSpc>
              <a:spcBef>
                <a:spcPts val="201"/>
              </a:spcBef>
            </a:pPr>
            <a:r>
              <a:rPr lang="es-ES" sz="950" b="0" u="none" strike="noStrike">
                <a:solidFill>
                  <a:srgbClr val="1F3864"/>
                </a:solidFill>
                <a:effectLst/>
                <a:uFillTx/>
                <a:latin typeface="Arial"/>
                <a:ea typeface="DejaVu Sans"/>
              </a:rPr>
              <a:t>2.  bcrypt &gt;= 5.0:  segura de las claves de usuario.</a:t>
            </a:r>
            <a:endParaRPr lang="es-E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3000"/>
              </a:lnSpc>
              <a:spcBef>
                <a:spcPts val="201"/>
              </a:spcBef>
            </a:pPr>
            <a:r>
              <a:rPr lang="es-ES" sz="950" b="0" u="none" strike="noStrike">
                <a:solidFill>
                  <a:srgbClr val="1F3864"/>
                </a:solidFill>
                <a:effectLst/>
                <a:uFillTx/>
                <a:latin typeface="Arial"/>
                <a:ea typeface="DejaVu Sans"/>
              </a:rPr>
              <a:t>3.  openpyxl &gt;= 3.1.5: generación de informes en Excel.</a:t>
            </a:r>
            <a:endParaRPr lang="es-E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3000"/>
              </a:lnSpc>
              <a:spcBef>
                <a:spcPts val="201"/>
              </a:spcBef>
            </a:pPr>
            <a:r>
              <a:rPr lang="es-ES" sz="950" b="0" u="none" strike="noStrike">
                <a:solidFill>
                  <a:srgbClr val="1F3864"/>
                </a:solidFill>
                <a:effectLst/>
                <a:uFillTx/>
                <a:latin typeface="Arial"/>
                <a:ea typeface="DejaVu Sans"/>
              </a:rPr>
              <a:t>4.  fpdf2 &gt;= 2.8.7: reportes en PDF.</a:t>
            </a:r>
            <a:endParaRPr lang="es-E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3000"/>
              </a:lnSpc>
              <a:spcBef>
                <a:spcPts val="201"/>
              </a:spcBef>
            </a:pPr>
            <a:endParaRPr lang="es-E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19"/>
          <p:cNvSpPr/>
          <p:nvPr/>
        </p:nvSpPr>
        <p:spPr>
          <a:xfrm>
            <a:off x="4806000" y="3181320"/>
            <a:ext cx="3929400" cy="16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/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 1"/>
          <p:cNvSpPr/>
          <p:nvPr/>
        </p:nvSpPr>
        <p:spPr>
          <a:xfrm>
            <a:off x="0" y="0"/>
            <a:ext cx="9143280" cy="5324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82" name="Picture 2" descr="escudo.png"/>
          <p:cNvPicPr/>
          <p:nvPr/>
        </p:nvPicPr>
        <p:blipFill>
          <a:blip r:embed="rId1"/>
          <a:stretch/>
        </p:blipFill>
        <p:spPr>
          <a:xfrm>
            <a:off x="152640" y="88560"/>
            <a:ext cx="354960" cy="354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" name="TextBox 3"/>
          <p:cNvSpPr/>
          <p:nvPr/>
        </p:nvSpPr>
        <p:spPr>
          <a:xfrm>
            <a:off x="634680" y="147240"/>
            <a:ext cx="27424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s-ES" sz="1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PROYECTO FINAL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4"/>
          <p:cNvSpPr/>
          <p:nvPr/>
        </p:nvSpPr>
        <p:spPr>
          <a:xfrm>
            <a:off x="7863840" y="194760"/>
            <a:ext cx="1123920" cy="14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>
              <a:lnSpc>
                <a:spcPct val="100000"/>
              </a:lnSpc>
            </a:pPr>
            <a:r>
              <a:rPr lang="es-ES" sz="1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6/31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Rectangle 5"/>
          <p:cNvSpPr/>
          <p:nvPr/>
        </p:nvSpPr>
        <p:spPr>
          <a:xfrm>
            <a:off x="0" y="533160"/>
            <a:ext cx="9143280" cy="354960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6"/>
          <p:cNvSpPr/>
          <p:nvPr/>
        </p:nvSpPr>
        <p:spPr>
          <a:xfrm>
            <a:off x="190080" y="610920"/>
            <a:ext cx="822888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s-ES" sz="13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DIAGRAMA DE FLUJO DE DATOS – DFD: Nivel 0 (Contexto)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Rectangle 7"/>
          <p:cNvSpPr/>
          <p:nvPr/>
        </p:nvSpPr>
        <p:spPr>
          <a:xfrm>
            <a:off x="0" y="4966200"/>
            <a:ext cx="9143280" cy="10080"/>
          </a:xfrm>
          <a:prstGeom prst="rect">
            <a:avLst/>
          </a:prstGeom>
          <a:solidFill>
            <a:srgbClr val="B4C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8"/>
          <p:cNvSpPr/>
          <p:nvPr/>
        </p:nvSpPr>
        <p:spPr>
          <a:xfrm>
            <a:off x="152640" y="5007240"/>
            <a:ext cx="4571280" cy="9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s-ES" sz="700" b="0" u="none" strike="noStrike">
                <a:solidFill>
                  <a:srgbClr val="595959"/>
                </a:solidFill>
                <a:effectLst/>
                <a:uFillTx/>
                <a:latin typeface="Arial"/>
                <a:ea typeface="DejaVu Sans"/>
              </a:rPr>
              <a:t>Gestor de Ventas e Inventario</a:t>
            </a:r>
            <a:endParaRPr lang="es-E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9"/>
          <p:cNvSpPr/>
          <p:nvPr/>
        </p:nvSpPr>
        <p:spPr>
          <a:xfrm>
            <a:off x="5943600" y="5007240"/>
            <a:ext cx="3047040" cy="9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>
              <a:lnSpc>
                <a:spcPct val="100000"/>
              </a:lnSpc>
            </a:pPr>
            <a:r>
              <a:rPr lang="es-ES" sz="700" b="0" u="none" strike="noStrike">
                <a:solidFill>
                  <a:srgbClr val="595959"/>
                </a:solidFill>
                <a:effectLst/>
                <a:uFillTx/>
                <a:latin typeface="Arial"/>
                <a:ea typeface="DejaVu Sans"/>
              </a:rPr>
              <a:t>Hernández, Edelyn - CI: 28109107</a:t>
            </a:r>
            <a:endParaRPr lang="es-E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0" name="Picture 10" descr="n0_contexto.png"/>
          <p:cNvPicPr/>
          <p:nvPr/>
        </p:nvPicPr>
        <p:blipFill>
          <a:blip r:embed="rId2"/>
          <a:stretch/>
        </p:blipFill>
        <p:spPr>
          <a:xfrm>
            <a:off x="2602080" y="1024200"/>
            <a:ext cx="3939480" cy="3858120"/>
          </a:xfrm>
          <a:prstGeom prst="rect">
            <a:avLst/>
          </a:prstGeom>
          <a:noFill/>
          <a:ln w="9525">
            <a:solidFill>
              <a:srgbClr val="B4C7E7"/>
            </a:solidFill>
            <a:round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ctangle 1"/>
          <p:cNvSpPr/>
          <p:nvPr/>
        </p:nvSpPr>
        <p:spPr>
          <a:xfrm>
            <a:off x="0" y="0"/>
            <a:ext cx="9143280" cy="5324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92" name="Picture 2" descr="escudo.png"/>
          <p:cNvPicPr/>
          <p:nvPr/>
        </p:nvPicPr>
        <p:blipFill>
          <a:blip r:embed="rId1"/>
          <a:stretch/>
        </p:blipFill>
        <p:spPr>
          <a:xfrm>
            <a:off x="152640" y="88560"/>
            <a:ext cx="354960" cy="354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" name="TextBox 3"/>
          <p:cNvSpPr/>
          <p:nvPr/>
        </p:nvSpPr>
        <p:spPr>
          <a:xfrm>
            <a:off x="634680" y="147240"/>
            <a:ext cx="27424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s-ES" sz="1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PROYECTO FINAL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Box 4"/>
          <p:cNvSpPr/>
          <p:nvPr/>
        </p:nvSpPr>
        <p:spPr>
          <a:xfrm>
            <a:off x="7863840" y="194760"/>
            <a:ext cx="1123920" cy="14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>
              <a:lnSpc>
                <a:spcPct val="100000"/>
              </a:lnSpc>
            </a:pPr>
            <a:r>
              <a:rPr lang="es-ES" sz="1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7/31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Rectangle 5"/>
          <p:cNvSpPr/>
          <p:nvPr/>
        </p:nvSpPr>
        <p:spPr>
          <a:xfrm>
            <a:off x="0" y="533160"/>
            <a:ext cx="9143280" cy="354960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6"/>
          <p:cNvSpPr/>
          <p:nvPr/>
        </p:nvSpPr>
        <p:spPr>
          <a:xfrm>
            <a:off x="190080" y="610920"/>
            <a:ext cx="822888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s-ES" sz="13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DIAGRAMA DE FLUJO DE DATOS – DFD: Nivel 1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Rectangle 7"/>
          <p:cNvSpPr/>
          <p:nvPr/>
        </p:nvSpPr>
        <p:spPr>
          <a:xfrm>
            <a:off x="0" y="4966200"/>
            <a:ext cx="9143280" cy="10080"/>
          </a:xfrm>
          <a:prstGeom prst="rect">
            <a:avLst/>
          </a:prstGeom>
          <a:solidFill>
            <a:srgbClr val="B4C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98" name="TextBox 8"/>
          <p:cNvSpPr/>
          <p:nvPr/>
        </p:nvSpPr>
        <p:spPr>
          <a:xfrm>
            <a:off x="152640" y="5007240"/>
            <a:ext cx="4571280" cy="9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s-ES" sz="700" b="0" u="none" strike="noStrike">
                <a:solidFill>
                  <a:srgbClr val="595959"/>
                </a:solidFill>
                <a:effectLst/>
                <a:uFillTx/>
                <a:latin typeface="Arial"/>
                <a:ea typeface="DejaVu Sans"/>
              </a:rPr>
              <a:t>Gestor de Ventas e Inventario</a:t>
            </a:r>
            <a:endParaRPr lang="es-E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Box 9"/>
          <p:cNvSpPr/>
          <p:nvPr/>
        </p:nvSpPr>
        <p:spPr>
          <a:xfrm>
            <a:off x="5943600" y="5007240"/>
            <a:ext cx="3047040" cy="9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>
              <a:lnSpc>
                <a:spcPct val="100000"/>
              </a:lnSpc>
            </a:pPr>
            <a:r>
              <a:rPr lang="es-ES" sz="700" b="0" u="none" strike="noStrike">
                <a:solidFill>
                  <a:srgbClr val="595959"/>
                </a:solidFill>
                <a:effectLst/>
                <a:uFillTx/>
                <a:latin typeface="Arial"/>
                <a:ea typeface="DejaVu Sans"/>
              </a:rPr>
              <a:t>Hernández, Edelyn - CI: 28109107</a:t>
            </a:r>
            <a:endParaRPr lang="es-E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0" name="Picture 10" descr="n1.png"/>
          <p:cNvPicPr/>
          <p:nvPr/>
        </p:nvPicPr>
        <p:blipFill>
          <a:blip r:embed="rId2"/>
          <a:stretch/>
        </p:blipFill>
        <p:spPr>
          <a:xfrm>
            <a:off x="279720" y="1560240"/>
            <a:ext cx="8583840" cy="2785680"/>
          </a:xfrm>
          <a:prstGeom prst="rect">
            <a:avLst/>
          </a:prstGeom>
          <a:noFill/>
          <a:ln w="9525">
            <a:solidFill>
              <a:srgbClr val="B4C7E7"/>
            </a:solidFill>
            <a:round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"/>
          <p:cNvSpPr/>
          <p:nvPr/>
        </p:nvSpPr>
        <p:spPr>
          <a:xfrm>
            <a:off x="0" y="0"/>
            <a:ext cx="9143280" cy="5324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102" name="Picture 2" descr="escudo.png"/>
          <p:cNvPicPr/>
          <p:nvPr/>
        </p:nvPicPr>
        <p:blipFill>
          <a:blip r:embed="rId1"/>
          <a:stretch/>
        </p:blipFill>
        <p:spPr>
          <a:xfrm>
            <a:off x="152640" y="88560"/>
            <a:ext cx="354960" cy="354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3" name="TextBox 3"/>
          <p:cNvSpPr/>
          <p:nvPr/>
        </p:nvSpPr>
        <p:spPr>
          <a:xfrm>
            <a:off x="634680" y="147240"/>
            <a:ext cx="27424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s-ES" sz="1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PROYECTO FINAL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Box 4"/>
          <p:cNvSpPr/>
          <p:nvPr/>
        </p:nvSpPr>
        <p:spPr>
          <a:xfrm>
            <a:off x="7863840" y="194760"/>
            <a:ext cx="1123920" cy="14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>
              <a:lnSpc>
                <a:spcPct val="100000"/>
              </a:lnSpc>
            </a:pPr>
            <a:r>
              <a:rPr lang="es-ES" sz="1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8/31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Rectangle 5"/>
          <p:cNvSpPr/>
          <p:nvPr/>
        </p:nvSpPr>
        <p:spPr>
          <a:xfrm>
            <a:off x="0" y="533160"/>
            <a:ext cx="9143280" cy="354960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Box 6"/>
          <p:cNvSpPr/>
          <p:nvPr/>
        </p:nvSpPr>
        <p:spPr>
          <a:xfrm>
            <a:off x="190080" y="610920"/>
            <a:ext cx="822888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s-ES" sz="13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DIAGRAMA DE FLUJO DE DATOS – DFD: Nivel 2 (Gestionar Inventario)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Rectangle 7"/>
          <p:cNvSpPr/>
          <p:nvPr/>
        </p:nvSpPr>
        <p:spPr>
          <a:xfrm>
            <a:off x="0" y="4966200"/>
            <a:ext cx="9143280" cy="10080"/>
          </a:xfrm>
          <a:prstGeom prst="rect">
            <a:avLst/>
          </a:prstGeom>
          <a:solidFill>
            <a:srgbClr val="B4C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Box 8"/>
          <p:cNvSpPr/>
          <p:nvPr/>
        </p:nvSpPr>
        <p:spPr>
          <a:xfrm>
            <a:off x="152640" y="5007240"/>
            <a:ext cx="4571280" cy="9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s-ES" sz="700" b="0" u="none" strike="noStrike">
                <a:solidFill>
                  <a:srgbClr val="595959"/>
                </a:solidFill>
                <a:effectLst/>
                <a:uFillTx/>
                <a:latin typeface="Arial"/>
                <a:ea typeface="DejaVu Sans"/>
              </a:rPr>
              <a:t>Gestor de Ventas e Inventario</a:t>
            </a:r>
            <a:endParaRPr lang="es-E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Box 9"/>
          <p:cNvSpPr/>
          <p:nvPr/>
        </p:nvSpPr>
        <p:spPr>
          <a:xfrm>
            <a:off x="5943600" y="5007240"/>
            <a:ext cx="3047040" cy="9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>
              <a:lnSpc>
                <a:spcPct val="100000"/>
              </a:lnSpc>
            </a:pPr>
            <a:r>
              <a:rPr lang="es-ES" sz="700" b="0" u="none" strike="noStrike">
                <a:solidFill>
                  <a:srgbClr val="595959"/>
                </a:solidFill>
                <a:effectLst/>
                <a:uFillTx/>
                <a:latin typeface="Arial"/>
                <a:ea typeface="DejaVu Sans"/>
              </a:rPr>
              <a:t>Hernández, Edelyn - CI: 28109107</a:t>
            </a:r>
            <a:endParaRPr lang="es-E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0" name="Picture 10" descr="n2_1_gestionar_inventario.png"/>
          <p:cNvPicPr/>
          <p:nvPr/>
        </p:nvPicPr>
        <p:blipFill>
          <a:blip r:embed="rId2"/>
          <a:stretch/>
        </p:blipFill>
        <p:spPr>
          <a:xfrm>
            <a:off x="1069920" y="1024200"/>
            <a:ext cx="7003800" cy="3858120"/>
          </a:xfrm>
          <a:prstGeom prst="rect">
            <a:avLst/>
          </a:prstGeom>
          <a:noFill/>
          <a:ln w="9525">
            <a:solidFill>
              <a:srgbClr val="B4C7E7"/>
            </a:solidFill>
            <a:round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Rectangle 1"/>
          <p:cNvSpPr/>
          <p:nvPr/>
        </p:nvSpPr>
        <p:spPr>
          <a:xfrm>
            <a:off x="0" y="0"/>
            <a:ext cx="9143280" cy="5324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112" name="Picture 2" descr="escudo.png"/>
          <p:cNvPicPr/>
          <p:nvPr/>
        </p:nvPicPr>
        <p:blipFill>
          <a:blip r:embed="rId1"/>
          <a:stretch/>
        </p:blipFill>
        <p:spPr>
          <a:xfrm>
            <a:off x="152640" y="88560"/>
            <a:ext cx="354960" cy="354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3" name="TextBox 3"/>
          <p:cNvSpPr/>
          <p:nvPr/>
        </p:nvSpPr>
        <p:spPr>
          <a:xfrm>
            <a:off x="634680" y="147240"/>
            <a:ext cx="27424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s-ES" sz="1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PROYECTO FINAL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Box 4"/>
          <p:cNvSpPr/>
          <p:nvPr/>
        </p:nvSpPr>
        <p:spPr>
          <a:xfrm>
            <a:off x="7863840" y="194760"/>
            <a:ext cx="1123920" cy="14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>
              <a:lnSpc>
                <a:spcPct val="100000"/>
              </a:lnSpc>
            </a:pPr>
            <a:r>
              <a:rPr lang="es-ES" sz="1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9/31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Rectangle 5"/>
          <p:cNvSpPr/>
          <p:nvPr/>
        </p:nvSpPr>
        <p:spPr>
          <a:xfrm>
            <a:off x="0" y="533160"/>
            <a:ext cx="9143280" cy="354960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Box 6"/>
          <p:cNvSpPr/>
          <p:nvPr/>
        </p:nvSpPr>
        <p:spPr>
          <a:xfrm>
            <a:off x="190080" y="610920"/>
            <a:ext cx="822888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s-ES" sz="13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DIAGRAMA DE FLUJO DE DATOS – DFD: Nivel 2 (Procesar Ventas)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Rectangle 7"/>
          <p:cNvSpPr/>
          <p:nvPr/>
        </p:nvSpPr>
        <p:spPr>
          <a:xfrm>
            <a:off x="0" y="4966200"/>
            <a:ext cx="9143280" cy="10080"/>
          </a:xfrm>
          <a:prstGeom prst="rect">
            <a:avLst/>
          </a:prstGeom>
          <a:solidFill>
            <a:srgbClr val="B4C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Box 8"/>
          <p:cNvSpPr/>
          <p:nvPr/>
        </p:nvSpPr>
        <p:spPr>
          <a:xfrm>
            <a:off x="152640" y="5007240"/>
            <a:ext cx="4571280" cy="9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s-ES" sz="700" b="0" u="none" strike="noStrike">
                <a:solidFill>
                  <a:srgbClr val="595959"/>
                </a:solidFill>
                <a:effectLst/>
                <a:uFillTx/>
                <a:latin typeface="Arial"/>
                <a:ea typeface="DejaVu Sans"/>
              </a:rPr>
              <a:t>Gestor de Ventas e Inventario</a:t>
            </a:r>
            <a:endParaRPr lang="es-E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Box 9"/>
          <p:cNvSpPr/>
          <p:nvPr/>
        </p:nvSpPr>
        <p:spPr>
          <a:xfrm>
            <a:off x="5943600" y="5007240"/>
            <a:ext cx="3047040" cy="9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>
              <a:lnSpc>
                <a:spcPct val="100000"/>
              </a:lnSpc>
            </a:pPr>
            <a:r>
              <a:rPr lang="es-ES" sz="700" b="0" u="none" strike="noStrike">
                <a:solidFill>
                  <a:srgbClr val="595959"/>
                </a:solidFill>
                <a:effectLst/>
                <a:uFillTx/>
                <a:latin typeface="Arial"/>
                <a:ea typeface="DejaVu Sans"/>
              </a:rPr>
              <a:t>Hernández, Edelyn - CI: 28109107</a:t>
            </a:r>
            <a:endParaRPr lang="es-E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0" name="Picture 10" descr="n2_2_procesar_ventas.png"/>
          <p:cNvPicPr/>
          <p:nvPr/>
        </p:nvPicPr>
        <p:blipFill>
          <a:blip r:embed="rId2"/>
          <a:stretch/>
        </p:blipFill>
        <p:spPr>
          <a:xfrm>
            <a:off x="279720" y="1837800"/>
            <a:ext cx="8583840" cy="2230560"/>
          </a:xfrm>
          <a:prstGeom prst="rect">
            <a:avLst/>
          </a:prstGeom>
          <a:noFill/>
          <a:ln w="9525">
            <a:solidFill>
              <a:srgbClr val="B4C7E7"/>
            </a:solidFill>
            <a:round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Rectangle 1"/>
          <p:cNvSpPr/>
          <p:nvPr/>
        </p:nvSpPr>
        <p:spPr>
          <a:xfrm>
            <a:off x="0" y="0"/>
            <a:ext cx="9143280" cy="5324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122" name="Picture 2" descr="escudo.png"/>
          <p:cNvPicPr/>
          <p:nvPr/>
        </p:nvPicPr>
        <p:blipFill>
          <a:blip r:embed="rId1"/>
          <a:stretch/>
        </p:blipFill>
        <p:spPr>
          <a:xfrm>
            <a:off x="152640" y="88560"/>
            <a:ext cx="354960" cy="354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3" name="TextBox 3"/>
          <p:cNvSpPr/>
          <p:nvPr/>
        </p:nvSpPr>
        <p:spPr>
          <a:xfrm>
            <a:off x="634680" y="147240"/>
            <a:ext cx="27424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s-ES" sz="1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PROYECTO FINAL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Box 4"/>
          <p:cNvSpPr/>
          <p:nvPr/>
        </p:nvSpPr>
        <p:spPr>
          <a:xfrm>
            <a:off x="7863840" y="194760"/>
            <a:ext cx="1123920" cy="14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>
              <a:lnSpc>
                <a:spcPct val="100000"/>
              </a:lnSpc>
            </a:pPr>
            <a:r>
              <a:rPr lang="es-ES" sz="1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10/31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Rectangle 5"/>
          <p:cNvSpPr/>
          <p:nvPr/>
        </p:nvSpPr>
        <p:spPr>
          <a:xfrm>
            <a:off x="0" y="533160"/>
            <a:ext cx="9143280" cy="354960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Box 6"/>
          <p:cNvSpPr/>
          <p:nvPr/>
        </p:nvSpPr>
        <p:spPr>
          <a:xfrm>
            <a:off x="190080" y="610920"/>
            <a:ext cx="822888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s-ES" sz="13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DIAGRAMA DE FLUJO DE DATOS – DFD: Nivel 2 (Registrar Compras)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Rectangle 7"/>
          <p:cNvSpPr/>
          <p:nvPr/>
        </p:nvSpPr>
        <p:spPr>
          <a:xfrm>
            <a:off x="0" y="4966200"/>
            <a:ext cx="9143280" cy="10080"/>
          </a:xfrm>
          <a:prstGeom prst="rect">
            <a:avLst/>
          </a:prstGeom>
          <a:solidFill>
            <a:srgbClr val="B4C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Box 8"/>
          <p:cNvSpPr/>
          <p:nvPr/>
        </p:nvSpPr>
        <p:spPr>
          <a:xfrm>
            <a:off x="152640" y="5007240"/>
            <a:ext cx="4571280" cy="9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s-ES" sz="700" b="0" u="none" strike="noStrike">
                <a:solidFill>
                  <a:srgbClr val="595959"/>
                </a:solidFill>
                <a:effectLst/>
                <a:uFillTx/>
                <a:latin typeface="Arial"/>
                <a:ea typeface="DejaVu Sans"/>
              </a:rPr>
              <a:t>Gestor de Ventas e Inventario</a:t>
            </a:r>
            <a:endParaRPr lang="es-E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Box 9"/>
          <p:cNvSpPr/>
          <p:nvPr/>
        </p:nvSpPr>
        <p:spPr>
          <a:xfrm>
            <a:off x="5943600" y="5007240"/>
            <a:ext cx="3047040" cy="9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>
              <a:lnSpc>
                <a:spcPct val="100000"/>
              </a:lnSpc>
            </a:pPr>
            <a:r>
              <a:rPr lang="es-ES" sz="700" b="0" u="none" strike="noStrike">
                <a:solidFill>
                  <a:srgbClr val="595959"/>
                </a:solidFill>
                <a:effectLst/>
                <a:uFillTx/>
                <a:latin typeface="Arial"/>
                <a:ea typeface="DejaVu Sans"/>
              </a:rPr>
              <a:t>Hernández, Edelyn - CI: 28109107</a:t>
            </a:r>
            <a:endParaRPr lang="es-E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0" name="Picture 10" descr="n2_3_registrar_compras.png"/>
          <p:cNvPicPr/>
          <p:nvPr/>
        </p:nvPicPr>
        <p:blipFill>
          <a:blip r:embed="rId2"/>
          <a:stretch/>
        </p:blipFill>
        <p:spPr>
          <a:xfrm>
            <a:off x="2216520" y="1024200"/>
            <a:ext cx="4710240" cy="3858120"/>
          </a:xfrm>
          <a:prstGeom prst="rect">
            <a:avLst/>
          </a:prstGeom>
          <a:noFill/>
          <a:ln w="9525">
            <a:solidFill>
              <a:srgbClr val="B4C7E7"/>
            </a:solidFill>
            <a:round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Rectangle 1"/>
          <p:cNvSpPr/>
          <p:nvPr/>
        </p:nvSpPr>
        <p:spPr>
          <a:xfrm>
            <a:off x="0" y="0"/>
            <a:ext cx="9143280" cy="5324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132" name="Picture 2" descr="escudo.png"/>
          <p:cNvPicPr/>
          <p:nvPr/>
        </p:nvPicPr>
        <p:blipFill>
          <a:blip r:embed="rId1"/>
          <a:stretch/>
        </p:blipFill>
        <p:spPr>
          <a:xfrm>
            <a:off x="152640" y="88560"/>
            <a:ext cx="354960" cy="354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3" name="TextBox 3"/>
          <p:cNvSpPr/>
          <p:nvPr/>
        </p:nvSpPr>
        <p:spPr>
          <a:xfrm>
            <a:off x="634680" y="147240"/>
            <a:ext cx="27424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s-ES" sz="1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PROYECTO FINAL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Box 4"/>
          <p:cNvSpPr/>
          <p:nvPr/>
        </p:nvSpPr>
        <p:spPr>
          <a:xfrm>
            <a:off x="7863840" y="194760"/>
            <a:ext cx="1123920" cy="14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>
              <a:lnSpc>
                <a:spcPct val="100000"/>
              </a:lnSpc>
            </a:pPr>
            <a:r>
              <a:rPr lang="es-ES" sz="1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11/31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Rectangle 5"/>
          <p:cNvSpPr/>
          <p:nvPr/>
        </p:nvSpPr>
        <p:spPr>
          <a:xfrm>
            <a:off x="0" y="533160"/>
            <a:ext cx="9143280" cy="354960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Box 6"/>
          <p:cNvSpPr/>
          <p:nvPr/>
        </p:nvSpPr>
        <p:spPr>
          <a:xfrm>
            <a:off x="190080" y="610920"/>
            <a:ext cx="822888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s-ES" sz="13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DIAGRAMA DE FLUJO DE DATOS – DFD: Nivel 2 (Actualizar Tasa BCV)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Rectangle 7"/>
          <p:cNvSpPr/>
          <p:nvPr/>
        </p:nvSpPr>
        <p:spPr>
          <a:xfrm>
            <a:off x="0" y="4966200"/>
            <a:ext cx="9143280" cy="10080"/>
          </a:xfrm>
          <a:prstGeom prst="rect">
            <a:avLst/>
          </a:prstGeom>
          <a:solidFill>
            <a:srgbClr val="B4C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Box 8"/>
          <p:cNvSpPr/>
          <p:nvPr/>
        </p:nvSpPr>
        <p:spPr>
          <a:xfrm>
            <a:off x="152640" y="5007240"/>
            <a:ext cx="4571280" cy="9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s-ES" sz="700" b="0" u="none" strike="noStrike">
                <a:solidFill>
                  <a:srgbClr val="595959"/>
                </a:solidFill>
                <a:effectLst/>
                <a:uFillTx/>
                <a:latin typeface="Arial"/>
                <a:ea typeface="DejaVu Sans"/>
              </a:rPr>
              <a:t>Gestor de Ventas e Inventario</a:t>
            </a:r>
            <a:endParaRPr lang="es-E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Box 9"/>
          <p:cNvSpPr/>
          <p:nvPr/>
        </p:nvSpPr>
        <p:spPr>
          <a:xfrm>
            <a:off x="5943600" y="5007240"/>
            <a:ext cx="3047040" cy="9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>
              <a:lnSpc>
                <a:spcPct val="100000"/>
              </a:lnSpc>
            </a:pPr>
            <a:r>
              <a:rPr lang="es-ES" sz="700" b="0" u="none" strike="noStrike">
                <a:solidFill>
                  <a:srgbClr val="595959"/>
                </a:solidFill>
                <a:effectLst/>
                <a:uFillTx/>
                <a:latin typeface="Arial"/>
                <a:ea typeface="DejaVu Sans"/>
              </a:rPr>
              <a:t>Hernández, Edelyn - CI: 28109107</a:t>
            </a:r>
            <a:endParaRPr lang="es-E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0" name="Picture 10" descr="n2_4_actualizar_tasa_bcv.png"/>
          <p:cNvPicPr/>
          <p:nvPr/>
        </p:nvPicPr>
        <p:blipFill>
          <a:blip r:embed="rId2"/>
          <a:stretch/>
        </p:blipFill>
        <p:spPr>
          <a:xfrm>
            <a:off x="339840" y="1024200"/>
            <a:ext cx="8463600" cy="3858120"/>
          </a:xfrm>
          <a:prstGeom prst="rect">
            <a:avLst/>
          </a:prstGeom>
          <a:noFill/>
          <a:ln w="9525">
            <a:solidFill>
              <a:srgbClr val="B4C7E7"/>
            </a:solidFill>
            <a:round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Rectangle 1"/>
          <p:cNvSpPr/>
          <p:nvPr/>
        </p:nvSpPr>
        <p:spPr>
          <a:xfrm>
            <a:off x="0" y="0"/>
            <a:ext cx="9143280" cy="5324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142" name="Picture 2" descr="escudo.png"/>
          <p:cNvPicPr/>
          <p:nvPr/>
        </p:nvPicPr>
        <p:blipFill>
          <a:blip r:embed="rId1"/>
          <a:stretch/>
        </p:blipFill>
        <p:spPr>
          <a:xfrm>
            <a:off x="152640" y="88560"/>
            <a:ext cx="354960" cy="354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3" name="TextBox 3"/>
          <p:cNvSpPr/>
          <p:nvPr/>
        </p:nvSpPr>
        <p:spPr>
          <a:xfrm>
            <a:off x="634680" y="147240"/>
            <a:ext cx="27424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s-ES" sz="1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PROYECTO FINAL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Box 4"/>
          <p:cNvSpPr/>
          <p:nvPr/>
        </p:nvSpPr>
        <p:spPr>
          <a:xfrm>
            <a:off x="7863840" y="194760"/>
            <a:ext cx="1123920" cy="14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>
              <a:lnSpc>
                <a:spcPct val="100000"/>
              </a:lnSpc>
            </a:pPr>
            <a:r>
              <a:rPr lang="es-ES" sz="1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12/31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Rectangle 5"/>
          <p:cNvSpPr/>
          <p:nvPr/>
        </p:nvSpPr>
        <p:spPr>
          <a:xfrm>
            <a:off x="0" y="533160"/>
            <a:ext cx="9143280" cy="354960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Box 6"/>
          <p:cNvSpPr/>
          <p:nvPr/>
        </p:nvSpPr>
        <p:spPr>
          <a:xfrm>
            <a:off x="190080" y="610920"/>
            <a:ext cx="822888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s-ES" sz="13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DIAGRAMA DE FLUJO DE DATOS – DFD: Nivel 2 (Generar Reportes)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Rectangle 7"/>
          <p:cNvSpPr/>
          <p:nvPr/>
        </p:nvSpPr>
        <p:spPr>
          <a:xfrm>
            <a:off x="0" y="4966200"/>
            <a:ext cx="9143280" cy="10080"/>
          </a:xfrm>
          <a:prstGeom prst="rect">
            <a:avLst/>
          </a:prstGeom>
          <a:solidFill>
            <a:srgbClr val="B4C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Box 8"/>
          <p:cNvSpPr/>
          <p:nvPr/>
        </p:nvSpPr>
        <p:spPr>
          <a:xfrm>
            <a:off x="152640" y="5007240"/>
            <a:ext cx="4571280" cy="9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s-ES" sz="700" b="0" u="none" strike="noStrike">
                <a:solidFill>
                  <a:srgbClr val="595959"/>
                </a:solidFill>
                <a:effectLst/>
                <a:uFillTx/>
                <a:latin typeface="Arial"/>
                <a:ea typeface="DejaVu Sans"/>
              </a:rPr>
              <a:t>Gestor de Ventas e Inventario</a:t>
            </a:r>
            <a:endParaRPr lang="es-E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Box 9"/>
          <p:cNvSpPr/>
          <p:nvPr/>
        </p:nvSpPr>
        <p:spPr>
          <a:xfrm>
            <a:off x="5943600" y="5007240"/>
            <a:ext cx="3047040" cy="9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>
              <a:lnSpc>
                <a:spcPct val="100000"/>
              </a:lnSpc>
            </a:pPr>
            <a:r>
              <a:rPr lang="es-ES" sz="700" b="0" u="none" strike="noStrike">
                <a:solidFill>
                  <a:srgbClr val="595959"/>
                </a:solidFill>
                <a:effectLst/>
                <a:uFillTx/>
                <a:latin typeface="Arial"/>
                <a:ea typeface="DejaVu Sans"/>
              </a:rPr>
              <a:t>Hernández, Edelyn - CI: 28109107</a:t>
            </a:r>
            <a:endParaRPr lang="es-E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0" name="Picture 10" descr="n2_5_generar_reportes.png"/>
          <p:cNvPicPr/>
          <p:nvPr/>
        </p:nvPicPr>
        <p:blipFill>
          <a:blip r:embed="rId2"/>
          <a:stretch/>
        </p:blipFill>
        <p:spPr>
          <a:xfrm>
            <a:off x="600120" y="1024200"/>
            <a:ext cx="7942680" cy="3858120"/>
          </a:xfrm>
          <a:prstGeom prst="rect">
            <a:avLst/>
          </a:prstGeom>
          <a:noFill/>
          <a:ln w="9525">
            <a:solidFill>
              <a:srgbClr val="B4C7E7"/>
            </a:solidFill>
            <a:round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Rectangle 1"/>
          <p:cNvSpPr/>
          <p:nvPr/>
        </p:nvSpPr>
        <p:spPr>
          <a:xfrm>
            <a:off x="0" y="0"/>
            <a:ext cx="9143280" cy="5324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152" name="Picture 2" descr="escudo.png"/>
          <p:cNvPicPr/>
          <p:nvPr/>
        </p:nvPicPr>
        <p:blipFill>
          <a:blip r:embed="rId1"/>
          <a:stretch/>
        </p:blipFill>
        <p:spPr>
          <a:xfrm>
            <a:off x="152640" y="88560"/>
            <a:ext cx="354960" cy="354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3" name="TextBox 3"/>
          <p:cNvSpPr/>
          <p:nvPr/>
        </p:nvSpPr>
        <p:spPr>
          <a:xfrm>
            <a:off x="634680" y="147240"/>
            <a:ext cx="27424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s-ES" sz="1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PROYECTO FINAL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Box 4"/>
          <p:cNvSpPr/>
          <p:nvPr/>
        </p:nvSpPr>
        <p:spPr>
          <a:xfrm>
            <a:off x="7863840" y="194760"/>
            <a:ext cx="1123920" cy="14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>
              <a:lnSpc>
                <a:spcPct val="100000"/>
              </a:lnSpc>
            </a:pPr>
            <a:r>
              <a:rPr lang="es-ES" sz="1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13/31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Rectangle 5"/>
          <p:cNvSpPr/>
          <p:nvPr/>
        </p:nvSpPr>
        <p:spPr>
          <a:xfrm>
            <a:off x="0" y="533160"/>
            <a:ext cx="9143280" cy="354960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Box 6"/>
          <p:cNvSpPr/>
          <p:nvPr/>
        </p:nvSpPr>
        <p:spPr>
          <a:xfrm>
            <a:off x="190080" y="610920"/>
            <a:ext cx="822888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s-ES" sz="13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DIAGRAMA DE FLUJO DE DATOS – DFD: Nivel 2 (Gestionar Usuarios)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Rectangle 7"/>
          <p:cNvSpPr/>
          <p:nvPr/>
        </p:nvSpPr>
        <p:spPr>
          <a:xfrm>
            <a:off x="0" y="4966200"/>
            <a:ext cx="9143280" cy="10080"/>
          </a:xfrm>
          <a:prstGeom prst="rect">
            <a:avLst/>
          </a:prstGeom>
          <a:solidFill>
            <a:srgbClr val="B4C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Box 8"/>
          <p:cNvSpPr/>
          <p:nvPr/>
        </p:nvSpPr>
        <p:spPr>
          <a:xfrm>
            <a:off x="152640" y="5007240"/>
            <a:ext cx="4571280" cy="9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s-ES" sz="700" b="0" u="none" strike="noStrike">
                <a:solidFill>
                  <a:srgbClr val="595959"/>
                </a:solidFill>
                <a:effectLst/>
                <a:uFillTx/>
                <a:latin typeface="Arial"/>
                <a:ea typeface="DejaVu Sans"/>
              </a:rPr>
              <a:t>Gestor de Ventas e Inventario</a:t>
            </a:r>
            <a:endParaRPr lang="es-E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Box 9"/>
          <p:cNvSpPr/>
          <p:nvPr/>
        </p:nvSpPr>
        <p:spPr>
          <a:xfrm>
            <a:off x="5943600" y="5007240"/>
            <a:ext cx="3047040" cy="9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>
              <a:lnSpc>
                <a:spcPct val="100000"/>
              </a:lnSpc>
            </a:pPr>
            <a:r>
              <a:rPr lang="es-ES" sz="700" b="0" u="none" strike="noStrike">
                <a:solidFill>
                  <a:srgbClr val="595959"/>
                </a:solidFill>
                <a:effectLst/>
                <a:uFillTx/>
                <a:latin typeface="Arial"/>
                <a:ea typeface="DejaVu Sans"/>
              </a:rPr>
              <a:t>Hernández, Edelyn - CI: 28109107</a:t>
            </a:r>
            <a:endParaRPr lang="es-E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0" name="Picture 10" descr="n2_6_gestionar_usuarios.png"/>
          <p:cNvPicPr/>
          <p:nvPr/>
        </p:nvPicPr>
        <p:blipFill>
          <a:blip r:embed="rId2"/>
          <a:stretch/>
        </p:blipFill>
        <p:spPr>
          <a:xfrm>
            <a:off x="749880" y="1024200"/>
            <a:ext cx="7643160" cy="3858120"/>
          </a:xfrm>
          <a:prstGeom prst="rect">
            <a:avLst/>
          </a:prstGeom>
          <a:noFill/>
          <a:ln w="9525">
            <a:solidFill>
              <a:srgbClr val="B4C7E7"/>
            </a:solidFill>
            <a:round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Rectangle 1"/>
          <p:cNvSpPr/>
          <p:nvPr/>
        </p:nvSpPr>
        <p:spPr>
          <a:xfrm>
            <a:off x="0" y="0"/>
            <a:ext cx="9143280" cy="5324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162" name="Picture 2" descr="escudo.png"/>
          <p:cNvPicPr/>
          <p:nvPr/>
        </p:nvPicPr>
        <p:blipFill>
          <a:blip r:embed="rId1"/>
          <a:stretch/>
        </p:blipFill>
        <p:spPr>
          <a:xfrm>
            <a:off x="152640" y="88560"/>
            <a:ext cx="354960" cy="354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3" name="TextBox 3"/>
          <p:cNvSpPr/>
          <p:nvPr/>
        </p:nvSpPr>
        <p:spPr>
          <a:xfrm>
            <a:off x="634680" y="147240"/>
            <a:ext cx="27424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s-ES" sz="1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PROYECTO FINAL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Box 4"/>
          <p:cNvSpPr/>
          <p:nvPr/>
        </p:nvSpPr>
        <p:spPr>
          <a:xfrm>
            <a:off x="7863840" y="194760"/>
            <a:ext cx="1123920" cy="14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>
              <a:lnSpc>
                <a:spcPct val="100000"/>
              </a:lnSpc>
            </a:pPr>
            <a:r>
              <a:rPr lang="es-ES" sz="1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14/31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Rectangle 5"/>
          <p:cNvSpPr/>
          <p:nvPr/>
        </p:nvSpPr>
        <p:spPr>
          <a:xfrm>
            <a:off x="0" y="533160"/>
            <a:ext cx="9143280" cy="354960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Box 6"/>
          <p:cNvSpPr/>
          <p:nvPr/>
        </p:nvSpPr>
        <p:spPr>
          <a:xfrm>
            <a:off x="190080" y="610920"/>
            <a:ext cx="822888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s-ES" sz="13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DIAGRAMA DE FLUJO DE DATOS – DFD: Nivel 2 (Gestionar Caja del Turno)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Rectangle 7"/>
          <p:cNvSpPr/>
          <p:nvPr/>
        </p:nvSpPr>
        <p:spPr>
          <a:xfrm>
            <a:off x="0" y="4966200"/>
            <a:ext cx="9143280" cy="10080"/>
          </a:xfrm>
          <a:prstGeom prst="rect">
            <a:avLst/>
          </a:prstGeom>
          <a:solidFill>
            <a:srgbClr val="B4C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Box 8"/>
          <p:cNvSpPr/>
          <p:nvPr/>
        </p:nvSpPr>
        <p:spPr>
          <a:xfrm>
            <a:off x="152640" y="5007240"/>
            <a:ext cx="4571280" cy="9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s-ES" sz="700" b="0" u="none" strike="noStrike">
                <a:solidFill>
                  <a:srgbClr val="595959"/>
                </a:solidFill>
                <a:effectLst/>
                <a:uFillTx/>
                <a:latin typeface="Arial"/>
                <a:ea typeface="DejaVu Sans"/>
              </a:rPr>
              <a:t>Gestor de Ventas e Inventario</a:t>
            </a:r>
            <a:endParaRPr lang="es-E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Box 9"/>
          <p:cNvSpPr/>
          <p:nvPr/>
        </p:nvSpPr>
        <p:spPr>
          <a:xfrm>
            <a:off x="5943600" y="5007240"/>
            <a:ext cx="3047040" cy="9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>
              <a:lnSpc>
                <a:spcPct val="100000"/>
              </a:lnSpc>
            </a:pPr>
            <a:r>
              <a:rPr lang="es-ES" sz="700" b="0" u="none" strike="noStrike">
                <a:solidFill>
                  <a:srgbClr val="595959"/>
                </a:solidFill>
                <a:effectLst/>
                <a:uFillTx/>
                <a:latin typeface="Arial"/>
                <a:ea typeface="DejaVu Sans"/>
              </a:rPr>
              <a:t>Hernández, Edelyn - CI: 28109107</a:t>
            </a:r>
            <a:endParaRPr lang="es-E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0" name="Picture 10" descr="n2_7_gestionar_caja.png"/>
          <p:cNvPicPr/>
          <p:nvPr/>
        </p:nvPicPr>
        <p:blipFill>
          <a:blip r:embed="rId2"/>
          <a:stretch/>
        </p:blipFill>
        <p:spPr>
          <a:xfrm>
            <a:off x="643320" y="1024200"/>
            <a:ext cx="7856640" cy="3858120"/>
          </a:xfrm>
          <a:prstGeom prst="rect">
            <a:avLst/>
          </a:prstGeom>
          <a:noFill/>
          <a:ln w="9525">
            <a:solidFill>
              <a:srgbClr val="B4C7E7"/>
            </a:solidFill>
            <a:round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Rectangle 1"/>
          <p:cNvSpPr/>
          <p:nvPr/>
        </p:nvSpPr>
        <p:spPr>
          <a:xfrm>
            <a:off x="0" y="0"/>
            <a:ext cx="9143280" cy="3798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172" name="Picture 2" descr="escudo.png"/>
          <p:cNvPicPr/>
          <p:nvPr/>
        </p:nvPicPr>
        <p:blipFill>
          <a:blip r:embed="rId1"/>
          <a:stretch/>
        </p:blipFill>
        <p:spPr>
          <a:xfrm>
            <a:off x="152640" y="64080"/>
            <a:ext cx="252720" cy="25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3" name="TextBox 3"/>
          <p:cNvSpPr/>
          <p:nvPr/>
        </p:nvSpPr>
        <p:spPr>
          <a:xfrm>
            <a:off x="533160" y="105120"/>
            <a:ext cx="2742480" cy="17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s-ES" sz="12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PROYECTO FINAL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Box 4"/>
          <p:cNvSpPr/>
          <p:nvPr/>
        </p:nvSpPr>
        <p:spPr>
          <a:xfrm>
            <a:off x="7863840" y="118800"/>
            <a:ext cx="1123920" cy="14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>
              <a:lnSpc>
                <a:spcPct val="100000"/>
              </a:lnSpc>
            </a:pPr>
            <a:r>
              <a:rPr lang="es-ES" sz="1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15/31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Rectangle 5"/>
          <p:cNvSpPr/>
          <p:nvPr/>
        </p:nvSpPr>
        <p:spPr>
          <a:xfrm>
            <a:off x="0" y="381240"/>
            <a:ext cx="9143280" cy="252720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Box 6"/>
          <p:cNvSpPr/>
          <p:nvPr/>
        </p:nvSpPr>
        <p:spPr>
          <a:xfrm>
            <a:off x="190080" y="431640"/>
            <a:ext cx="8228880" cy="1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s-ES" sz="11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DICCIONARIO DE DATOS DFD – ENTIDADES EXTERNAS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Rectangle 7"/>
          <p:cNvSpPr/>
          <p:nvPr/>
        </p:nvSpPr>
        <p:spPr>
          <a:xfrm>
            <a:off x="0" y="5016240"/>
            <a:ext cx="9143280" cy="10080"/>
          </a:xfrm>
          <a:prstGeom prst="rect">
            <a:avLst/>
          </a:prstGeom>
          <a:solidFill>
            <a:srgbClr val="B4C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Box 8"/>
          <p:cNvSpPr/>
          <p:nvPr/>
        </p:nvSpPr>
        <p:spPr>
          <a:xfrm>
            <a:off x="152640" y="5032800"/>
            <a:ext cx="4571280" cy="9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s-ES" sz="700" b="0" u="none" strike="noStrike">
                <a:solidFill>
                  <a:srgbClr val="595959"/>
                </a:solidFill>
                <a:effectLst/>
                <a:uFillTx/>
                <a:latin typeface="Arial"/>
                <a:ea typeface="DejaVu Sans"/>
              </a:rPr>
              <a:t>Gestor de Ventas e Inventario</a:t>
            </a:r>
            <a:endParaRPr lang="es-E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Box 9"/>
          <p:cNvSpPr/>
          <p:nvPr/>
        </p:nvSpPr>
        <p:spPr>
          <a:xfrm>
            <a:off x="5943600" y="5032800"/>
            <a:ext cx="3047040" cy="9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>
              <a:lnSpc>
                <a:spcPct val="100000"/>
              </a:lnSpc>
            </a:pPr>
            <a:r>
              <a:rPr lang="es-ES" sz="700" b="0" u="none" strike="noStrike">
                <a:solidFill>
                  <a:srgbClr val="595959"/>
                </a:solidFill>
                <a:effectLst/>
                <a:uFillTx/>
                <a:latin typeface="Arial"/>
                <a:ea typeface="DejaVu Sans"/>
              </a:rPr>
              <a:t>Hernández, Edelyn - CI: 28109107</a:t>
            </a:r>
            <a:endParaRPr lang="es-E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0" name="Picture 10" descr="EN_E1_Administrador.png"/>
          <p:cNvPicPr/>
          <p:nvPr/>
        </p:nvPicPr>
        <p:blipFill>
          <a:blip r:embed="rId2"/>
          <a:stretch/>
        </p:blipFill>
        <p:spPr>
          <a:xfrm>
            <a:off x="75960" y="781920"/>
            <a:ext cx="4444200" cy="1858680"/>
          </a:xfrm>
          <a:prstGeom prst="rect">
            <a:avLst/>
          </a:prstGeom>
          <a:noFill/>
          <a:ln w="9525">
            <a:solidFill>
              <a:srgbClr val="B4C7E7"/>
            </a:solidFill>
            <a:round/>
          </a:ln>
        </p:spPr>
      </p:pic>
      <p:pic>
        <p:nvPicPr>
          <p:cNvPr id="181" name="Picture 11" descr="EN_E2_Vendedor.png"/>
          <p:cNvPicPr/>
          <p:nvPr/>
        </p:nvPicPr>
        <p:blipFill>
          <a:blip r:embed="rId3"/>
          <a:stretch/>
        </p:blipFill>
        <p:spPr>
          <a:xfrm>
            <a:off x="4623120" y="781920"/>
            <a:ext cx="4444200" cy="1858680"/>
          </a:xfrm>
          <a:prstGeom prst="rect">
            <a:avLst/>
          </a:prstGeom>
          <a:noFill/>
          <a:ln w="9525">
            <a:solidFill>
              <a:srgbClr val="B4C7E7"/>
            </a:solidFill>
            <a:round/>
          </a:ln>
        </p:spPr>
      </p:pic>
      <p:pic>
        <p:nvPicPr>
          <p:cNvPr id="182" name="Picture 12" descr="EN_E3_Cliente.png"/>
          <p:cNvPicPr/>
          <p:nvPr/>
        </p:nvPicPr>
        <p:blipFill>
          <a:blip r:embed="rId4"/>
          <a:stretch/>
        </p:blipFill>
        <p:spPr>
          <a:xfrm>
            <a:off x="2349720" y="2940120"/>
            <a:ext cx="4444200" cy="1858680"/>
          </a:xfrm>
          <a:prstGeom prst="rect">
            <a:avLst/>
          </a:prstGeom>
          <a:noFill/>
          <a:ln w="9525">
            <a:solidFill>
              <a:srgbClr val="B4C7E7"/>
            </a:solidFill>
            <a:round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Rectangle 1"/>
          <p:cNvSpPr/>
          <p:nvPr/>
        </p:nvSpPr>
        <p:spPr>
          <a:xfrm>
            <a:off x="0" y="0"/>
            <a:ext cx="9143280" cy="3798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184" name="Picture 2" descr="escudo.png"/>
          <p:cNvPicPr/>
          <p:nvPr/>
        </p:nvPicPr>
        <p:blipFill>
          <a:blip r:embed="rId1"/>
          <a:stretch/>
        </p:blipFill>
        <p:spPr>
          <a:xfrm>
            <a:off x="152640" y="64080"/>
            <a:ext cx="252720" cy="25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5" name="TextBox 3"/>
          <p:cNvSpPr/>
          <p:nvPr/>
        </p:nvSpPr>
        <p:spPr>
          <a:xfrm>
            <a:off x="533160" y="105120"/>
            <a:ext cx="2742480" cy="17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s-ES" sz="12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PROYECTO FINAL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Box 4"/>
          <p:cNvSpPr/>
          <p:nvPr/>
        </p:nvSpPr>
        <p:spPr>
          <a:xfrm>
            <a:off x="7863840" y="118800"/>
            <a:ext cx="1123920" cy="14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>
              <a:lnSpc>
                <a:spcPct val="100000"/>
              </a:lnSpc>
            </a:pPr>
            <a:r>
              <a:rPr lang="es-ES" sz="1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16/31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Rectangle 5"/>
          <p:cNvSpPr/>
          <p:nvPr/>
        </p:nvSpPr>
        <p:spPr>
          <a:xfrm>
            <a:off x="0" y="381240"/>
            <a:ext cx="9143280" cy="252720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Box 6"/>
          <p:cNvSpPr/>
          <p:nvPr/>
        </p:nvSpPr>
        <p:spPr>
          <a:xfrm>
            <a:off x="190080" y="431640"/>
            <a:ext cx="8228880" cy="1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s-ES" sz="11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DICCIONARIO DE DATOS DFD – PROCESOS (1/2)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Rectangle 7"/>
          <p:cNvSpPr/>
          <p:nvPr/>
        </p:nvSpPr>
        <p:spPr>
          <a:xfrm>
            <a:off x="0" y="5016240"/>
            <a:ext cx="9143280" cy="10080"/>
          </a:xfrm>
          <a:prstGeom prst="rect">
            <a:avLst/>
          </a:prstGeom>
          <a:solidFill>
            <a:srgbClr val="B4C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Box 8"/>
          <p:cNvSpPr/>
          <p:nvPr/>
        </p:nvSpPr>
        <p:spPr>
          <a:xfrm>
            <a:off x="152640" y="5032800"/>
            <a:ext cx="4571280" cy="9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s-ES" sz="700" b="0" u="none" strike="noStrike">
                <a:solidFill>
                  <a:srgbClr val="595959"/>
                </a:solidFill>
                <a:effectLst/>
                <a:uFillTx/>
                <a:latin typeface="Arial"/>
                <a:ea typeface="DejaVu Sans"/>
              </a:rPr>
              <a:t>Gestor de Ventas e Inventario</a:t>
            </a:r>
            <a:endParaRPr lang="es-E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Box 9"/>
          <p:cNvSpPr/>
          <p:nvPr/>
        </p:nvSpPr>
        <p:spPr>
          <a:xfrm>
            <a:off x="5943600" y="5032800"/>
            <a:ext cx="3047040" cy="9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>
              <a:lnSpc>
                <a:spcPct val="100000"/>
              </a:lnSpc>
            </a:pPr>
            <a:r>
              <a:rPr lang="es-ES" sz="700" b="0" u="none" strike="noStrike">
                <a:solidFill>
                  <a:srgbClr val="595959"/>
                </a:solidFill>
                <a:effectLst/>
                <a:uFillTx/>
                <a:latin typeface="Arial"/>
                <a:ea typeface="DejaVu Sans"/>
              </a:rPr>
              <a:t>Hernández, Edelyn - CI: 28109107</a:t>
            </a:r>
            <a:endParaRPr lang="es-E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2" name="Picture 10" descr="P0_Gestor_Ventas_Inventario.png"/>
          <p:cNvPicPr/>
          <p:nvPr/>
        </p:nvPicPr>
        <p:blipFill>
          <a:blip r:embed="rId2"/>
          <a:stretch/>
        </p:blipFill>
        <p:spPr>
          <a:xfrm>
            <a:off x="118800" y="660240"/>
            <a:ext cx="4358160" cy="2102400"/>
          </a:xfrm>
          <a:prstGeom prst="rect">
            <a:avLst/>
          </a:prstGeom>
          <a:noFill/>
          <a:ln w="9525">
            <a:solidFill>
              <a:srgbClr val="B4C7E7"/>
            </a:solidFill>
            <a:round/>
          </a:ln>
        </p:spPr>
      </p:pic>
      <p:pic>
        <p:nvPicPr>
          <p:cNvPr id="193" name="Picture 11" descr="P1_Gestionar_Inventario.png"/>
          <p:cNvPicPr/>
          <p:nvPr/>
        </p:nvPicPr>
        <p:blipFill>
          <a:blip r:embed="rId3"/>
          <a:stretch/>
        </p:blipFill>
        <p:spPr>
          <a:xfrm>
            <a:off x="4623120" y="713520"/>
            <a:ext cx="4444200" cy="1995840"/>
          </a:xfrm>
          <a:prstGeom prst="rect">
            <a:avLst/>
          </a:prstGeom>
          <a:noFill/>
          <a:ln w="9525">
            <a:solidFill>
              <a:srgbClr val="B4C7E7"/>
            </a:solidFill>
            <a:round/>
          </a:ln>
        </p:spPr>
      </p:pic>
      <p:pic>
        <p:nvPicPr>
          <p:cNvPr id="194" name="Picture 12" descr="P2_Procesar_Ventas.png"/>
          <p:cNvPicPr/>
          <p:nvPr/>
        </p:nvPicPr>
        <p:blipFill>
          <a:blip r:embed="rId4"/>
          <a:stretch/>
        </p:blipFill>
        <p:spPr>
          <a:xfrm>
            <a:off x="118800" y="2818080"/>
            <a:ext cx="4358160" cy="2102400"/>
          </a:xfrm>
          <a:prstGeom prst="rect">
            <a:avLst/>
          </a:prstGeom>
          <a:noFill/>
          <a:ln w="9525">
            <a:solidFill>
              <a:srgbClr val="B4C7E7"/>
            </a:solidFill>
            <a:round/>
          </a:ln>
        </p:spPr>
      </p:pic>
      <p:pic>
        <p:nvPicPr>
          <p:cNvPr id="195" name="Picture 13" descr="P3_Registrar_Compras.png"/>
          <p:cNvPicPr/>
          <p:nvPr/>
        </p:nvPicPr>
        <p:blipFill>
          <a:blip r:embed="rId5"/>
          <a:stretch/>
        </p:blipFill>
        <p:spPr>
          <a:xfrm>
            <a:off x="4623120" y="2945520"/>
            <a:ext cx="4444200" cy="1847520"/>
          </a:xfrm>
          <a:prstGeom prst="rect">
            <a:avLst/>
          </a:prstGeom>
          <a:noFill/>
          <a:ln w="9525">
            <a:solidFill>
              <a:srgbClr val="B4C7E7"/>
            </a:solidFill>
            <a:round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Rectangle 1"/>
          <p:cNvSpPr/>
          <p:nvPr/>
        </p:nvSpPr>
        <p:spPr>
          <a:xfrm>
            <a:off x="0" y="0"/>
            <a:ext cx="9143280" cy="3798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197" name="Picture 2" descr="escudo.png"/>
          <p:cNvPicPr/>
          <p:nvPr/>
        </p:nvPicPr>
        <p:blipFill>
          <a:blip r:embed="rId1"/>
          <a:stretch/>
        </p:blipFill>
        <p:spPr>
          <a:xfrm>
            <a:off x="152640" y="64080"/>
            <a:ext cx="252720" cy="25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8" name="TextBox 3"/>
          <p:cNvSpPr/>
          <p:nvPr/>
        </p:nvSpPr>
        <p:spPr>
          <a:xfrm>
            <a:off x="533160" y="105120"/>
            <a:ext cx="2742480" cy="17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s-ES" sz="12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PROYECTO FINAL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Box 4"/>
          <p:cNvSpPr/>
          <p:nvPr/>
        </p:nvSpPr>
        <p:spPr>
          <a:xfrm>
            <a:off x="7863840" y="118800"/>
            <a:ext cx="1123920" cy="14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>
              <a:lnSpc>
                <a:spcPct val="100000"/>
              </a:lnSpc>
            </a:pPr>
            <a:r>
              <a:rPr lang="es-ES" sz="1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17/31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Rectangle 5"/>
          <p:cNvSpPr/>
          <p:nvPr/>
        </p:nvSpPr>
        <p:spPr>
          <a:xfrm>
            <a:off x="0" y="381240"/>
            <a:ext cx="9143280" cy="252720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Box 6"/>
          <p:cNvSpPr/>
          <p:nvPr/>
        </p:nvSpPr>
        <p:spPr>
          <a:xfrm>
            <a:off x="190080" y="431640"/>
            <a:ext cx="8228880" cy="1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s-ES" sz="11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DICCIONARIO DE DATOS DFD – PROCESOS (2/2)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Rectangle 7"/>
          <p:cNvSpPr/>
          <p:nvPr/>
        </p:nvSpPr>
        <p:spPr>
          <a:xfrm>
            <a:off x="0" y="5016240"/>
            <a:ext cx="9143280" cy="10080"/>
          </a:xfrm>
          <a:prstGeom prst="rect">
            <a:avLst/>
          </a:prstGeom>
          <a:solidFill>
            <a:srgbClr val="B4C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Box 8"/>
          <p:cNvSpPr/>
          <p:nvPr/>
        </p:nvSpPr>
        <p:spPr>
          <a:xfrm>
            <a:off x="152640" y="5032800"/>
            <a:ext cx="4571280" cy="9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s-ES" sz="700" b="0" u="none" strike="noStrike">
                <a:solidFill>
                  <a:srgbClr val="595959"/>
                </a:solidFill>
                <a:effectLst/>
                <a:uFillTx/>
                <a:latin typeface="Arial"/>
                <a:ea typeface="DejaVu Sans"/>
              </a:rPr>
              <a:t>Gestor de Ventas e Inventario</a:t>
            </a:r>
            <a:endParaRPr lang="es-E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Box 9"/>
          <p:cNvSpPr/>
          <p:nvPr/>
        </p:nvSpPr>
        <p:spPr>
          <a:xfrm>
            <a:off x="5943600" y="5032800"/>
            <a:ext cx="3047040" cy="9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>
              <a:lnSpc>
                <a:spcPct val="100000"/>
              </a:lnSpc>
            </a:pPr>
            <a:r>
              <a:rPr lang="es-ES" sz="700" b="0" u="none" strike="noStrike">
                <a:solidFill>
                  <a:srgbClr val="595959"/>
                </a:solidFill>
                <a:effectLst/>
                <a:uFillTx/>
                <a:latin typeface="Arial"/>
                <a:ea typeface="DejaVu Sans"/>
              </a:rPr>
              <a:t>Hernández, Edelyn - CI: 28109107</a:t>
            </a:r>
            <a:endParaRPr lang="es-E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5" name="Picture 10" descr="P4_Actualizar_Tasa_BCV.png"/>
          <p:cNvPicPr/>
          <p:nvPr/>
        </p:nvPicPr>
        <p:blipFill>
          <a:blip r:embed="rId2"/>
          <a:stretch/>
        </p:blipFill>
        <p:spPr>
          <a:xfrm>
            <a:off x="75960" y="713520"/>
            <a:ext cx="4444200" cy="1995840"/>
          </a:xfrm>
          <a:prstGeom prst="rect">
            <a:avLst/>
          </a:prstGeom>
          <a:noFill/>
          <a:ln w="9525">
            <a:solidFill>
              <a:srgbClr val="B4C7E7"/>
            </a:solidFill>
            <a:round/>
          </a:ln>
        </p:spPr>
      </p:pic>
      <p:pic>
        <p:nvPicPr>
          <p:cNvPr id="206" name="Picture 11" descr="P5_Generar_Reportes.png"/>
          <p:cNvPicPr/>
          <p:nvPr/>
        </p:nvPicPr>
        <p:blipFill>
          <a:blip r:embed="rId3"/>
          <a:stretch/>
        </p:blipFill>
        <p:spPr>
          <a:xfrm>
            <a:off x="4666320" y="660240"/>
            <a:ext cx="4358160" cy="2102400"/>
          </a:xfrm>
          <a:prstGeom prst="rect">
            <a:avLst/>
          </a:prstGeom>
          <a:noFill/>
          <a:ln w="9525">
            <a:solidFill>
              <a:srgbClr val="B4C7E7"/>
            </a:solidFill>
            <a:round/>
          </a:ln>
        </p:spPr>
      </p:pic>
      <p:pic>
        <p:nvPicPr>
          <p:cNvPr id="207" name="Picture 12" descr="P6_Gestionar_Usuarios.png"/>
          <p:cNvPicPr/>
          <p:nvPr/>
        </p:nvPicPr>
        <p:blipFill>
          <a:blip r:embed="rId4"/>
          <a:stretch/>
        </p:blipFill>
        <p:spPr>
          <a:xfrm>
            <a:off x="75960" y="2871360"/>
            <a:ext cx="4444200" cy="1995840"/>
          </a:xfrm>
          <a:prstGeom prst="rect">
            <a:avLst/>
          </a:prstGeom>
          <a:noFill/>
          <a:ln w="9525">
            <a:solidFill>
              <a:srgbClr val="B4C7E7"/>
            </a:solidFill>
            <a:round/>
          </a:ln>
        </p:spPr>
      </p:pic>
      <p:pic>
        <p:nvPicPr>
          <p:cNvPr id="208" name="Picture 13" descr="P7_Gestionar_Caja_del_Turno.png"/>
          <p:cNvPicPr/>
          <p:nvPr/>
        </p:nvPicPr>
        <p:blipFill>
          <a:blip r:embed="rId5"/>
          <a:stretch/>
        </p:blipFill>
        <p:spPr>
          <a:xfrm>
            <a:off x="4870800" y="2818080"/>
            <a:ext cx="3948840" cy="2102400"/>
          </a:xfrm>
          <a:prstGeom prst="rect">
            <a:avLst/>
          </a:prstGeom>
          <a:noFill/>
          <a:ln w="9525">
            <a:solidFill>
              <a:srgbClr val="B4C7E7"/>
            </a:solidFill>
            <a:round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Rectangle 1"/>
          <p:cNvSpPr/>
          <p:nvPr/>
        </p:nvSpPr>
        <p:spPr>
          <a:xfrm>
            <a:off x="0" y="0"/>
            <a:ext cx="9143280" cy="3798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210" name="Picture 2" descr="escudo.png"/>
          <p:cNvPicPr/>
          <p:nvPr/>
        </p:nvPicPr>
        <p:blipFill>
          <a:blip r:embed="rId1"/>
          <a:stretch/>
        </p:blipFill>
        <p:spPr>
          <a:xfrm>
            <a:off x="152640" y="64080"/>
            <a:ext cx="252720" cy="25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1" name="TextBox 3"/>
          <p:cNvSpPr/>
          <p:nvPr/>
        </p:nvSpPr>
        <p:spPr>
          <a:xfrm>
            <a:off x="533160" y="105120"/>
            <a:ext cx="2742480" cy="17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s-ES" sz="12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PROYECTO FINAL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Box 4"/>
          <p:cNvSpPr/>
          <p:nvPr/>
        </p:nvSpPr>
        <p:spPr>
          <a:xfrm>
            <a:off x="7863840" y="118800"/>
            <a:ext cx="1123920" cy="14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>
              <a:lnSpc>
                <a:spcPct val="100000"/>
              </a:lnSpc>
            </a:pPr>
            <a:r>
              <a:rPr lang="es-ES" sz="1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18/31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Rectangle 5"/>
          <p:cNvSpPr/>
          <p:nvPr/>
        </p:nvSpPr>
        <p:spPr>
          <a:xfrm>
            <a:off x="0" y="381240"/>
            <a:ext cx="9143280" cy="252720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Box 6"/>
          <p:cNvSpPr/>
          <p:nvPr/>
        </p:nvSpPr>
        <p:spPr>
          <a:xfrm>
            <a:off x="190080" y="431640"/>
            <a:ext cx="8228880" cy="1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s-ES" sz="11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DICCIONARIO DE DATOS DFD – ALMACENES DE DATOS (1/2)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Rectangle 7"/>
          <p:cNvSpPr/>
          <p:nvPr/>
        </p:nvSpPr>
        <p:spPr>
          <a:xfrm>
            <a:off x="0" y="5016240"/>
            <a:ext cx="9143280" cy="10080"/>
          </a:xfrm>
          <a:prstGeom prst="rect">
            <a:avLst/>
          </a:prstGeom>
          <a:solidFill>
            <a:srgbClr val="B4C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Box 8"/>
          <p:cNvSpPr/>
          <p:nvPr/>
        </p:nvSpPr>
        <p:spPr>
          <a:xfrm>
            <a:off x="152640" y="5032800"/>
            <a:ext cx="4571280" cy="9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s-ES" sz="700" b="0" u="none" strike="noStrike">
                <a:solidFill>
                  <a:srgbClr val="595959"/>
                </a:solidFill>
                <a:effectLst/>
                <a:uFillTx/>
                <a:latin typeface="Arial"/>
                <a:ea typeface="DejaVu Sans"/>
              </a:rPr>
              <a:t>Gestor de Ventas e Inventario</a:t>
            </a:r>
            <a:endParaRPr lang="es-E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Box 9"/>
          <p:cNvSpPr/>
          <p:nvPr/>
        </p:nvSpPr>
        <p:spPr>
          <a:xfrm>
            <a:off x="5943600" y="5032800"/>
            <a:ext cx="3047040" cy="9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>
              <a:lnSpc>
                <a:spcPct val="100000"/>
              </a:lnSpc>
            </a:pPr>
            <a:r>
              <a:rPr lang="es-ES" sz="700" b="0" u="none" strike="noStrike">
                <a:solidFill>
                  <a:srgbClr val="595959"/>
                </a:solidFill>
                <a:effectLst/>
                <a:uFillTx/>
                <a:latin typeface="Arial"/>
                <a:ea typeface="DejaVu Sans"/>
              </a:rPr>
              <a:t>Hernández, Edelyn - CI: 28109107</a:t>
            </a:r>
            <a:endParaRPr lang="es-E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8" name="Picture 10" descr="AL_D1_Producto_e_Inventario.png"/>
          <p:cNvPicPr/>
          <p:nvPr/>
        </p:nvPicPr>
        <p:blipFill>
          <a:blip r:embed="rId2"/>
          <a:stretch/>
        </p:blipFill>
        <p:spPr>
          <a:xfrm>
            <a:off x="246600" y="660240"/>
            <a:ext cx="4102920" cy="2102400"/>
          </a:xfrm>
          <a:prstGeom prst="rect">
            <a:avLst/>
          </a:prstGeom>
          <a:noFill/>
          <a:ln w="9525">
            <a:solidFill>
              <a:srgbClr val="B4C7E7"/>
            </a:solidFill>
            <a:round/>
          </a:ln>
        </p:spPr>
      </p:pic>
      <p:pic>
        <p:nvPicPr>
          <p:cNvPr id="219" name="Picture 11" descr="AL_D2_Ventas_y_Reportes.png"/>
          <p:cNvPicPr/>
          <p:nvPr/>
        </p:nvPicPr>
        <p:blipFill>
          <a:blip r:embed="rId3"/>
          <a:stretch/>
        </p:blipFill>
        <p:spPr>
          <a:xfrm>
            <a:off x="4623120" y="700560"/>
            <a:ext cx="4444200" cy="2021760"/>
          </a:xfrm>
          <a:prstGeom prst="rect">
            <a:avLst/>
          </a:prstGeom>
          <a:noFill/>
          <a:ln w="9525">
            <a:solidFill>
              <a:srgbClr val="B4C7E7"/>
            </a:solidFill>
            <a:round/>
          </a:ln>
        </p:spPr>
      </p:pic>
      <p:pic>
        <p:nvPicPr>
          <p:cNvPr id="220" name="Picture 12" descr="AL_D3_Tasas_BCV.png"/>
          <p:cNvPicPr/>
          <p:nvPr/>
        </p:nvPicPr>
        <p:blipFill>
          <a:blip r:embed="rId4"/>
          <a:stretch/>
        </p:blipFill>
        <p:spPr>
          <a:xfrm>
            <a:off x="2349720" y="3051000"/>
            <a:ext cx="4444200" cy="1636560"/>
          </a:xfrm>
          <a:prstGeom prst="rect">
            <a:avLst/>
          </a:prstGeom>
          <a:noFill/>
          <a:ln w="9525">
            <a:solidFill>
              <a:srgbClr val="B4C7E7"/>
            </a:solidFill>
            <a:round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Rectangle 1"/>
          <p:cNvSpPr/>
          <p:nvPr/>
        </p:nvSpPr>
        <p:spPr>
          <a:xfrm>
            <a:off x="0" y="0"/>
            <a:ext cx="9143280" cy="3798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222" name="Picture 2" descr="escudo.png"/>
          <p:cNvPicPr/>
          <p:nvPr/>
        </p:nvPicPr>
        <p:blipFill>
          <a:blip r:embed="rId1"/>
          <a:stretch/>
        </p:blipFill>
        <p:spPr>
          <a:xfrm>
            <a:off x="152640" y="64080"/>
            <a:ext cx="252720" cy="25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3" name="TextBox 3"/>
          <p:cNvSpPr/>
          <p:nvPr/>
        </p:nvSpPr>
        <p:spPr>
          <a:xfrm>
            <a:off x="533160" y="105120"/>
            <a:ext cx="2742480" cy="17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s-ES" sz="12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PROYECTO FINAL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Box 4"/>
          <p:cNvSpPr/>
          <p:nvPr/>
        </p:nvSpPr>
        <p:spPr>
          <a:xfrm>
            <a:off x="7863840" y="118800"/>
            <a:ext cx="1123920" cy="14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>
              <a:lnSpc>
                <a:spcPct val="100000"/>
              </a:lnSpc>
            </a:pPr>
            <a:r>
              <a:rPr lang="es-ES" sz="1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19/31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Rectangle 5"/>
          <p:cNvSpPr/>
          <p:nvPr/>
        </p:nvSpPr>
        <p:spPr>
          <a:xfrm>
            <a:off x="0" y="381240"/>
            <a:ext cx="9143280" cy="252720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Box 6"/>
          <p:cNvSpPr/>
          <p:nvPr/>
        </p:nvSpPr>
        <p:spPr>
          <a:xfrm>
            <a:off x="190080" y="431640"/>
            <a:ext cx="8228880" cy="1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s-ES" sz="11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DICCIONARIO DE DATOS DFD – ALMACENES DE DATOS (2/2)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Rectangle 7"/>
          <p:cNvSpPr/>
          <p:nvPr/>
        </p:nvSpPr>
        <p:spPr>
          <a:xfrm>
            <a:off x="0" y="5016240"/>
            <a:ext cx="9143280" cy="10080"/>
          </a:xfrm>
          <a:prstGeom prst="rect">
            <a:avLst/>
          </a:prstGeom>
          <a:solidFill>
            <a:srgbClr val="B4C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Box 8"/>
          <p:cNvSpPr/>
          <p:nvPr/>
        </p:nvSpPr>
        <p:spPr>
          <a:xfrm>
            <a:off x="152640" y="5032800"/>
            <a:ext cx="4571280" cy="9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s-ES" sz="700" b="0" u="none" strike="noStrike">
                <a:solidFill>
                  <a:srgbClr val="595959"/>
                </a:solidFill>
                <a:effectLst/>
                <a:uFillTx/>
                <a:latin typeface="Arial"/>
                <a:ea typeface="DejaVu Sans"/>
              </a:rPr>
              <a:t>Gestor de Ventas e Inventario</a:t>
            </a:r>
            <a:endParaRPr lang="es-E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Box 9"/>
          <p:cNvSpPr/>
          <p:nvPr/>
        </p:nvSpPr>
        <p:spPr>
          <a:xfrm>
            <a:off x="5943600" y="5032800"/>
            <a:ext cx="3047040" cy="9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>
              <a:lnSpc>
                <a:spcPct val="100000"/>
              </a:lnSpc>
            </a:pPr>
            <a:r>
              <a:rPr lang="es-ES" sz="700" b="0" u="none" strike="noStrike">
                <a:solidFill>
                  <a:srgbClr val="595959"/>
                </a:solidFill>
                <a:effectLst/>
                <a:uFillTx/>
                <a:latin typeface="Arial"/>
                <a:ea typeface="DejaVu Sans"/>
              </a:rPr>
              <a:t>Hernández, Edelyn - CI: 28109107</a:t>
            </a:r>
            <a:endParaRPr lang="es-E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0" name="Picture 10" descr="AL_D4_Caja_del_Turno.png"/>
          <p:cNvPicPr/>
          <p:nvPr/>
        </p:nvPicPr>
        <p:blipFill>
          <a:blip r:embed="rId2"/>
          <a:stretch/>
        </p:blipFill>
        <p:spPr>
          <a:xfrm>
            <a:off x="75960" y="1860840"/>
            <a:ext cx="4444200" cy="1895760"/>
          </a:xfrm>
          <a:prstGeom prst="rect">
            <a:avLst/>
          </a:prstGeom>
          <a:noFill/>
          <a:ln w="9525">
            <a:solidFill>
              <a:srgbClr val="B4C7E7"/>
            </a:solidFill>
            <a:round/>
          </a:ln>
        </p:spPr>
      </p:pic>
      <p:pic>
        <p:nvPicPr>
          <p:cNvPr id="231" name="Picture 11" descr="AL_D5_Usuarios.png"/>
          <p:cNvPicPr/>
          <p:nvPr/>
        </p:nvPicPr>
        <p:blipFill>
          <a:blip r:embed="rId3"/>
          <a:stretch/>
        </p:blipFill>
        <p:spPr>
          <a:xfrm>
            <a:off x="4623120" y="1985040"/>
            <a:ext cx="4444200" cy="1647720"/>
          </a:xfrm>
          <a:prstGeom prst="rect">
            <a:avLst/>
          </a:prstGeom>
          <a:noFill/>
          <a:ln w="9525">
            <a:solidFill>
              <a:srgbClr val="B4C7E7"/>
            </a:solidFill>
            <a:round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Rectangle 1"/>
          <p:cNvSpPr/>
          <p:nvPr/>
        </p:nvSpPr>
        <p:spPr>
          <a:xfrm>
            <a:off x="0" y="0"/>
            <a:ext cx="9143280" cy="3798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233" name="Picture 2" descr="escudo.png"/>
          <p:cNvPicPr/>
          <p:nvPr/>
        </p:nvPicPr>
        <p:blipFill>
          <a:blip r:embed="rId1"/>
          <a:stretch/>
        </p:blipFill>
        <p:spPr>
          <a:xfrm>
            <a:off x="152640" y="64080"/>
            <a:ext cx="252720" cy="25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4" name="TextBox 3"/>
          <p:cNvSpPr/>
          <p:nvPr/>
        </p:nvSpPr>
        <p:spPr>
          <a:xfrm>
            <a:off x="533160" y="105120"/>
            <a:ext cx="2742480" cy="17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s-ES" sz="12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PROYECTO FINAL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Box 4"/>
          <p:cNvSpPr/>
          <p:nvPr/>
        </p:nvSpPr>
        <p:spPr>
          <a:xfrm>
            <a:off x="7863840" y="118800"/>
            <a:ext cx="1123920" cy="14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>
              <a:lnSpc>
                <a:spcPct val="100000"/>
              </a:lnSpc>
            </a:pPr>
            <a:r>
              <a:rPr lang="es-ES" sz="1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20/31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Rectangle 5"/>
          <p:cNvSpPr/>
          <p:nvPr/>
        </p:nvSpPr>
        <p:spPr>
          <a:xfrm>
            <a:off x="0" y="381240"/>
            <a:ext cx="9143280" cy="252720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Box 6"/>
          <p:cNvSpPr/>
          <p:nvPr/>
        </p:nvSpPr>
        <p:spPr>
          <a:xfrm>
            <a:off x="190080" y="431640"/>
            <a:ext cx="8228880" cy="1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s-ES" sz="11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DICCIONARIO DE DATOS DFD – FLUJOS DE DATOS (1/2)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Rectangle 7"/>
          <p:cNvSpPr/>
          <p:nvPr/>
        </p:nvSpPr>
        <p:spPr>
          <a:xfrm>
            <a:off x="0" y="5016240"/>
            <a:ext cx="9143280" cy="10080"/>
          </a:xfrm>
          <a:prstGeom prst="rect">
            <a:avLst/>
          </a:prstGeom>
          <a:solidFill>
            <a:srgbClr val="B4C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Box 8"/>
          <p:cNvSpPr/>
          <p:nvPr/>
        </p:nvSpPr>
        <p:spPr>
          <a:xfrm>
            <a:off x="152640" y="5032800"/>
            <a:ext cx="4571280" cy="9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s-ES" sz="700" b="0" u="none" strike="noStrike">
                <a:solidFill>
                  <a:srgbClr val="595959"/>
                </a:solidFill>
                <a:effectLst/>
                <a:uFillTx/>
                <a:latin typeface="Arial"/>
                <a:ea typeface="DejaVu Sans"/>
              </a:rPr>
              <a:t>Gestor de Ventas e Inventario</a:t>
            </a:r>
            <a:endParaRPr lang="es-E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Box 9"/>
          <p:cNvSpPr/>
          <p:nvPr/>
        </p:nvSpPr>
        <p:spPr>
          <a:xfrm>
            <a:off x="5943600" y="5032800"/>
            <a:ext cx="3047040" cy="9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>
              <a:lnSpc>
                <a:spcPct val="100000"/>
              </a:lnSpc>
            </a:pPr>
            <a:r>
              <a:rPr lang="es-ES" sz="700" b="0" u="none" strike="noStrike">
                <a:solidFill>
                  <a:srgbClr val="595959"/>
                </a:solidFill>
                <a:effectLst/>
                <a:uFillTx/>
                <a:latin typeface="Arial"/>
                <a:ea typeface="DejaVu Sans"/>
              </a:rPr>
              <a:t>Hernández, Edelyn - CI: 28109107</a:t>
            </a:r>
            <a:endParaRPr lang="es-E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1" name="Picture 10" descr="FD_FD1_Datos_de_Venta.png"/>
          <p:cNvPicPr/>
          <p:nvPr/>
        </p:nvPicPr>
        <p:blipFill>
          <a:blip r:embed="rId2"/>
          <a:stretch/>
        </p:blipFill>
        <p:spPr>
          <a:xfrm>
            <a:off x="597600" y="660240"/>
            <a:ext cx="3400560" cy="2102400"/>
          </a:xfrm>
          <a:prstGeom prst="rect">
            <a:avLst/>
          </a:prstGeom>
          <a:noFill/>
          <a:ln w="9525">
            <a:solidFill>
              <a:srgbClr val="B4C7E7"/>
            </a:solidFill>
            <a:round/>
          </a:ln>
        </p:spPr>
      </p:pic>
      <p:pic>
        <p:nvPicPr>
          <p:cNvPr id="242" name="Picture 11" descr="FD_FD2_Datos_de_Inventario.png"/>
          <p:cNvPicPr/>
          <p:nvPr/>
        </p:nvPicPr>
        <p:blipFill>
          <a:blip r:embed="rId3"/>
          <a:stretch/>
        </p:blipFill>
        <p:spPr>
          <a:xfrm>
            <a:off x="5207040" y="660240"/>
            <a:ext cx="3276720" cy="2102400"/>
          </a:xfrm>
          <a:prstGeom prst="rect">
            <a:avLst/>
          </a:prstGeom>
          <a:noFill/>
          <a:ln w="9525">
            <a:solidFill>
              <a:srgbClr val="B4C7E7"/>
            </a:solidFill>
            <a:round/>
          </a:ln>
        </p:spPr>
      </p:pic>
      <p:pic>
        <p:nvPicPr>
          <p:cNvPr id="243" name="Picture 12" descr="FD_FD3_Datos_de_Compra.png"/>
          <p:cNvPicPr/>
          <p:nvPr/>
        </p:nvPicPr>
        <p:blipFill>
          <a:blip r:embed="rId4"/>
          <a:stretch/>
        </p:blipFill>
        <p:spPr>
          <a:xfrm>
            <a:off x="2871360" y="2818080"/>
            <a:ext cx="3400560" cy="2102400"/>
          </a:xfrm>
          <a:prstGeom prst="rect">
            <a:avLst/>
          </a:prstGeom>
          <a:noFill/>
          <a:ln w="9525">
            <a:solidFill>
              <a:srgbClr val="B4C7E7"/>
            </a:solidFill>
            <a:round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Rectangle 1"/>
          <p:cNvSpPr/>
          <p:nvPr/>
        </p:nvSpPr>
        <p:spPr>
          <a:xfrm>
            <a:off x="0" y="0"/>
            <a:ext cx="9143280" cy="3798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245" name="Picture 2" descr="escudo.png"/>
          <p:cNvPicPr/>
          <p:nvPr/>
        </p:nvPicPr>
        <p:blipFill>
          <a:blip r:embed="rId1"/>
          <a:stretch/>
        </p:blipFill>
        <p:spPr>
          <a:xfrm>
            <a:off x="152640" y="64080"/>
            <a:ext cx="252720" cy="25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6" name="TextBox 3"/>
          <p:cNvSpPr/>
          <p:nvPr/>
        </p:nvSpPr>
        <p:spPr>
          <a:xfrm>
            <a:off x="533160" y="105120"/>
            <a:ext cx="2742480" cy="17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s-ES" sz="12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PROYECTO FINAL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Box 4"/>
          <p:cNvSpPr/>
          <p:nvPr/>
        </p:nvSpPr>
        <p:spPr>
          <a:xfrm>
            <a:off x="7863840" y="118800"/>
            <a:ext cx="1123920" cy="14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>
              <a:lnSpc>
                <a:spcPct val="100000"/>
              </a:lnSpc>
            </a:pPr>
            <a:r>
              <a:rPr lang="es-ES" sz="1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21/31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Rectangle 5"/>
          <p:cNvSpPr/>
          <p:nvPr/>
        </p:nvSpPr>
        <p:spPr>
          <a:xfrm>
            <a:off x="0" y="381240"/>
            <a:ext cx="9143280" cy="252720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Box 6"/>
          <p:cNvSpPr/>
          <p:nvPr/>
        </p:nvSpPr>
        <p:spPr>
          <a:xfrm>
            <a:off x="190080" y="431640"/>
            <a:ext cx="8228880" cy="1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s-ES" sz="11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DICCIONARIO DE DATOS DFD – FLUJOS DE DATOS (2/2)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Rectangle 7"/>
          <p:cNvSpPr/>
          <p:nvPr/>
        </p:nvSpPr>
        <p:spPr>
          <a:xfrm>
            <a:off x="0" y="5016240"/>
            <a:ext cx="9143280" cy="10080"/>
          </a:xfrm>
          <a:prstGeom prst="rect">
            <a:avLst/>
          </a:prstGeom>
          <a:solidFill>
            <a:srgbClr val="B4C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Box 8"/>
          <p:cNvSpPr/>
          <p:nvPr/>
        </p:nvSpPr>
        <p:spPr>
          <a:xfrm>
            <a:off x="152640" y="5032800"/>
            <a:ext cx="4571280" cy="9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s-ES" sz="700" b="0" u="none" strike="noStrike">
                <a:solidFill>
                  <a:srgbClr val="595959"/>
                </a:solidFill>
                <a:effectLst/>
                <a:uFillTx/>
                <a:latin typeface="Arial"/>
                <a:ea typeface="DejaVu Sans"/>
              </a:rPr>
              <a:t>Gestor de Ventas e Inventario</a:t>
            </a:r>
            <a:endParaRPr lang="es-E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Box 9"/>
          <p:cNvSpPr/>
          <p:nvPr/>
        </p:nvSpPr>
        <p:spPr>
          <a:xfrm>
            <a:off x="5943600" y="5032800"/>
            <a:ext cx="3047040" cy="9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>
              <a:lnSpc>
                <a:spcPct val="100000"/>
              </a:lnSpc>
            </a:pPr>
            <a:r>
              <a:rPr lang="es-ES" sz="700" b="0" u="none" strike="noStrike">
                <a:solidFill>
                  <a:srgbClr val="595959"/>
                </a:solidFill>
                <a:effectLst/>
                <a:uFillTx/>
                <a:latin typeface="Arial"/>
                <a:ea typeface="DejaVu Sans"/>
              </a:rPr>
              <a:t>Hernández, Edelyn - CI: 28109107</a:t>
            </a:r>
            <a:endParaRPr lang="es-E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3" name="Picture 10" descr="FD_FD4_Tasa_BCV.png"/>
          <p:cNvPicPr/>
          <p:nvPr/>
        </p:nvPicPr>
        <p:blipFill>
          <a:blip r:embed="rId2"/>
          <a:stretch/>
        </p:blipFill>
        <p:spPr>
          <a:xfrm>
            <a:off x="659520" y="660240"/>
            <a:ext cx="3276720" cy="2102400"/>
          </a:xfrm>
          <a:prstGeom prst="rect">
            <a:avLst/>
          </a:prstGeom>
          <a:noFill/>
          <a:ln w="9525">
            <a:solidFill>
              <a:srgbClr val="B4C7E7"/>
            </a:solidFill>
            <a:round/>
          </a:ln>
        </p:spPr>
      </p:pic>
      <p:pic>
        <p:nvPicPr>
          <p:cNvPr id="254" name="Picture 11" descr="FD_FD5_Reportes_Generados.png"/>
          <p:cNvPicPr/>
          <p:nvPr/>
        </p:nvPicPr>
        <p:blipFill>
          <a:blip r:embed="rId3"/>
          <a:stretch/>
        </p:blipFill>
        <p:spPr>
          <a:xfrm>
            <a:off x="5207040" y="660240"/>
            <a:ext cx="3276720" cy="2102400"/>
          </a:xfrm>
          <a:prstGeom prst="rect">
            <a:avLst/>
          </a:prstGeom>
          <a:noFill/>
          <a:ln w="9525">
            <a:solidFill>
              <a:srgbClr val="B4C7E7"/>
            </a:solidFill>
            <a:round/>
          </a:ln>
        </p:spPr>
      </p:pic>
      <p:pic>
        <p:nvPicPr>
          <p:cNvPr id="255" name="Picture 12" descr="FD_FD6_Datos_de_Usuario.png"/>
          <p:cNvPicPr/>
          <p:nvPr/>
        </p:nvPicPr>
        <p:blipFill>
          <a:blip r:embed="rId4"/>
          <a:stretch/>
        </p:blipFill>
        <p:spPr>
          <a:xfrm>
            <a:off x="2933280" y="2818080"/>
            <a:ext cx="3276720" cy="2102400"/>
          </a:xfrm>
          <a:prstGeom prst="rect">
            <a:avLst/>
          </a:prstGeom>
          <a:noFill/>
          <a:ln w="9525">
            <a:solidFill>
              <a:srgbClr val="B4C7E7"/>
            </a:solidFill>
            <a:round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Rectangle 1"/>
          <p:cNvSpPr/>
          <p:nvPr/>
        </p:nvSpPr>
        <p:spPr>
          <a:xfrm>
            <a:off x="0" y="0"/>
            <a:ext cx="9143280" cy="5324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257" name="Picture 2" descr="escudo.png"/>
          <p:cNvPicPr/>
          <p:nvPr/>
        </p:nvPicPr>
        <p:blipFill>
          <a:blip r:embed="rId1"/>
          <a:stretch/>
        </p:blipFill>
        <p:spPr>
          <a:xfrm>
            <a:off x="152640" y="88560"/>
            <a:ext cx="354960" cy="354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8" name="TextBox 3"/>
          <p:cNvSpPr/>
          <p:nvPr/>
        </p:nvSpPr>
        <p:spPr>
          <a:xfrm>
            <a:off x="634680" y="147240"/>
            <a:ext cx="27424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s-ES" sz="1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PROYECTO FINAL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Box 4"/>
          <p:cNvSpPr/>
          <p:nvPr/>
        </p:nvSpPr>
        <p:spPr>
          <a:xfrm>
            <a:off x="7863840" y="194760"/>
            <a:ext cx="1123920" cy="14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>
              <a:lnSpc>
                <a:spcPct val="100000"/>
              </a:lnSpc>
            </a:pPr>
            <a:r>
              <a:rPr lang="es-ES" sz="1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22/31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Rectangle 5"/>
          <p:cNvSpPr/>
          <p:nvPr/>
        </p:nvSpPr>
        <p:spPr>
          <a:xfrm>
            <a:off x="0" y="533160"/>
            <a:ext cx="9143280" cy="354960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Box 6"/>
          <p:cNvSpPr/>
          <p:nvPr/>
        </p:nvSpPr>
        <p:spPr>
          <a:xfrm>
            <a:off x="190080" y="610920"/>
            <a:ext cx="822888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s-ES" sz="13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DIAGRAMA ENTIDAD – RELACIÓN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Rectangle 7"/>
          <p:cNvSpPr/>
          <p:nvPr/>
        </p:nvSpPr>
        <p:spPr>
          <a:xfrm>
            <a:off x="0" y="4966200"/>
            <a:ext cx="9143280" cy="10080"/>
          </a:xfrm>
          <a:prstGeom prst="rect">
            <a:avLst/>
          </a:prstGeom>
          <a:solidFill>
            <a:srgbClr val="B4C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Box 8"/>
          <p:cNvSpPr/>
          <p:nvPr/>
        </p:nvSpPr>
        <p:spPr>
          <a:xfrm>
            <a:off x="152640" y="5007240"/>
            <a:ext cx="4571280" cy="9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s-ES" sz="700" b="0" u="none" strike="noStrike">
                <a:solidFill>
                  <a:srgbClr val="595959"/>
                </a:solidFill>
                <a:effectLst/>
                <a:uFillTx/>
                <a:latin typeface="Arial"/>
                <a:ea typeface="DejaVu Sans"/>
              </a:rPr>
              <a:t>Gestor de Ventas e Inventario</a:t>
            </a:r>
            <a:endParaRPr lang="es-E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Box 9"/>
          <p:cNvSpPr/>
          <p:nvPr/>
        </p:nvSpPr>
        <p:spPr>
          <a:xfrm>
            <a:off x="5943600" y="5007240"/>
            <a:ext cx="3047040" cy="9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>
              <a:lnSpc>
                <a:spcPct val="100000"/>
              </a:lnSpc>
            </a:pPr>
            <a:r>
              <a:rPr lang="es-ES" sz="700" b="0" u="none" strike="noStrike">
                <a:solidFill>
                  <a:srgbClr val="595959"/>
                </a:solidFill>
                <a:effectLst/>
                <a:uFillTx/>
                <a:latin typeface="Arial"/>
                <a:ea typeface="DejaVu Sans"/>
              </a:rPr>
              <a:t>Hernández, Edelyn - CI: 28109107</a:t>
            </a:r>
            <a:endParaRPr lang="es-E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5" name="Picture 10" descr="ER_Entidad_Relacion.png"/>
          <p:cNvPicPr/>
          <p:nvPr/>
        </p:nvPicPr>
        <p:blipFill>
          <a:blip r:embed="rId2"/>
          <a:stretch/>
        </p:blipFill>
        <p:spPr>
          <a:xfrm>
            <a:off x="629992" y="1148400"/>
            <a:ext cx="7884015" cy="3739896"/>
          </a:xfrm>
          <a:prstGeom prst="rect">
            <a:avLst/>
          </a:prstGeom>
          <a:noFill/>
          <a:ln w="9525">
            <a:solidFill>
              <a:srgbClr val="B4C7E7"/>
            </a:solidFill>
            <a:round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Rectangle 1"/>
          <p:cNvSpPr/>
          <p:nvPr/>
        </p:nvSpPr>
        <p:spPr>
          <a:xfrm>
            <a:off x="0" y="0"/>
            <a:ext cx="9143280" cy="3798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267" name="Picture 2" descr="escudo.png"/>
          <p:cNvPicPr/>
          <p:nvPr/>
        </p:nvPicPr>
        <p:blipFill>
          <a:blip r:embed="rId1"/>
          <a:stretch/>
        </p:blipFill>
        <p:spPr>
          <a:xfrm>
            <a:off x="152640" y="64080"/>
            <a:ext cx="252720" cy="25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8" name="TextBox 3"/>
          <p:cNvSpPr/>
          <p:nvPr/>
        </p:nvSpPr>
        <p:spPr>
          <a:xfrm>
            <a:off x="533160" y="105120"/>
            <a:ext cx="2742480" cy="17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s-ES" sz="12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PROYECTO FINAL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Box 4"/>
          <p:cNvSpPr/>
          <p:nvPr/>
        </p:nvSpPr>
        <p:spPr>
          <a:xfrm>
            <a:off x="7863840" y="118800"/>
            <a:ext cx="1123920" cy="14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>
              <a:lnSpc>
                <a:spcPct val="100000"/>
              </a:lnSpc>
            </a:pPr>
            <a:r>
              <a:rPr lang="es-ES" sz="1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23/31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Rectangle 5"/>
          <p:cNvSpPr/>
          <p:nvPr/>
        </p:nvSpPr>
        <p:spPr>
          <a:xfrm>
            <a:off x="0" y="381240"/>
            <a:ext cx="9143280" cy="252720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Box 6"/>
          <p:cNvSpPr/>
          <p:nvPr/>
        </p:nvSpPr>
        <p:spPr>
          <a:xfrm>
            <a:off x="190080" y="431640"/>
            <a:ext cx="8228880" cy="1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s-ES" sz="11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DICCIONARIO DE DATOS (E-R) — 1/4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Rectangle 7"/>
          <p:cNvSpPr/>
          <p:nvPr/>
        </p:nvSpPr>
        <p:spPr>
          <a:xfrm>
            <a:off x="0" y="5016240"/>
            <a:ext cx="9143280" cy="10080"/>
          </a:xfrm>
          <a:prstGeom prst="rect">
            <a:avLst/>
          </a:prstGeom>
          <a:solidFill>
            <a:srgbClr val="B4C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Box 8"/>
          <p:cNvSpPr/>
          <p:nvPr/>
        </p:nvSpPr>
        <p:spPr>
          <a:xfrm>
            <a:off x="152640" y="5032800"/>
            <a:ext cx="4571280" cy="9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s-ES" sz="700" b="0" u="none" strike="noStrike">
                <a:solidFill>
                  <a:srgbClr val="595959"/>
                </a:solidFill>
                <a:effectLst/>
                <a:uFillTx/>
                <a:latin typeface="Arial"/>
                <a:ea typeface="DejaVu Sans"/>
              </a:rPr>
              <a:t>Gestor de Ventas e Inventario</a:t>
            </a:r>
            <a:endParaRPr lang="es-E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Box 9"/>
          <p:cNvSpPr/>
          <p:nvPr/>
        </p:nvSpPr>
        <p:spPr>
          <a:xfrm>
            <a:off x="5943600" y="5032800"/>
            <a:ext cx="3047040" cy="9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>
              <a:lnSpc>
                <a:spcPct val="100000"/>
              </a:lnSpc>
            </a:pPr>
            <a:r>
              <a:rPr lang="es-ES" sz="700" b="0" u="none" strike="noStrike">
                <a:solidFill>
                  <a:srgbClr val="595959"/>
                </a:solidFill>
                <a:effectLst/>
                <a:uFillTx/>
                <a:latin typeface="Arial"/>
                <a:ea typeface="DejaVu Sans"/>
              </a:rPr>
              <a:t>Hernández, Edelyn - CI: 28109107</a:t>
            </a:r>
            <a:endParaRPr lang="es-E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5" name="Picture 10" descr="DD_ER_1_Catalogo_e_Inventario.png"/>
          <p:cNvPicPr/>
          <p:nvPr/>
        </p:nvPicPr>
        <p:blipFill>
          <a:blip r:embed="rId2"/>
          <a:stretch/>
        </p:blipFill>
        <p:spPr>
          <a:xfrm>
            <a:off x="834840" y="660240"/>
            <a:ext cx="7473600" cy="4296960"/>
          </a:xfrm>
          <a:prstGeom prst="rect">
            <a:avLst/>
          </a:prstGeom>
          <a:noFill/>
          <a:ln w="9525">
            <a:solidFill>
              <a:srgbClr val="B4C7E7"/>
            </a:solidFill>
            <a:round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Rectangle 1"/>
          <p:cNvSpPr/>
          <p:nvPr/>
        </p:nvSpPr>
        <p:spPr>
          <a:xfrm>
            <a:off x="0" y="0"/>
            <a:ext cx="9143280" cy="3798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277" name="Picture 2" descr="escudo.png"/>
          <p:cNvPicPr/>
          <p:nvPr/>
        </p:nvPicPr>
        <p:blipFill>
          <a:blip r:embed="rId1"/>
          <a:stretch/>
        </p:blipFill>
        <p:spPr>
          <a:xfrm>
            <a:off x="152640" y="64080"/>
            <a:ext cx="252720" cy="25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8" name="TextBox 3"/>
          <p:cNvSpPr/>
          <p:nvPr/>
        </p:nvSpPr>
        <p:spPr>
          <a:xfrm>
            <a:off x="533160" y="105120"/>
            <a:ext cx="2742480" cy="17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s-ES" sz="12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PROYECTO FINAL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Box 4"/>
          <p:cNvSpPr/>
          <p:nvPr/>
        </p:nvSpPr>
        <p:spPr>
          <a:xfrm>
            <a:off x="7863840" y="118800"/>
            <a:ext cx="1123920" cy="14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>
              <a:lnSpc>
                <a:spcPct val="100000"/>
              </a:lnSpc>
            </a:pPr>
            <a:r>
              <a:rPr lang="es-ES" sz="1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24/31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Rectangle 5"/>
          <p:cNvSpPr/>
          <p:nvPr/>
        </p:nvSpPr>
        <p:spPr>
          <a:xfrm>
            <a:off x="0" y="381240"/>
            <a:ext cx="9143280" cy="252720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Box 6"/>
          <p:cNvSpPr/>
          <p:nvPr/>
        </p:nvSpPr>
        <p:spPr>
          <a:xfrm>
            <a:off x="190080" y="431640"/>
            <a:ext cx="8228880" cy="1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s-ES" sz="11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DICCIONARIO DE DATOS (E-R) — 2/4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Rectangle 7"/>
          <p:cNvSpPr/>
          <p:nvPr/>
        </p:nvSpPr>
        <p:spPr>
          <a:xfrm>
            <a:off x="0" y="5016240"/>
            <a:ext cx="9143280" cy="10080"/>
          </a:xfrm>
          <a:prstGeom prst="rect">
            <a:avLst/>
          </a:prstGeom>
          <a:solidFill>
            <a:srgbClr val="B4C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Box 8"/>
          <p:cNvSpPr/>
          <p:nvPr/>
        </p:nvSpPr>
        <p:spPr>
          <a:xfrm>
            <a:off x="152640" y="5032800"/>
            <a:ext cx="4571280" cy="9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s-ES" sz="700" b="0" u="none" strike="noStrike">
                <a:solidFill>
                  <a:srgbClr val="595959"/>
                </a:solidFill>
                <a:effectLst/>
                <a:uFillTx/>
                <a:latin typeface="Arial"/>
                <a:ea typeface="DejaVu Sans"/>
              </a:rPr>
              <a:t>Gestor de Ventas e Inventario</a:t>
            </a:r>
            <a:endParaRPr lang="es-E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Box 9"/>
          <p:cNvSpPr/>
          <p:nvPr/>
        </p:nvSpPr>
        <p:spPr>
          <a:xfrm>
            <a:off x="5943600" y="5032800"/>
            <a:ext cx="3047040" cy="9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>
              <a:lnSpc>
                <a:spcPct val="100000"/>
              </a:lnSpc>
            </a:pPr>
            <a:r>
              <a:rPr lang="es-ES" sz="700" b="0" u="none" strike="noStrike">
                <a:solidFill>
                  <a:srgbClr val="595959"/>
                </a:solidFill>
                <a:effectLst/>
                <a:uFillTx/>
                <a:latin typeface="Arial"/>
                <a:ea typeface="DejaVu Sans"/>
              </a:rPr>
              <a:t>Hernández, Edelyn - CI: 28109107</a:t>
            </a:r>
            <a:endParaRPr lang="es-E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5" name="Picture 10" descr="DD_ER_2_Ventas_y_Pagos.png"/>
          <p:cNvPicPr/>
          <p:nvPr/>
        </p:nvPicPr>
        <p:blipFill>
          <a:blip r:embed="rId2"/>
          <a:stretch/>
        </p:blipFill>
        <p:spPr>
          <a:xfrm>
            <a:off x="834840" y="660240"/>
            <a:ext cx="7473600" cy="4296960"/>
          </a:xfrm>
          <a:prstGeom prst="rect">
            <a:avLst/>
          </a:prstGeom>
          <a:noFill/>
          <a:ln w="9525">
            <a:solidFill>
              <a:srgbClr val="B4C7E7"/>
            </a:solidFill>
            <a:round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Rectangle 1"/>
          <p:cNvSpPr/>
          <p:nvPr/>
        </p:nvSpPr>
        <p:spPr>
          <a:xfrm>
            <a:off x="0" y="0"/>
            <a:ext cx="9143280" cy="3798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287" name="Picture 2" descr="escudo.png"/>
          <p:cNvPicPr/>
          <p:nvPr/>
        </p:nvPicPr>
        <p:blipFill>
          <a:blip r:embed="rId1"/>
          <a:stretch/>
        </p:blipFill>
        <p:spPr>
          <a:xfrm>
            <a:off x="152640" y="64080"/>
            <a:ext cx="252720" cy="25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8" name="TextBox 3"/>
          <p:cNvSpPr/>
          <p:nvPr/>
        </p:nvSpPr>
        <p:spPr>
          <a:xfrm>
            <a:off x="533160" y="105120"/>
            <a:ext cx="2742480" cy="17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s-ES" sz="12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PROYECTO FINAL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Box 4"/>
          <p:cNvSpPr/>
          <p:nvPr/>
        </p:nvSpPr>
        <p:spPr>
          <a:xfrm>
            <a:off x="7863840" y="118800"/>
            <a:ext cx="1123920" cy="14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>
              <a:lnSpc>
                <a:spcPct val="100000"/>
              </a:lnSpc>
            </a:pPr>
            <a:r>
              <a:rPr lang="es-ES" sz="1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25/31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Rectangle 5"/>
          <p:cNvSpPr/>
          <p:nvPr/>
        </p:nvSpPr>
        <p:spPr>
          <a:xfrm>
            <a:off x="0" y="381240"/>
            <a:ext cx="9143280" cy="252720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Box 6"/>
          <p:cNvSpPr/>
          <p:nvPr/>
        </p:nvSpPr>
        <p:spPr>
          <a:xfrm>
            <a:off x="190080" y="431640"/>
            <a:ext cx="8228880" cy="1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s-ES" sz="11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DICCIONARIO DE DATOS (E-R) — 3/4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Rectangle 7"/>
          <p:cNvSpPr/>
          <p:nvPr/>
        </p:nvSpPr>
        <p:spPr>
          <a:xfrm>
            <a:off x="0" y="5016240"/>
            <a:ext cx="9143280" cy="10080"/>
          </a:xfrm>
          <a:prstGeom prst="rect">
            <a:avLst/>
          </a:prstGeom>
          <a:solidFill>
            <a:srgbClr val="B4C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Box 8"/>
          <p:cNvSpPr/>
          <p:nvPr/>
        </p:nvSpPr>
        <p:spPr>
          <a:xfrm>
            <a:off x="152640" y="5032800"/>
            <a:ext cx="4571280" cy="9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s-ES" sz="700" b="0" u="none" strike="noStrike">
                <a:solidFill>
                  <a:srgbClr val="595959"/>
                </a:solidFill>
                <a:effectLst/>
                <a:uFillTx/>
                <a:latin typeface="Arial"/>
                <a:ea typeface="DejaVu Sans"/>
              </a:rPr>
              <a:t>Gestor de Ventas e Inventario</a:t>
            </a:r>
            <a:endParaRPr lang="es-E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Box 9"/>
          <p:cNvSpPr/>
          <p:nvPr/>
        </p:nvSpPr>
        <p:spPr>
          <a:xfrm>
            <a:off x="5943600" y="5032800"/>
            <a:ext cx="3047040" cy="9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>
              <a:lnSpc>
                <a:spcPct val="100000"/>
              </a:lnSpc>
            </a:pPr>
            <a:r>
              <a:rPr lang="es-ES" sz="700" b="0" u="none" strike="noStrike">
                <a:solidFill>
                  <a:srgbClr val="595959"/>
                </a:solidFill>
                <a:effectLst/>
                <a:uFillTx/>
                <a:latin typeface="Arial"/>
                <a:ea typeface="DejaVu Sans"/>
              </a:rPr>
              <a:t>Hernández, Edelyn - CI: 28109107</a:t>
            </a:r>
            <a:endParaRPr lang="es-E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5" name="Picture 10" descr="DD_ER_3_Caja_Tasas_Usuarios.png"/>
          <p:cNvPicPr/>
          <p:nvPr/>
        </p:nvPicPr>
        <p:blipFill>
          <a:blip r:embed="rId2"/>
          <a:stretch/>
        </p:blipFill>
        <p:spPr>
          <a:xfrm>
            <a:off x="834840" y="660240"/>
            <a:ext cx="7473600" cy="4296960"/>
          </a:xfrm>
          <a:prstGeom prst="rect">
            <a:avLst/>
          </a:prstGeom>
          <a:noFill/>
          <a:ln w="9525">
            <a:solidFill>
              <a:srgbClr val="B4C7E7"/>
            </a:solidFill>
            <a:round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Rectangle 1"/>
          <p:cNvSpPr/>
          <p:nvPr/>
        </p:nvSpPr>
        <p:spPr>
          <a:xfrm>
            <a:off x="0" y="0"/>
            <a:ext cx="9143280" cy="3798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297" name="Picture 2" descr="escudo.png"/>
          <p:cNvPicPr/>
          <p:nvPr/>
        </p:nvPicPr>
        <p:blipFill>
          <a:blip r:embed="rId1"/>
          <a:stretch/>
        </p:blipFill>
        <p:spPr>
          <a:xfrm>
            <a:off x="152640" y="64080"/>
            <a:ext cx="252720" cy="25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8" name="TextBox 3"/>
          <p:cNvSpPr/>
          <p:nvPr/>
        </p:nvSpPr>
        <p:spPr>
          <a:xfrm>
            <a:off x="533160" y="105120"/>
            <a:ext cx="2742480" cy="17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s-ES" sz="12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PROYECTO FINAL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Box 4"/>
          <p:cNvSpPr/>
          <p:nvPr/>
        </p:nvSpPr>
        <p:spPr>
          <a:xfrm>
            <a:off x="7863840" y="118800"/>
            <a:ext cx="1123920" cy="14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>
              <a:lnSpc>
                <a:spcPct val="100000"/>
              </a:lnSpc>
            </a:pPr>
            <a:r>
              <a:rPr lang="es-ES" sz="1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26/31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Rectangle 5"/>
          <p:cNvSpPr/>
          <p:nvPr/>
        </p:nvSpPr>
        <p:spPr>
          <a:xfrm>
            <a:off x="0" y="381240"/>
            <a:ext cx="9143280" cy="252720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Box 6"/>
          <p:cNvSpPr/>
          <p:nvPr/>
        </p:nvSpPr>
        <p:spPr>
          <a:xfrm>
            <a:off x="190080" y="431640"/>
            <a:ext cx="8228880" cy="1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s-ES" sz="11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DICCIONARIO DE DATOS (E-R) — 4/4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Rectangle 7"/>
          <p:cNvSpPr/>
          <p:nvPr/>
        </p:nvSpPr>
        <p:spPr>
          <a:xfrm>
            <a:off x="0" y="5016240"/>
            <a:ext cx="9143280" cy="10080"/>
          </a:xfrm>
          <a:prstGeom prst="rect">
            <a:avLst/>
          </a:prstGeom>
          <a:solidFill>
            <a:srgbClr val="B4C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Box 8"/>
          <p:cNvSpPr/>
          <p:nvPr/>
        </p:nvSpPr>
        <p:spPr>
          <a:xfrm>
            <a:off x="152640" y="5032800"/>
            <a:ext cx="4571280" cy="9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s-ES" sz="700" b="0" u="none" strike="noStrike">
                <a:solidFill>
                  <a:srgbClr val="595959"/>
                </a:solidFill>
                <a:effectLst/>
                <a:uFillTx/>
                <a:latin typeface="Arial"/>
                <a:ea typeface="DejaVu Sans"/>
              </a:rPr>
              <a:t>Gestor de Ventas e Inventario</a:t>
            </a:r>
            <a:endParaRPr lang="es-E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Box 9"/>
          <p:cNvSpPr/>
          <p:nvPr/>
        </p:nvSpPr>
        <p:spPr>
          <a:xfrm>
            <a:off x="5943600" y="5032800"/>
            <a:ext cx="3047040" cy="9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>
              <a:lnSpc>
                <a:spcPct val="100000"/>
              </a:lnSpc>
            </a:pPr>
            <a:r>
              <a:rPr lang="es-ES" sz="700" b="0" u="none" strike="noStrike">
                <a:solidFill>
                  <a:srgbClr val="595959"/>
                </a:solidFill>
                <a:effectLst/>
                <a:uFillTx/>
                <a:latin typeface="Arial"/>
                <a:ea typeface="DejaVu Sans"/>
              </a:rPr>
              <a:t>Hernández, Edelyn - CI: 28109107</a:t>
            </a:r>
            <a:endParaRPr lang="es-E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5" name="Picture 10" descr="DD_ER_4_Reportes.png"/>
          <p:cNvPicPr/>
          <p:nvPr/>
        </p:nvPicPr>
        <p:blipFill>
          <a:blip r:embed="rId2"/>
          <a:stretch/>
        </p:blipFill>
        <p:spPr>
          <a:xfrm>
            <a:off x="834840" y="660240"/>
            <a:ext cx="7473600" cy="4296960"/>
          </a:xfrm>
          <a:prstGeom prst="rect">
            <a:avLst/>
          </a:prstGeom>
          <a:noFill/>
          <a:ln w="9525">
            <a:solidFill>
              <a:srgbClr val="B4C7E7"/>
            </a:solidFill>
            <a:round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Rectangle 1"/>
          <p:cNvSpPr/>
          <p:nvPr/>
        </p:nvSpPr>
        <p:spPr>
          <a:xfrm>
            <a:off x="0" y="0"/>
            <a:ext cx="9143280" cy="5324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307" name="Picture 2" descr="escudo.png"/>
          <p:cNvPicPr/>
          <p:nvPr/>
        </p:nvPicPr>
        <p:blipFill>
          <a:blip r:embed="rId1"/>
          <a:stretch/>
        </p:blipFill>
        <p:spPr>
          <a:xfrm>
            <a:off x="152640" y="88560"/>
            <a:ext cx="354960" cy="354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8" name="TextBox 3"/>
          <p:cNvSpPr/>
          <p:nvPr/>
        </p:nvSpPr>
        <p:spPr>
          <a:xfrm>
            <a:off x="634680" y="147240"/>
            <a:ext cx="27424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s-ES" sz="1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PROYECTO FINAL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Box 4"/>
          <p:cNvSpPr/>
          <p:nvPr/>
        </p:nvSpPr>
        <p:spPr>
          <a:xfrm>
            <a:off x="7863840" y="194760"/>
            <a:ext cx="1123920" cy="14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>
              <a:lnSpc>
                <a:spcPct val="100000"/>
              </a:lnSpc>
            </a:pPr>
            <a:r>
              <a:rPr lang="es-ES" sz="1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27/31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Rectangle 5"/>
          <p:cNvSpPr/>
          <p:nvPr/>
        </p:nvSpPr>
        <p:spPr>
          <a:xfrm>
            <a:off x="0" y="533160"/>
            <a:ext cx="9143280" cy="354960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Box 6"/>
          <p:cNvSpPr/>
          <p:nvPr/>
        </p:nvSpPr>
        <p:spPr>
          <a:xfrm>
            <a:off x="190080" y="610920"/>
            <a:ext cx="822888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s-ES" sz="13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INTERFACES DE ENTRADA (MÓDULOS DE CAPTURA)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Rectangle 7"/>
          <p:cNvSpPr/>
          <p:nvPr/>
        </p:nvSpPr>
        <p:spPr>
          <a:xfrm>
            <a:off x="0" y="4966200"/>
            <a:ext cx="9143280" cy="10080"/>
          </a:xfrm>
          <a:prstGeom prst="rect">
            <a:avLst/>
          </a:prstGeom>
          <a:solidFill>
            <a:srgbClr val="B4C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Box 8"/>
          <p:cNvSpPr/>
          <p:nvPr/>
        </p:nvSpPr>
        <p:spPr>
          <a:xfrm>
            <a:off x="152640" y="5007240"/>
            <a:ext cx="4571280" cy="9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s-ES" sz="700" b="0" u="none" strike="noStrike">
                <a:solidFill>
                  <a:srgbClr val="595959"/>
                </a:solidFill>
                <a:effectLst/>
                <a:uFillTx/>
                <a:latin typeface="Arial"/>
                <a:ea typeface="DejaVu Sans"/>
              </a:rPr>
              <a:t>Gestor de Ventas e Inventario</a:t>
            </a:r>
            <a:endParaRPr lang="es-E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Box 9"/>
          <p:cNvSpPr/>
          <p:nvPr/>
        </p:nvSpPr>
        <p:spPr>
          <a:xfrm>
            <a:off x="5943600" y="5007240"/>
            <a:ext cx="3047040" cy="9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>
              <a:lnSpc>
                <a:spcPct val="100000"/>
              </a:lnSpc>
            </a:pPr>
            <a:r>
              <a:rPr lang="es-ES" sz="700" b="0" u="none" strike="noStrike">
                <a:solidFill>
                  <a:srgbClr val="595959"/>
                </a:solidFill>
                <a:effectLst/>
                <a:uFillTx/>
                <a:latin typeface="Arial"/>
                <a:ea typeface="DejaVu Sans"/>
              </a:rPr>
              <a:t>Hernández, Edelyn - CI: 28109107</a:t>
            </a:r>
            <a:endParaRPr lang="es-E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Rectangle 10"/>
          <p:cNvSpPr/>
          <p:nvPr/>
        </p:nvSpPr>
        <p:spPr>
          <a:xfrm>
            <a:off x="75960" y="915480"/>
            <a:ext cx="502200" cy="24840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9440" rIns="90000" bIns="-1944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Box 11"/>
          <p:cNvSpPr/>
          <p:nvPr/>
        </p:nvSpPr>
        <p:spPr>
          <a:xfrm>
            <a:off x="75960" y="1061640"/>
            <a:ext cx="44442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s-ES" sz="1000" b="1" u="none" strike="noStrike">
                <a:solidFill>
                  <a:srgbClr val="1F3864"/>
                </a:solidFill>
                <a:effectLst/>
                <a:uFillTx/>
                <a:latin typeface="Arial"/>
                <a:ea typeface="DejaVu Sans"/>
              </a:rPr>
              <a:t>Ventana de Iniciar Sesión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7" name="Picture 12" descr="iniciar sesion - iu entrada .png"/>
          <p:cNvPicPr/>
          <p:nvPr/>
        </p:nvPicPr>
        <p:blipFill>
          <a:blip r:embed="rId2"/>
          <a:stretch/>
        </p:blipFill>
        <p:spPr>
          <a:xfrm>
            <a:off x="1405080" y="1317600"/>
            <a:ext cx="1785600" cy="1439280"/>
          </a:xfrm>
          <a:prstGeom prst="rect">
            <a:avLst/>
          </a:prstGeom>
          <a:noFill/>
          <a:ln w="9525">
            <a:solidFill>
              <a:srgbClr val="B4C7E7"/>
            </a:solidFill>
            <a:round/>
          </a:ln>
        </p:spPr>
      </p:pic>
      <p:sp>
        <p:nvSpPr>
          <p:cNvPr id="318" name="Rectangle 13"/>
          <p:cNvSpPr/>
          <p:nvPr/>
        </p:nvSpPr>
        <p:spPr>
          <a:xfrm>
            <a:off x="4623120" y="915480"/>
            <a:ext cx="502200" cy="24840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9440" rIns="90000" bIns="-1944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Box 14"/>
          <p:cNvSpPr/>
          <p:nvPr/>
        </p:nvSpPr>
        <p:spPr>
          <a:xfrm>
            <a:off x="4623120" y="1061640"/>
            <a:ext cx="44442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s-ES" sz="1000" b="1" u="none" strike="noStrike">
                <a:solidFill>
                  <a:srgbClr val="1F3864"/>
                </a:solidFill>
                <a:effectLst/>
                <a:uFillTx/>
                <a:latin typeface="Arial"/>
                <a:ea typeface="DejaVu Sans"/>
              </a:rPr>
              <a:t>Formulario de Producto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0" name="Picture 15" descr="agregar producto - iu entrada .png"/>
          <p:cNvPicPr/>
          <p:nvPr/>
        </p:nvPicPr>
        <p:blipFill>
          <a:blip r:embed="rId3"/>
          <a:stretch/>
        </p:blipFill>
        <p:spPr>
          <a:xfrm>
            <a:off x="5754960" y="1317600"/>
            <a:ext cx="2180880" cy="1439280"/>
          </a:xfrm>
          <a:prstGeom prst="rect">
            <a:avLst/>
          </a:prstGeom>
          <a:noFill/>
          <a:ln w="9525">
            <a:solidFill>
              <a:srgbClr val="B4C7E7"/>
            </a:solidFill>
            <a:round/>
          </a:ln>
        </p:spPr>
      </p:pic>
      <p:sp>
        <p:nvSpPr>
          <p:cNvPr id="321" name="Rectangle 16"/>
          <p:cNvSpPr/>
          <p:nvPr/>
        </p:nvSpPr>
        <p:spPr>
          <a:xfrm>
            <a:off x="75960" y="2949840"/>
            <a:ext cx="502200" cy="24840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9440" rIns="90000" bIns="-1944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Box 17"/>
          <p:cNvSpPr/>
          <p:nvPr/>
        </p:nvSpPr>
        <p:spPr>
          <a:xfrm>
            <a:off x="75960" y="3096000"/>
            <a:ext cx="44442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s-ES" sz="1000" b="1" u="none" strike="noStrike">
                <a:solidFill>
                  <a:srgbClr val="1F3864"/>
                </a:solidFill>
                <a:effectLst/>
                <a:uFillTx/>
                <a:latin typeface="Arial"/>
                <a:ea typeface="DejaVu Sans"/>
              </a:rPr>
              <a:t>Módulo de Ventas (POS)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3" name="Picture 18" descr="modulo de ventas - iu entrada .png"/>
          <p:cNvPicPr/>
          <p:nvPr/>
        </p:nvPicPr>
        <p:blipFill>
          <a:blip r:embed="rId4"/>
          <a:stretch/>
        </p:blipFill>
        <p:spPr>
          <a:xfrm>
            <a:off x="1213200" y="3352320"/>
            <a:ext cx="2169720" cy="1439280"/>
          </a:xfrm>
          <a:prstGeom prst="rect">
            <a:avLst/>
          </a:prstGeom>
          <a:noFill/>
          <a:ln w="9525">
            <a:solidFill>
              <a:srgbClr val="B4C7E7"/>
            </a:solidFill>
            <a:round/>
          </a:ln>
        </p:spPr>
      </p:pic>
      <p:sp>
        <p:nvSpPr>
          <p:cNvPr id="324" name="Rectangle 19"/>
          <p:cNvSpPr/>
          <p:nvPr/>
        </p:nvSpPr>
        <p:spPr>
          <a:xfrm>
            <a:off x="4623120" y="2949840"/>
            <a:ext cx="502200" cy="24840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9440" rIns="90000" bIns="-1944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Box 20"/>
          <p:cNvSpPr/>
          <p:nvPr/>
        </p:nvSpPr>
        <p:spPr>
          <a:xfrm>
            <a:off x="4623120" y="3096000"/>
            <a:ext cx="44442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s-ES" sz="1000" b="1" u="none" strike="noStrike">
                <a:solidFill>
                  <a:srgbClr val="1F3864"/>
                </a:solidFill>
                <a:effectLst/>
                <a:uFillTx/>
                <a:latin typeface="Arial"/>
                <a:ea typeface="DejaVu Sans"/>
              </a:rPr>
              <a:t>Gestión de Usuarios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6" name="Picture 21" descr="gestion de usuario - entrada .png"/>
          <p:cNvPicPr/>
          <p:nvPr/>
        </p:nvPicPr>
        <p:blipFill>
          <a:blip r:embed="rId5"/>
          <a:stretch/>
        </p:blipFill>
        <p:spPr>
          <a:xfrm>
            <a:off x="5758560" y="3352320"/>
            <a:ext cx="2173680" cy="1439280"/>
          </a:xfrm>
          <a:prstGeom prst="rect">
            <a:avLst/>
          </a:prstGeom>
          <a:noFill/>
          <a:ln w="9525">
            <a:solidFill>
              <a:srgbClr val="B4C7E7"/>
            </a:solidFill>
            <a:round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Rectangle 1"/>
          <p:cNvSpPr/>
          <p:nvPr/>
        </p:nvSpPr>
        <p:spPr>
          <a:xfrm>
            <a:off x="0" y="0"/>
            <a:ext cx="9143280" cy="5324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328" name="Picture 2" descr="escudo.png"/>
          <p:cNvPicPr/>
          <p:nvPr/>
        </p:nvPicPr>
        <p:blipFill>
          <a:blip r:embed="rId1"/>
          <a:stretch/>
        </p:blipFill>
        <p:spPr>
          <a:xfrm>
            <a:off x="152640" y="88560"/>
            <a:ext cx="354960" cy="354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9" name="TextBox 3"/>
          <p:cNvSpPr/>
          <p:nvPr/>
        </p:nvSpPr>
        <p:spPr>
          <a:xfrm>
            <a:off x="634680" y="147240"/>
            <a:ext cx="27424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s-ES" sz="1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PROYECTO FINAL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Box 4"/>
          <p:cNvSpPr/>
          <p:nvPr/>
        </p:nvSpPr>
        <p:spPr>
          <a:xfrm>
            <a:off x="7863840" y="194760"/>
            <a:ext cx="1123920" cy="14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>
              <a:lnSpc>
                <a:spcPct val="100000"/>
              </a:lnSpc>
            </a:pPr>
            <a:r>
              <a:rPr lang="es-ES" sz="1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28/31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Rectangle 5"/>
          <p:cNvSpPr/>
          <p:nvPr/>
        </p:nvSpPr>
        <p:spPr>
          <a:xfrm>
            <a:off x="0" y="533160"/>
            <a:ext cx="9143280" cy="354960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Box 6"/>
          <p:cNvSpPr/>
          <p:nvPr/>
        </p:nvSpPr>
        <p:spPr>
          <a:xfrm>
            <a:off x="190080" y="610920"/>
            <a:ext cx="822888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s-ES" sz="13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INTERFACES DE SALIDA (TABLEROS Y REPORTES)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Rectangle 7"/>
          <p:cNvSpPr/>
          <p:nvPr/>
        </p:nvSpPr>
        <p:spPr>
          <a:xfrm>
            <a:off x="0" y="4966200"/>
            <a:ext cx="9143280" cy="10080"/>
          </a:xfrm>
          <a:prstGeom prst="rect">
            <a:avLst/>
          </a:prstGeom>
          <a:solidFill>
            <a:srgbClr val="B4C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Box 8"/>
          <p:cNvSpPr/>
          <p:nvPr/>
        </p:nvSpPr>
        <p:spPr>
          <a:xfrm>
            <a:off x="152640" y="5007240"/>
            <a:ext cx="4571280" cy="9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s-ES" sz="700" b="0" u="none" strike="noStrike">
                <a:solidFill>
                  <a:srgbClr val="595959"/>
                </a:solidFill>
                <a:effectLst/>
                <a:uFillTx/>
                <a:latin typeface="Arial"/>
                <a:ea typeface="DejaVu Sans"/>
              </a:rPr>
              <a:t>Gestor de Ventas e Inventario</a:t>
            </a:r>
            <a:endParaRPr lang="es-E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Box 9"/>
          <p:cNvSpPr/>
          <p:nvPr/>
        </p:nvSpPr>
        <p:spPr>
          <a:xfrm>
            <a:off x="5943600" y="5007240"/>
            <a:ext cx="3047040" cy="9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>
              <a:lnSpc>
                <a:spcPct val="100000"/>
              </a:lnSpc>
            </a:pPr>
            <a:r>
              <a:rPr lang="es-ES" sz="700" b="0" u="none" strike="noStrike">
                <a:solidFill>
                  <a:srgbClr val="595959"/>
                </a:solidFill>
                <a:effectLst/>
                <a:uFillTx/>
                <a:latin typeface="Arial"/>
                <a:ea typeface="DejaVu Sans"/>
              </a:rPr>
              <a:t>Hernández, Edelyn - CI: 28109107</a:t>
            </a:r>
            <a:endParaRPr lang="es-E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Rectangle 10"/>
          <p:cNvSpPr/>
          <p:nvPr/>
        </p:nvSpPr>
        <p:spPr>
          <a:xfrm>
            <a:off x="279720" y="1041480"/>
            <a:ext cx="502200" cy="24840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9440" rIns="90000" bIns="-1944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Box 11"/>
          <p:cNvSpPr/>
          <p:nvPr/>
        </p:nvSpPr>
        <p:spPr>
          <a:xfrm>
            <a:off x="279720" y="1207080"/>
            <a:ext cx="4185360" cy="16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2000"/>
              </a:lnSpc>
            </a:pPr>
            <a:r>
              <a:rPr lang="es-ES" sz="1050" b="1" u="none" strike="noStrike">
                <a:solidFill>
                  <a:srgbClr val="1F3864"/>
                </a:solidFill>
                <a:effectLst/>
                <a:uFillTx/>
                <a:latin typeface="Arial"/>
                <a:ea typeface="DejaVu Sans"/>
              </a:rPr>
              <a:t>Dashboard de Inicio — ventas de hoy, tasa BCV y gráfico semanal</a:t>
            </a:r>
            <a:endParaRPr lang="es-E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8" name="Picture 12" descr="dashboard - ui salida .png"/>
          <p:cNvPicPr/>
          <p:nvPr/>
        </p:nvPicPr>
        <p:blipFill>
          <a:blip r:embed="rId2"/>
          <a:stretch/>
        </p:blipFill>
        <p:spPr>
          <a:xfrm>
            <a:off x="444240" y="1934640"/>
            <a:ext cx="3856320" cy="2549160"/>
          </a:xfrm>
          <a:prstGeom prst="rect">
            <a:avLst/>
          </a:prstGeom>
          <a:noFill/>
          <a:ln w="9525">
            <a:solidFill>
              <a:srgbClr val="B4C7E7"/>
            </a:solidFill>
            <a:round/>
          </a:ln>
        </p:spPr>
      </p:pic>
      <p:sp>
        <p:nvSpPr>
          <p:cNvPr id="339" name="Rectangle 13"/>
          <p:cNvSpPr/>
          <p:nvPr/>
        </p:nvSpPr>
        <p:spPr>
          <a:xfrm>
            <a:off x="4678200" y="1041480"/>
            <a:ext cx="502200" cy="24840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9440" rIns="90000" bIns="-1944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Box 14"/>
          <p:cNvSpPr/>
          <p:nvPr/>
        </p:nvSpPr>
        <p:spPr>
          <a:xfrm>
            <a:off x="4678200" y="1207080"/>
            <a:ext cx="4185360" cy="16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2000"/>
              </a:lnSpc>
            </a:pPr>
            <a:r>
              <a:rPr lang="es-ES" sz="1050" b="1" u="none" strike="noStrike">
                <a:solidFill>
                  <a:srgbClr val="1F3864"/>
                </a:solidFill>
                <a:effectLst/>
                <a:uFillTx/>
                <a:latin typeface="Arial"/>
                <a:ea typeface="DejaVu Sans"/>
              </a:rPr>
              <a:t>Inventario — alertas de stock bajo y sin stock</a:t>
            </a:r>
            <a:endParaRPr lang="es-E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41" name="Picture 15" descr="inventario  - iu salida.png"/>
          <p:cNvPicPr/>
          <p:nvPr/>
        </p:nvPicPr>
        <p:blipFill>
          <a:blip r:embed="rId3"/>
          <a:stretch/>
        </p:blipFill>
        <p:spPr>
          <a:xfrm>
            <a:off x="4842720" y="2014560"/>
            <a:ext cx="3856320" cy="2389320"/>
          </a:xfrm>
          <a:prstGeom prst="rect">
            <a:avLst/>
          </a:prstGeom>
          <a:noFill/>
          <a:ln w="9525">
            <a:solidFill>
              <a:srgbClr val="B4C7E7"/>
            </a:solidFill>
            <a:round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Rectangle 1"/>
          <p:cNvSpPr/>
          <p:nvPr/>
        </p:nvSpPr>
        <p:spPr>
          <a:xfrm>
            <a:off x="0" y="0"/>
            <a:ext cx="9143280" cy="5324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343" name="Picture 2" descr="escudo.png"/>
          <p:cNvPicPr/>
          <p:nvPr/>
        </p:nvPicPr>
        <p:blipFill>
          <a:blip r:embed="rId1"/>
          <a:stretch/>
        </p:blipFill>
        <p:spPr>
          <a:xfrm>
            <a:off x="152640" y="88560"/>
            <a:ext cx="354960" cy="354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4" name="TextBox 3"/>
          <p:cNvSpPr/>
          <p:nvPr/>
        </p:nvSpPr>
        <p:spPr>
          <a:xfrm>
            <a:off x="634680" y="147240"/>
            <a:ext cx="27424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s-ES" sz="1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PROYECTO FINAL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Box 4"/>
          <p:cNvSpPr/>
          <p:nvPr/>
        </p:nvSpPr>
        <p:spPr>
          <a:xfrm>
            <a:off x="7863840" y="194760"/>
            <a:ext cx="1123920" cy="14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>
              <a:lnSpc>
                <a:spcPct val="100000"/>
              </a:lnSpc>
            </a:pPr>
            <a:r>
              <a:rPr lang="es-ES" sz="1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29/31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Rectangle 5"/>
          <p:cNvSpPr/>
          <p:nvPr/>
        </p:nvSpPr>
        <p:spPr>
          <a:xfrm>
            <a:off x="0" y="533160"/>
            <a:ext cx="9143280" cy="354960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Box 6"/>
          <p:cNvSpPr/>
          <p:nvPr/>
        </p:nvSpPr>
        <p:spPr>
          <a:xfrm>
            <a:off x="190080" y="610920"/>
            <a:ext cx="822888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s-ES" sz="13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PRUEBAS DE SISTEMAS DE INFORMACIÓN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Rectangle 7"/>
          <p:cNvSpPr/>
          <p:nvPr/>
        </p:nvSpPr>
        <p:spPr>
          <a:xfrm>
            <a:off x="0" y="4966200"/>
            <a:ext cx="9143280" cy="10080"/>
          </a:xfrm>
          <a:prstGeom prst="rect">
            <a:avLst/>
          </a:prstGeom>
          <a:solidFill>
            <a:srgbClr val="B4C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Box 8"/>
          <p:cNvSpPr/>
          <p:nvPr/>
        </p:nvSpPr>
        <p:spPr>
          <a:xfrm>
            <a:off x="152640" y="5007240"/>
            <a:ext cx="4571280" cy="9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s-ES" sz="700" b="0" u="none" strike="noStrike">
                <a:solidFill>
                  <a:srgbClr val="595959"/>
                </a:solidFill>
                <a:effectLst/>
                <a:uFillTx/>
                <a:latin typeface="Arial"/>
                <a:ea typeface="DejaVu Sans"/>
              </a:rPr>
              <a:t>Gestor de Ventas e Inventario</a:t>
            </a:r>
            <a:endParaRPr lang="es-E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Box 9"/>
          <p:cNvSpPr/>
          <p:nvPr/>
        </p:nvSpPr>
        <p:spPr>
          <a:xfrm>
            <a:off x="5943600" y="5007240"/>
            <a:ext cx="3047040" cy="9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>
              <a:lnSpc>
                <a:spcPct val="100000"/>
              </a:lnSpc>
            </a:pPr>
            <a:r>
              <a:rPr lang="es-ES" sz="700" b="0" u="none" strike="noStrike">
                <a:solidFill>
                  <a:srgbClr val="595959"/>
                </a:solidFill>
                <a:effectLst/>
                <a:uFillTx/>
                <a:latin typeface="Arial"/>
                <a:ea typeface="DejaVu Sans"/>
              </a:rPr>
              <a:t>Hernández, Edelyn - CI: 28109107</a:t>
            </a:r>
            <a:endParaRPr lang="es-E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Rectangle 10"/>
          <p:cNvSpPr/>
          <p:nvPr/>
        </p:nvSpPr>
        <p:spPr>
          <a:xfrm>
            <a:off x="279720" y="1041480"/>
            <a:ext cx="502200" cy="24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9440" rIns="90000" bIns="-1944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Box 11"/>
          <p:cNvSpPr/>
          <p:nvPr/>
        </p:nvSpPr>
        <p:spPr>
          <a:xfrm>
            <a:off x="279720" y="1188720"/>
            <a:ext cx="16362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s-ES" sz="2600" b="1" u="none" strike="noStrike">
                <a:solidFill>
                  <a:srgbClr val="1F3864"/>
                </a:solidFill>
                <a:effectLst/>
                <a:uFillTx/>
                <a:latin typeface="Arial"/>
                <a:ea typeface="DejaVu Sans"/>
              </a:rPr>
              <a:t>530</a:t>
            </a:r>
            <a:endParaRPr lang="es-E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Box 12"/>
          <p:cNvSpPr/>
          <p:nvPr/>
        </p:nvSpPr>
        <p:spPr>
          <a:xfrm>
            <a:off x="279720" y="1664280"/>
            <a:ext cx="163620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s-ES" sz="800" b="1" u="none" strike="noStrike">
                <a:solidFill>
                  <a:srgbClr val="1F3864"/>
                </a:solidFill>
                <a:effectLst/>
                <a:uFillTx/>
                <a:latin typeface="Arial"/>
                <a:ea typeface="DejaVu Sans"/>
              </a:rPr>
              <a:t>TOTAL DE PRUEBAS</a:t>
            </a:r>
            <a:endParaRPr lang="es-E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Rectangle 13"/>
          <p:cNvSpPr/>
          <p:nvPr/>
        </p:nvSpPr>
        <p:spPr>
          <a:xfrm>
            <a:off x="1998720" y="1041480"/>
            <a:ext cx="502200" cy="24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9440" rIns="90000" bIns="-1944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Box 14"/>
          <p:cNvSpPr/>
          <p:nvPr/>
        </p:nvSpPr>
        <p:spPr>
          <a:xfrm>
            <a:off x="1998720" y="1188720"/>
            <a:ext cx="16362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s-ES" sz="2600" b="1" u="none" strike="noStrike">
                <a:solidFill>
                  <a:srgbClr val="1F3864"/>
                </a:solidFill>
                <a:effectLst/>
                <a:uFillTx/>
                <a:latin typeface="Arial"/>
                <a:ea typeface="DejaVu Sans"/>
              </a:rPr>
              <a:t>280</a:t>
            </a:r>
            <a:endParaRPr lang="es-E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Box 15"/>
          <p:cNvSpPr/>
          <p:nvPr/>
        </p:nvSpPr>
        <p:spPr>
          <a:xfrm>
            <a:off x="1998720" y="1664280"/>
            <a:ext cx="163620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s-ES" sz="800" b="1" u="none" strike="noStrike">
                <a:solidFill>
                  <a:srgbClr val="1F3864"/>
                </a:solidFill>
                <a:effectLst/>
                <a:uFillTx/>
                <a:latin typeface="Arial"/>
                <a:ea typeface="DejaVu Sans"/>
              </a:rPr>
              <a:t>UNITARIAS</a:t>
            </a:r>
            <a:endParaRPr lang="es-E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Rectangle 16"/>
          <p:cNvSpPr/>
          <p:nvPr/>
        </p:nvSpPr>
        <p:spPr>
          <a:xfrm>
            <a:off x="3718080" y="1041480"/>
            <a:ext cx="502200" cy="24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9440" rIns="90000" bIns="-1944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Box 17"/>
          <p:cNvSpPr/>
          <p:nvPr/>
        </p:nvSpPr>
        <p:spPr>
          <a:xfrm>
            <a:off x="3718080" y="1188720"/>
            <a:ext cx="16362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s-ES" sz="2600" b="1" u="none" strike="noStrike">
                <a:solidFill>
                  <a:srgbClr val="1F3864"/>
                </a:solidFill>
                <a:effectLst/>
                <a:uFillTx/>
                <a:latin typeface="Arial"/>
                <a:ea typeface="DejaVu Sans"/>
              </a:rPr>
              <a:t>219</a:t>
            </a:r>
            <a:endParaRPr lang="es-E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Box 18"/>
          <p:cNvSpPr/>
          <p:nvPr/>
        </p:nvSpPr>
        <p:spPr>
          <a:xfrm>
            <a:off x="3718080" y="1664280"/>
            <a:ext cx="163620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s-ES" sz="800" b="1" u="none" strike="noStrike">
                <a:solidFill>
                  <a:srgbClr val="1F3864"/>
                </a:solidFill>
                <a:effectLst/>
                <a:uFillTx/>
                <a:latin typeface="Arial"/>
                <a:ea typeface="DejaVu Sans"/>
              </a:rPr>
              <a:t>INTEGRACIÓN</a:t>
            </a:r>
            <a:endParaRPr lang="es-E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Rectangle 19"/>
          <p:cNvSpPr/>
          <p:nvPr/>
        </p:nvSpPr>
        <p:spPr>
          <a:xfrm>
            <a:off x="5437080" y="1041480"/>
            <a:ext cx="502200" cy="24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9440" rIns="90000" bIns="-1944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Box 20"/>
          <p:cNvSpPr/>
          <p:nvPr/>
        </p:nvSpPr>
        <p:spPr>
          <a:xfrm>
            <a:off x="5437080" y="1188720"/>
            <a:ext cx="16362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s-ES" sz="2600" b="1" u="none" strike="noStrike">
                <a:solidFill>
                  <a:srgbClr val="1F3864"/>
                </a:solidFill>
                <a:effectLst/>
                <a:uFillTx/>
                <a:latin typeface="Arial"/>
                <a:ea typeface="DejaVu Sans"/>
              </a:rPr>
              <a:t>31</a:t>
            </a:r>
            <a:endParaRPr lang="es-E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Box 21"/>
          <p:cNvSpPr/>
          <p:nvPr/>
        </p:nvSpPr>
        <p:spPr>
          <a:xfrm>
            <a:off x="5437080" y="1664280"/>
            <a:ext cx="163620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s-ES" sz="800" b="1" u="none" strike="noStrike">
                <a:solidFill>
                  <a:srgbClr val="1F3864"/>
                </a:solidFill>
                <a:effectLst/>
                <a:uFillTx/>
                <a:latin typeface="Arial"/>
                <a:ea typeface="DejaVu Sans"/>
              </a:rPr>
              <a:t>SISTEMA</a:t>
            </a:r>
            <a:endParaRPr lang="es-E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Rectangle 22"/>
          <p:cNvSpPr/>
          <p:nvPr/>
        </p:nvSpPr>
        <p:spPr>
          <a:xfrm>
            <a:off x="7156080" y="1041480"/>
            <a:ext cx="502200" cy="24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9440" rIns="90000" bIns="-1944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64" name="TextBox 23"/>
          <p:cNvSpPr/>
          <p:nvPr/>
        </p:nvSpPr>
        <p:spPr>
          <a:xfrm>
            <a:off x="7156080" y="1188720"/>
            <a:ext cx="16362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s-ES" sz="2600" b="1" u="none" strike="noStrike">
                <a:solidFill>
                  <a:srgbClr val="1F3864"/>
                </a:solidFill>
                <a:effectLst/>
                <a:uFillTx/>
                <a:latin typeface="Arial"/>
                <a:ea typeface="DejaVu Sans"/>
              </a:rPr>
              <a:t>202</a:t>
            </a:r>
            <a:endParaRPr lang="es-E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Box 24"/>
          <p:cNvSpPr/>
          <p:nvPr/>
        </p:nvSpPr>
        <p:spPr>
          <a:xfrm>
            <a:off x="7156080" y="1664280"/>
            <a:ext cx="163620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s-ES" sz="800" b="1" u="none" strike="noStrike">
                <a:solidFill>
                  <a:srgbClr val="1F3864"/>
                </a:solidFill>
                <a:effectLst/>
                <a:uFillTx/>
                <a:latin typeface="Arial"/>
                <a:ea typeface="DejaVu Sans"/>
              </a:rPr>
              <a:t>INTERFAZ (pytest-qt)</a:t>
            </a:r>
            <a:endParaRPr lang="es-E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Rectangle 25"/>
          <p:cNvSpPr/>
          <p:nvPr/>
        </p:nvSpPr>
        <p:spPr>
          <a:xfrm>
            <a:off x="279720" y="2249280"/>
            <a:ext cx="502200" cy="24840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9440" rIns="90000" bIns="-1944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67" name="TextBox 26"/>
          <p:cNvSpPr/>
          <p:nvPr/>
        </p:nvSpPr>
        <p:spPr>
          <a:xfrm>
            <a:off x="407880" y="2358360"/>
            <a:ext cx="3949560" cy="12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3000"/>
              </a:lnSpc>
            </a:pPr>
            <a:r>
              <a:rPr lang="es-ES" sz="1100" b="1" u="none" strike="noStrike">
                <a:solidFill>
                  <a:srgbClr val="1F3864"/>
                </a:solidFill>
                <a:effectLst/>
                <a:uFillTx/>
                <a:latin typeface="Arial"/>
                <a:ea typeface="DejaVu Sans"/>
              </a:rPr>
              <a:t>Cobertura por tipo de prueba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3000"/>
              </a:lnSpc>
              <a:spcBef>
                <a:spcPts val="300"/>
              </a:spcBef>
            </a:pPr>
            <a:r>
              <a:rPr lang="es-ES" sz="950" b="0" u="none" strike="noStrike">
                <a:solidFill>
                  <a:srgbClr val="1A1A1A"/>
                </a:solidFill>
                <a:effectLst/>
                <a:uFillTx/>
                <a:latin typeface="Arial"/>
                <a:ea typeface="DejaVu Sans"/>
              </a:rPr>
              <a:t>1.  Unitarias: validan conversiones de moneda, aritmética de totales y reglas de stock.</a:t>
            </a:r>
            <a:endParaRPr lang="es-E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3000"/>
              </a:lnSpc>
              <a:spcBef>
                <a:spcPts val="300"/>
              </a:spcBef>
            </a:pPr>
            <a:r>
              <a:rPr lang="es-ES" sz="950" b="0" u="none" strike="noStrike">
                <a:solidFill>
                  <a:srgbClr val="1A1A1A"/>
                </a:solidFill>
                <a:effectLst/>
                <a:uFillTx/>
                <a:latin typeface="Arial"/>
                <a:ea typeface="DejaVu Sans"/>
              </a:rPr>
              <a:t>2.  Integración: esquema SQLModel, migraciones Alembic y persistencia en SQLite.</a:t>
            </a:r>
            <a:endParaRPr lang="es-E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3000"/>
              </a:lnSpc>
              <a:spcBef>
                <a:spcPts val="300"/>
              </a:spcBef>
            </a:pPr>
            <a:r>
              <a:rPr lang="es-ES" sz="950" b="0" u="none" strike="noStrike">
                <a:solidFill>
                  <a:srgbClr val="1A1A1A"/>
                </a:solidFill>
                <a:effectLst/>
                <a:uFillTx/>
                <a:latin typeface="Arial"/>
                <a:ea typeface="DejaVu Sans"/>
              </a:rPr>
              <a:t>3.  Sistema: flujo completo desde la captura hasta la factura y el cierre de caja.</a:t>
            </a:r>
            <a:endParaRPr lang="es-E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Rectangle 27"/>
          <p:cNvSpPr/>
          <p:nvPr/>
        </p:nvSpPr>
        <p:spPr>
          <a:xfrm>
            <a:off x="279720" y="3749040"/>
            <a:ext cx="502200" cy="24840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9440" rIns="90000" bIns="-1944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Box 28"/>
          <p:cNvSpPr/>
          <p:nvPr/>
        </p:nvSpPr>
        <p:spPr>
          <a:xfrm>
            <a:off x="407880" y="3857760"/>
            <a:ext cx="3949560" cy="93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3000"/>
              </a:lnSpc>
            </a:pPr>
            <a:r>
              <a:rPr lang="es-ES" sz="1100" b="1" u="none" strike="noStrike">
                <a:solidFill>
                  <a:srgbClr val="1F3864"/>
                </a:solidFill>
                <a:effectLst/>
                <a:uFillTx/>
                <a:latin typeface="Arial"/>
                <a:ea typeface="DejaVu Sans"/>
              </a:rPr>
              <a:t>Nota sobre el conteo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3000"/>
              </a:lnSpc>
              <a:spcBef>
                <a:spcPts val="300"/>
              </a:spcBef>
            </a:pPr>
            <a:r>
              <a:rPr lang="es-ES" sz="950" b="0" u="none" strike="noStrike">
                <a:solidFill>
                  <a:srgbClr val="1A1A1A"/>
                </a:solidFill>
                <a:effectLst/>
                <a:uFillTx/>
                <a:latin typeface="Arial"/>
                <a:ea typeface="DejaVu Sans"/>
              </a:rPr>
              <a:t>Unitarias (280) + integración (219) + sistema (31) = 530: partición exacta de la suite.</a:t>
            </a:r>
            <a:endParaRPr lang="es-E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3000"/>
              </a:lnSpc>
              <a:spcBef>
                <a:spcPts val="300"/>
              </a:spcBef>
            </a:pPr>
            <a:r>
              <a:rPr lang="es-ES" sz="950" b="0" u="none" strike="noStrike">
                <a:solidFill>
                  <a:srgbClr val="1A1A1A"/>
                </a:solidFill>
                <a:effectLst/>
                <a:uFillTx/>
                <a:latin typeface="Arial"/>
                <a:ea typeface="DejaVu Sans"/>
              </a:rPr>
              <a:t>Aceptación (32) e interfaz (202) llevan marcadores adicionales: se solapan y no se suman. Cifras verificadas contra la suite ejecutada.</a:t>
            </a:r>
            <a:endParaRPr lang="es-E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Rectangle 29"/>
          <p:cNvSpPr/>
          <p:nvPr/>
        </p:nvSpPr>
        <p:spPr>
          <a:xfrm>
            <a:off x="4678200" y="2249280"/>
            <a:ext cx="502200" cy="24840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9440" rIns="90000" bIns="-1944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Box 30"/>
          <p:cNvSpPr/>
          <p:nvPr/>
        </p:nvSpPr>
        <p:spPr>
          <a:xfrm>
            <a:off x="4806000" y="2358360"/>
            <a:ext cx="3929400" cy="243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3000"/>
              </a:lnSpc>
            </a:pPr>
            <a:r>
              <a:rPr lang="es-ES" sz="1100" b="1" u="none" strike="noStrike">
                <a:solidFill>
                  <a:srgbClr val="1F3864"/>
                </a:solidFill>
                <a:effectLst/>
                <a:uFillTx/>
                <a:latin typeface="Arial"/>
                <a:ea typeface="DejaVu Sans"/>
              </a:rPr>
              <a:t>Pruebas Funcionales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3000"/>
              </a:lnSpc>
              <a:spcBef>
                <a:spcPts val="300"/>
              </a:spcBef>
            </a:pPr>
            <a:r>
              <a:rPr lang="es-ES" sz="950" b="0" u="none" strike="noStrike">
                <a:solidFill>
                  <a:srgbClr val="1A1A1A"/>
                </a:solidFill>
                <a:effectLst/>
                <a:uFillTx/>
                <a:latin typeface="Arial"/>
                <a:ea typeface="DejaVu Sans"/>
              </a:rPr>
              <a:t>Verificación completa del registro de ventas en bolívares y dólares, validando el cambio exacto a entregar, el desglose por método de pago y la factura FAC-AAAAMMDD-NNN.</a:t>
            </a:r>
            <a:endParaRPr lang="es-E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3000"/>
              </a:lnSpc>
              <a:spcBef>
                <a:spcPts val="601"/>
              </a:spcBef>
            </a:pPr>
            <a:r>
              <a:rPr lang="es-ES" sz="1100" b="1" u="none" strike="noStrike">
                <a:solidFill>
                  <a:srgbClr val="1F3864"/>
                </a:solidFill>
                <a:effectLst/>
                <a:uFillTx/>
                <a:latin typeface="Arial"/>
                <a:ea typeface="DejaVu Sans"/>
              </a:rPr>
              <a:t>Pruebas No Funcionales (Seguridad)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3000"/>
              </a:lnSpc>
              <a:spcBef>
                <a:spcPts val="300"/>
              </a:spcBef>
            </a:pPr>
            <a:r>
              <a:rPr lang="es-ES" sz="950" b="0" u="none" strike="noStrike">
                <a:solidFill>
                  <a:srgbClr val="1A1A1A"/>
                </a:solidFill>
                <a:effectLst/>
                <a:uFillTx/>
                <a:latin typeface="Arial"/>
                <a:ea typeface="DejaVu Sans"/>
              </a:rPr>
              <a:t>Contraseñas de usuario hasheadas con bcrypt: nunca se almacenan en texto plano en la base de datos, y la base es de archivo único (SQLite).</a:t>
            </a:r>
            <a:endParaRPr lang="es-E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3000"/>
              </a:lnSpc>
              <a:spcBef>
                <a:spcPts val="601"/>
              </a:spcBef>
            </a:pPr>
            <a:r>
              <a:rPr lang="es-ES" sz="1100" b="1" u="none" strike="noStrike">
                <a:solidFill>
                  <a:srgbClr val="1F3864"/>
                </a:solidFill>
                <a:effectLst/>
                <a:uFillTx/>
                <a:latin typeface="Arial"/>
                <a:ea typeface="DejaVu Sans"/>
              </a:rPr>
              <a:t>Pruebas de Interfaz Automatizadas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3000"/>
              </a:lnSpc>
              <a:spcBef>
                <a:spcPts val="300"/>
              </a:spcBef>
            </a:pPr>
            <a:r>
              <a:rPr lang="es-ES" sz="950" b="0" u="none" strike="noStrike">
                <a:solidFill>
                  <a:srgbClr val="1A1A1A"/>
                </a:solidFill>
                <a:effectLst/>
                <a:uFillTx/>
                <a:latin typeface="Arial"/>
                <a:ea typeface="DejaVu Sans"/>
              </a:rPr>
              <a:t>Las 202 pruebas con pytest-qt simulan las acciones físicas del cajero: tipeo de productos, selección de artículos, introducción de la tasa y cobro.</a:t>
            </a:r>
            <a:endParaRPr lang="es-E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Rectangle 1"/>
          <p:cNvSpPr/>
          <p:nvPr/>
        </p:nvSpPr>
        <p:spPr>
          <a:xfrm>
            <a:off x="0" y="0"/>
            <a:ext cx="9143280" cy="5324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373" name="Picture 2" descr="escudo.png"/>
          <p:cNvPicPr/>
          <p:nvPr/>
        </p:nvPicPr>
        <p:blipFill>
          <a:blip r:embed="rId1"/>
          <a:stretch/>
        </p:blipFill>
        <p:spPr>
          <a:xfrm>
            <a:off x="152640" y="88560"/>
            <a:ext cx="354960" cy="354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4" name="TextBox 3"/>
          <p:cNvSpPr/>
          <p:nvPr/>
        </p:nvSpPr>
        <p:spPr>
          <a:xfrm>
            <a:off x="634680" y="147240"/>
            <a:ext cx="27424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s-ES" sz="1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PROYECTO FINAL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Box 4"/>
          <p:cNvSpPr/>
          <p:nvPr/>
        </p:nvSpPr>
        <p:spPr>
          <a:xfrm>
            <a:off x="7863840" y="194760"/>
            <a:ext cx="1123920" cy="14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>
              <a:lnSpc>
                <a:spcPct val="100000"/>
              </a:lnSpc>
            </a:pPr>
            <a:r>
              <a:rPr lang="es-ES" sz="1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30/31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Rectangle 5"/>
          <p:cNvSpPr/>
          <p:nvPr/>
        </p:nvSpPr>
        <p:spPr>
          <a:xfrm>
            <a:off x="0" y="533160"/>
            <a:ext cx="9143280" cy="354960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Box 6"/>
          <p:cNvSpPr/>
          <p:nvPr/>
        </p:nvSpPr>
        <p:spPr>
          <a:xfrm>
            <a:off x="190080" y="610920"/>
            <a:ext cx="822888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s-ES" sz="13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PLAN DE MANTENIMIENTO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Rectangle 7"/>
          <p:cNvSpPr/>
          <p:nvPr/>
        </p:nvSpPr>
        <p:spPr>
          <a:xfrm>
            <a:off x="0" y="4966200"/>
            <a:ext cx="9143280" cy="10080"/>
          </a:xfrm>
          <a:prstGeom prst="rect">
            <a:avLst/>
          </a:prstGeom>
          <a:solidFill>
            <a:srgbClr val="B4C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79" name="TextBox 8"/>
          <p:cNvSpPr/>
          <p:nvPr/>
        </p:nvSpPr>
        <p:spPr>
          <a:xfrm>
            <a:off x="152640" y="5007240"/>
            <a:ext cx="4571280" cy="9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s-ES" sz="700" b="0" u="none" strike="noStrike">
                <a:solidFill>
                  <a:srgbClr val="595959"/>
                </a:solidFill>
                <a:effectLst/>
                <a:uFillTx/>
                <a:latin typeface="Arial"/>
                <a:ea typeface="DejaVu Sans"/>
              </a:rPr>
              <a:t>Gestor de Ventas e Inventario</a:t>
            </a:r>
            <a:endParaRPr lang="es-E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Box 9"/>
          <p:cNvSpPr/>
          <p:nvPr/>
        </p:nvSpPr>
        <p:spPr>
          <a:xfrm>
            <a:off x="5943600" y="5007240"/>
            <a:ext cx="3047040" cy="9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>
              <a:lnSpc>
                <a:spcPct val="100000"/>
              </a:lnSpc>
            </a:pPr>
            <a:r>
              <a:rPr lang="es-ES" sz="700" b="0" u="none" strike="noStrike">
                <a:solidFill>
                  <a:srgbClr val="595959"/>
                </a:solidFill>
                <a:effectLst/>
                <a:uFillTx/>
                <a:latin typeface="Arial"/>
                <a:ea typeface="DejaVu Sans"/>
              </a:rPr>
              <a:t>Hernández, Edelyn - CI: 28109107</a:t>
            </a:r>
            <a:endParaRPr lang="es-E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Rectangle 10"/>
          <p:cNvSpPr/>
          <p:nvPr/>
        </p:nvSpPr>
        <p:spPr>
          <a:xfrm>
            <a:off x="94320" y="915480"/>
            <a:ext cx="502200" cy="24840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9440" rIns="90000" bIns="-1944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Box 11"/>
          <p:cNvSpPr/>
          <p:nvPr/>
        </p:nvSpPr>
        <p:spPr>
          <a:xfrm>
            <a:off x="94320" y="1061640"/>
            <a:ext cx="42796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s-ES" sz="1100" b="1" u="none" strike="noStrike">
                <a:solidFill>
                  <a:srgbClr val="1F3864"/>
                </a:solidFill>
                <a:effectLst/>
                <a:uFillTx/>
                <a:latin typeface="Arial"/>
                <a:ea typeface="DejaVu Sans"/>
              </a:rPr>
              <a:t>Mantenimiento Correctivo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Box 12"/>
          <p:cNvSpPr/>
          <p:nvPr/>
        </p:nvSpPr>
        <p:spPr>
          <a:xfrm>
            <a:off x="94320" y="1299240"/>
            <a:ext cx="42796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s-ES" sz="850" b="0" u="none" strike="noStrike">
                <a:solidFill>
                  <a:srgbClr val="595959"/>
                </a:solidFill>
                <a:effectLst/>
                <a:uFillTx/>
                <a:latin typeface="Arial"/>
                <a:ea typeface="DejaVu Sans"/>
              </a:rPr>
              <a:t>Resolución de fallas</a:t>
            </a:r>
            <a:endParaRPr lang="es-E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Box 13"/>
          <p:cNvSpPr/>
          <p:nvPr/>
        </p:nvSpPr>
        <p:spPr>
          <a:xfrm>
            <a:off x="94320" y="1518840"/>
            <a:ext cx="4279680" cy="12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4000"/>
              </a:lnSpc>
            </a:pPr>
            <a:r>
              <a:rPr lang="es-ES" sz="950" b="0" u="none" strike="noStrike">
                <a:solidFill>
                  <a:srgbClr val="1A1A1A"/>
                </a:solidFill>
                <a:effectLst/>
                <a:uFillTx/>
                <a:latin typeface="Arial"/>
                <a:ea typeface="DejaVu Sans"/>
              </a:rPr>
              <a:t>Bitácoras automáticas en 'logs/' que registran las conexiones con el BCV y las fallas internas, con registro detallado para el diagnóstico.</a:t>
            </a:r>
            <a:endParaRPr lang="es-E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Rectangle 14"/>
          <p:cNvSpPr/>
          <p:nvPr/>
        </p:nvSpPr>
        <p:spPr>
          <a:xfrm>
            <a:off x="4641480" y="915480"/>
            <a:ext cx="502200" cy="24840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9440" rIns="90000" bIns="-1944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Box 15"/>
          <p:cNvSpPr/>
          <p:nvPr/>
        </p:nvSpPr>
        <p:spPr>
          <a:xfrm>
            <a:off x="4641480" y="1061640"/>
            <a:ext cx="42796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s-ES" sz="1100" b="1" u="none" strike="noStrike">
                <a:solidFill>
                  <a:srgbClr val="1F3864"/>
                </a:solidFill>
                <a:effectLst/>
                <a:uFillTx/>
                <a:latin typeface="Arial"/>
                <a:ea typeface="DejaVu Sans"/>
              </a:rPr>
              <a:t>Mantenimiento Adaptativo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TextBox 16"/>
          <p:cNvSpPr/>
          <p:nvPr/>
        </p:nvSpPr>
        <p:spPr>
          <a:xfrm>
            <a:off x="4641480" y="1299240"/>
            <a:ext cx="42796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s-ES" sz="850" b="0" u="none" strike="noStrike">
                <a:solidFill>
                  <a:srgbClr val="595959"/>
                </a:solidFill>
                <a:effectLst/>
                <a:uFillTx/>
                <a:latin typeface="Arial"/>
                <a:ea typeface="DejaVu Sans"/>
              </a:rPr>
              <a:t>Cambios del entorno</a:t>
            </a:r>
            <a:endParaRPr lang="es-E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17"/>
          <p:cNvSpPr/>
          <p:nvPr/>
        </p:nvSpPr>
        <p:spPr>
          <a:xfrm>
            <a:off x="4641480" y="1518840"/>
            <a:ext cx="4279680" cy="12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4000"/>
              </a:lnSpc>
            </a:pPr>
            <a:r>
              <a:rPr lang="es-ES" sz="950" b="0" u="none" strike="noStrike">
                <a:solidFill>
                  <a:srgbClr val="1A1A1A"/>
                </a:solidFill>
                <a:effectLst/>
                <a:uFillTx/>
                <a:latin typeface="Arial"/>
                <a:ea typeface="DejaVu Sans"/>
              </a:rPr>
              <a:t>Alembic migra el esquema SQLite para preparar el sistema para producción: agrega columnas o tablas sin perder datos.</a:t>
            </a:r>
            <a:endParaRPr lang="es-E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Rectangle 18"/>
          <p:cNvSpPr/>
          <p:nvPr/>
        </p:nvSpPr>
        <p:spPr>
          <a:xfrm>
            <a:off x="94320" y="2949840"/>
            <a:ext cx="502200" cy="24840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9440" rIns="90000" bIns="-1944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Box 19"/>
          <p:cNvSpPr/>
          <p:nvPr/>
        </p:nvSpPr>
        <p:spPr>
          <a:xfrm>
            <a:off x="94320" y="3096000"/>
            <a:ext cx="42796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s-ES" sz="1100" b="1" u="none" strike="noStrike">
                <a:solidFill>
                  <a:srgbClr val="1F3864"/>
                </a:solidFill>
                <a:effectLst/>
                <a:uFillTx/>
                <a:latin typeface="Arial"/>
                <a:ea typeface="DejaVu Sans"/>
              </a:rPr>
              <a:t>Mantenimiento Perfectivo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Box 20"/>
          <p:cNvSpPr/>
          <p:nvPr/>
        </p:nvSpPr>
        <p:spPr>
          <a:xfrm>
            <a:off x="94320" y="3333960"/>
            <a:ext cx="42796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s-ES" sz="850" b="0" u="none" strike="noStrike">
                <a:solidFill>
                  <a:srgbClr val="595959"/>
                </a:solidFill>
                <a:effectLst/>
                <a:uFillTx/>
                <a:latin typeface="Arial"/>
                <a:ea typeface="DejaVu Sans"/>
              </a:rPr>
              <a:t>Nuevas funcionalidades</a:t>
            </a:r>
            <a:endParaRPr lang="es-E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Box 21"/>
          <p:cNvSpPr/>
          <p:nvPr/>
        </p:nvSpPr>
        <p:spPr>
          <a:xfrm>
            <a:off x="94320" y="3553200"/>
            <a:ext cx="4279680" cy="12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4000"/>
              </a:lnSpc>
            </a:pPr>
            <a:r>
              <a:rPr lang="es-ES" sz="950" b="0" u="none" strike="noStrike">
                <a:solidFill>
                  <a:srgbClr val="1A1A1A"/>
                </a:solidFill>
                <a:effectLst/>
                <a:uFillTx/>
                <a:latin typeface="Arial"/>
                <a:ea typeface="DejaVu Sans"/>
              </a:rPr>
              <a:t>Impresión de tickets en impresoras térmicas de 80 mm, cuentas por pagar y la implementación del proceso P3 (Registrar Compras), hoy diseñado y pendiente de programación.</a:t>
            </a:r>
            <a:endParaRPr lang="es-E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Rectangle 22"/>
          <p:cNvSpPr/>
          <p:nvPr/>
        </p:nvSpPr>
        <p:spPr>
          <a:xfrm>
            <a:off x="4641480" y="2949840"/>
            <a:ext cx="502200" cy="24840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9440" rIns="90000" bIns="-1944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94" name="TextBox 23"/>
          <p:cNvSpPr/>
          <p:nvPr/>
        </p:nvSpPr>
        <p:spPr>
          <a:xfrm>
            <a:off x="4641480" y="3096000"/>
            <a:ext cx="42796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s-ES" sz="1100" b="1" u="none" strike="noStrike">
                <a:solidFill>
                  <a:srgbClr val="1F3864"/>
                </a:solidFill>
                <a:effectLst/>
                <a:uFillTx/>
                <a:latin typeface="Arial"/>
                <a:ea typeface="DejaVu Sans"/>
              </a:rPr>
              <a:t>Mantenimiento Preventivo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Box 24"/>
          <p:cNvSpPr/>
          <p:nvPr/>
        </p:nvSpPr>
        <p:spPr>
          <a:xfrm>
            <a:off x="4641480" y="3333960"/>
            <a:ext cx="42796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s-ES" sz="850" b="0" u="none" strike="noStrike">
                <a:solidFill>
                  <a:srgbClr val="595959"/>
                </a:solidFill>
                <a:effectLst/>
                <a:uFillTx/>
                <a:latin typeface="Arial"/>
                <a:ea typeface="DejaVu Sans"/>
              </a:rPr>
              <a:t>Protección de datos</a:t>
            </a:r>
            <a:endParaRPr lang="es-E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TextBox 25"/>
          <p:cNvSpPr/>
          <p:nvPr/>
        </p:nvSpPr>
        <p:spPr>
          <a:xfrm>
            <a:off x="4641480" y="3553200"/>
            <a:ext cx="4279680" cy="12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4000"/>
              </a:lnSpc>
            </a:pPr>
            <a:r>
              <a:rPr lang="es-ES" sz="950" b="0" u="none" strike="noStrike">
                <a:solidFill>
                  <a:srgbClr val="1A1A1A"/>
                </a:solidFill>
                <a:effectLst/>
                <a:uFillTx/>
                <a:latin typeface="Arial"/>
                <a:ea typeface="DejaVu Sans"/>
              </a:rPr>
              <a:t>Copias de seguridad diarias del archivo 'database/database.db' hacia una unidad externa, control de accesos, auditoría de logs y actualización de dependencias.</a:t>
            </a:r>
            <a:endParaRPr lang="es-E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Rectangle 1"/>
          <p:cNvSpPr/>
          <p:nvPr/>
        </p:nvSpPr>
        <p:spPr>
          <a:xfrm>
            <a:off x="0" y="0"/>
            <a:ext cx="9143280" cy="5324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398" name="Picture 2" descr="escudo.png"/>
          <p:cNvPicPr/>
          <p:nvPr/>
        </p:nvPicPr>
        <p:blipFill>
          <a:blip r:embed="rId1"/>
          <a:stretch/>
        </p:blipFill>
        <p:spPr>
          <a:xfrm>
            <a:off x="152640" y="88560"/>
            <a:ext cx="354960" cy="354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9" name="TextBox 3"/>
          <p:cNvSpPr/>
          <p:nvPr/>
        </p:nvSpPr>
        <p:spPr>
          <a:xfrm>
            <a:off x="634680" y="147240"/>
            <a:ext cx="27424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s-ES" sz="1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PROYECTO FINAL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TextBox 4"/>
          <p:cNvSpPr/>
          <p:nvPr/>
        </p:nvSpPr>
        <p:spPr>
          <a:xfrm>
            <a:off x="7863840" y="194760"/>
            <a:ext cx="1123920" cy="14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>
              <a:lnSpc>
                <a:spcPct val="100000"/>
              </a:lnSpc>
            </a:pPr>
            <a:r>
              <a:rPr lang="es-ES" sz="1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31/31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Rectangle 5"/>
          <p:cNvSpPr/>
          <p:nvPr/>
        </p:nvSpPr>
        <p:spPr>
          <a:xfrm>
            <a:off x="0" y="533160"/>
            <a:ext cx="9143280" cy="354960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02" name="TextBox 6"/>
          <p:cNvSpPr/>
          <p:nvPr/>
        </p:nvSpPr>
        <p:spPr>
          <a:xfrm>
            <a:off x="190080" y="610920"/>
            <a:ext cx="822888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s-ES" sz="13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CONCLUSIONES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Rectangle 7"/>
          <p:cNvSpPr/>
          <p:nvPr/>
        </p:nvSpPr>
        <p:spPr>
          <a:xfrm>
            <a:off x="0" y="4966200"/>
            <a:ext cx="9143280" cy="10080"/>
          </a:xfrm>
          <a:prstGeom prst="rect">
            <a:avLst/>
          </a:prstGeom>
          <a:solidFill>
            <a:srgbClr val="B4C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04" name="TextBox 8"/>
          <p:cNvSpPr/>
          <p:nvPr/>
        </p:nvSpPr>
        <p:spPr>
          <a:xfrm>
            <a:off x="152640" y="5007240"/>
            <a:ext cx="4571280" cy="9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s-ES" sz="700" b="0" u="none" strike="noStrike">
                <a:solidFill>
                  <a:srgbClr val="595959"/>
                </a:solidFill>
                <a:effectLst/>
                <a:uFillTx/>
                <a:latin typeface="Arial"/>
                <a:ea typeface="DejaVu Sans"/>
              </a:rPr>
              <a:t>Gestor de Ventas e Inventario</a:t>
            </a:r>
            <a:endParaRPr lang="es-E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TextBox 9"/>
          <p:cNvSpPr/>
          <p:nvPr/>
        </p:nvSpPr>
        <p:spPr>
          <a:xfrm>
            <a:off x="5943600" y="5007240"/>
            <a:ext cx="3047040" cy="9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>
              <a:lnSpc>
                <a:spcPct val="100000"/>
              </a:lnSpc>
            </a:pPr>
            <a:r>
              <a:rPr lang="es-ES" sz="700" b="0" u="none" strike="noStrike">
                <a:solidFill>
                  <a:srgbClr val="595959"/>
                </a:solidFill>
                <a:effectLst/>
                <a:uFillTx/>
                <a:latin typeface="Arial"/>
                <a:ea typeface="DejaVu Sans"/>
              </a:rPr>
              <a:t>Hernández, Edelyn - CI: 28109107</a:t>
            </a:r>
            <a:endParaRPr lang="es-E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Rectangle 10"/>
          <p:cNvSpPr/>
          <p:nvPr/>
        </p:nvSpPr>
        <p:spPr>
          <a:xfrm>
            <a:off x="279720" y="1041480"/>
            <a:ext cx="502200" cy="24840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9440" rIns="90000" bIns="-1944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07" name="TextBox 11"/>
          <p:cNvSpPr/>
          <p:nvPr/>
        </p:nvSpPr>
        <p:spPr>
          <a:xfrm>
            <a:off x="407880" y="1150200"/>
            <a:ext cx="3949560" cy="14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3000"/>
              </a:lnSpc>
            </a:pPr>
            <a:r>
              <a:rPr lang="es-ES" sz="1050" b="1" u="none" strike="noStrike">
                <a:solidFill>
                  <a:srgbClr val="1F3864"/>
                </a:solidFill>
                <a:effectLst/>
                <a:uFillTx/>
                <a:latin typeface="Arial"/>
                <a:ea typeface="DejaVu Sans"/>
              </a:rPr>
              <a:t>Solución transaccional bimonetaria</a:t>
            </a:r>
            <a:endParaRPr lang="es-E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3000"/>
              </a:lnSpc>
              <a:spcBef>
                <a:spcPts val="300"/>
              </a:spcBef>
            </a:pPr>
            <a:r>
              <a:rPr lang="es-ES" sz="950" b="0" u="none" strike="noStrike">
                <a:solidFill>
                  <a:srgbClr val="1A1A1A"/>
                </a:solidFill>
                <a:effectLst/>
                <a:uFillTx/>
                <a:latin typeface="Arial"/>
                <a:ea typeface="DejaVu Sans"/>
              </a:rPr>
              <a:t>El sistema resuelve el cobro multimoneda en bolívares y dólares mediante la consulta automática de la tasa BCV del día, con los cinco métodos de pago que manejaba el abasto, y calcula la rentabilidad (costo de ventas, utilidad y margen) en cada reporte diario.</a:t>
            </a:r>
            <a:endParaRPr lang="es-E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3000"/>
              </a:lnSpc>
              <a:spcBef>
                <a:spcPts val="300"/>
              </a:spcBef>
            </a:pPr>
            <a:r>
              <a:rPr lang="es-ES" sz="950" b="0" u="none" strike="noStrike">
                <a:solidFill>
                  <a:srgbClr val="1A1A1A"/>
                </a:solidFill>
                <a:effectLst/>
                <a:uFillTx/>
                <a:latin typeface="Arial"/>
                <a:ea typeface="DejaVu Sans"/>
              </a:rPr>
              <a:t>La venta se cobra con monedas y métodos mixtos, y el cambio se liquida con la tasa del día, sin estimaciones a mano.</a:t>
            </a:r>
            <a:endParaRPr lang="es-E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Rectangle 12"/>
          <p:cNvSpPr/>
          <p:nvPr/>
        </p:nvSpPr>
        <p:spPr>
          <a:xfrm>
            <a:off x="279720" y="2734200"/>
            <a:ext cx="502200" cy="24840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9440" rIns="90000" bIns="-1944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09" name="TextBox 13"/>
          <p:cNvSpPr/>
          <p:nvPr/>
        </p:nvSpPr>
        <p:spPr>
          <a:xfrm>
            <a:off x="407880" y="2842920"/>
            <a:ext cx="3949560" cy="10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3000"/>
              </a:lnSpc>
            </a:pPr>
            <a:r>
              <a:rPr lang="es-ES" sz="1050" b="1" u="none" strike="noStrike">
                <a:solidFill>
                  <a:srgbClr val="1F3864"/>
                </a:solidFill>
                <a:effectLst/>
                <a:uFillTx/>
                <a:latin typeface="Arial"/>
                <a:ea typeface="DejaVu Sans"/>
              </a:rPr>
              <a:t>Auditoría de inventario rigurosa</a:t>
            </a:r>
            <a:endParaRPr lang="es-E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3000"/>
              </a:lnSpc>
              <a:spcBef>
                <a:spcPts val="300"/>
              </a:spcBef>
            </a:pPr>
            <a:r>
              <a:rPr lang="es-ES" sz="950" b="0" u="none" strike="noStrike">
                <a:solidFill>
                  <a:srgbClr val="1A1A1A"/>
                </a:solidFill>
                <a:effectLst/>
                <a:uFillTx/>
                <a:latin typeface="Arial"/>
                <a:ea typeface="DejaVu Sans"/>
              </a:rPr>
              <a:t>La bitácora de movimientos (compra, venta, merma, ajuste y devolución) explica cada salida de stock.</a:t>
            </a:r>
            <a:endParaRPr lang="es-E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3000"/>
              </a:lnSpc>
              <a:spcBef>
                <a:spcPts val="300"/>
              </a:spcBef>
            </a:pPr>
            <a:r>
              <a:rPr lang="es-ES" sz="950" b="0" u="none" strike="noStrike">
                <a:solidFill>
                  <a:srgbClr val="1A1A1A"/>
                </a:solidFill>
                <a:effectLst/>
                <a:uFillTx/>
                <a:latin typeface="Arial"/>
                <a:ea typeface="DejaVu Sans"/>
              </a:rPr>
              <a:t>Cada movimiento guarda fecha, cantidad y referencia; ante una diferencia se sabe cuándo, por qué y quién la originó.</a:t>
            </a:r>
            <a:endParaRPr lang="es-E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Rectangle 14"/>
          <p:cNvSpPr/>
          <p:nvPr/>
        </p:nvSpPr>
        <p:spPr>
          <a:xfrm>
            <a:off x="279720" y="3996000"/>
            <a:ext cx="502200" cy="24840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9440" rIns="90000" bIns="-1944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11" name="TextBox 15"/>
          <p:cNvSpPr/>
          <p:nvPr/>
        </p:nvSpPr>
        <p:spPr>
          <a:xfrm>
            <a:off x="407880" y="4104720"/>
            <a:ext cx="3949560" cy="81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3000"/>
              </a:lnSpc>
            </a:pPr>
            <a:r>
              <a:rPr lang="es-ES" sz="1050" b="1" u="none" strike="noStrike">
                <a:solidFill>
                  <a:srgbClr val="1F3864"/>
                </a:solidFill>
                <a:effectLst/>
                <a:uFillTx/>
                <a:latin typeface="Arial"/>
                <a:ea typeface="DejaVu Sans"/>
              </a:rPr>
              <a:t>Calidad certificada en código</a:t>
            </a:r>
            <a:endParaRPr lang="es-E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3000"/>
              </a:lnSpc>
              <a:spcBef>
                <a:spcPts val="300"/>
              </a:spcBef>
            </a:pPr>
            <a:r>
              <a:rPr lang="es-ES" sz="950" b="0" u="none" strike="noStrike">
                <a:solidFill>
                  <a:srgbClr val="1A1A1A"/>
                </a:solidFill>
                <a:effectLst/>
                <a:uFillTx/>
                <a:latin typeface="Arial"/>
                <a:ea typeface="DejaVu Sans"/>
              </a:rPr>
              <a:t>El sistema pasó 530 pruebas automatizadas antes de producción.</a:t>
            </a:r>
            <a:endParaRPr lang="es-E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3000"/>
              </a:lnSpc>
              <a:spcBef>
                <a:spcPts val="300"/>
              </a:spcBef>
            </a:pPr>
            <a:r>
              <a:rPr lang="es-ES" sz="950" b="0" u="none" strike="noStrike">
                <a:solidFill>
                  <a:srgbClr val="1A1A1A"/>
                </a:solidFill>
                <a:effectLst/>
                <a:uFillTx/>
                <a:latin typeface="Arial"/>
                <a:ea typeface="DejaVu Sans"/>
              </a:rPr>
              <a:t>Las pruebas cubren el cobro multimoneda, el inventario y los reportes, y se ejecutan tras cada cambio para detectar regresiones.</a:t>
            </a:r>
            <a:endParaRPr lang="es-E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Rectangle 16"/>
          <p:cNvSpPr/>
          <p:nvPr/>
        </p:nvSpPr>
        <p:spPr>
          <a:xfrm>
            <a:off x="4678200" y="1041480"/>
            <a:ext cx="502200" cy="24840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9440" rIns="90000" bIns="-1944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13" name="TextBox 17"/>
          <p:cNvSpPr/>
          <p:nvPr/>
        </p:nvSpPr>
        <p:spPr>
          <a:xfrm>
            <a:off x="4806000" y="1150200"/>
            <a:ext cx="3929400" cy="365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3000"/>
              </a:lnSpc>
            </a:pPr>
            <a:r>
              <a:rPr lang="es-ES" sz="1100" b="1" u="none" strike="noStrike">
                <a:solidFill>
                  <a:srgbClr val="1F3864"/>
                </a:solidFill>
                <a:effectLst/>
                <a:uFillTx/>
                <a:latin typeface="Arial"/>
                <a:ea typeface="DejaVu Sans"/>
              </a:rPr>
              <a:t>Recomendaciones para el negocio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3000"/>
              </a:lnSpc>
              <a:spcBef>
                <a:spcPts val="601"/>
              </a:spcBef>
            </a:pPr>
            <a:r>
              <a:rPr lang="es-ES" sz="1000" b="1" u="none" strike="noStrike">
                <a:solidFill>
                  <a:srgbClr val="1A1A1A"/>
                </a:solidFill>
                <a:effectLst/>
                <a:uFillTx/>
                <a:latin typeface="Arial"/>
                <a:ea typeface="DejaVu Sans"/>
              </a:rPr>
              <a:t>Impresión de facturas físicas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3000"/>
              </a:lnSpc>
              <a:spcBef>
                <a:spcPts val="201"/>
              </a:spcBef>
            </a:pPr>
            <a:r>
              <a:rPr lang="es-ES" sz="950" b="0" u="none" strike="noStrike">
                <a:solidFill>
                  <a:srgbClr val="1A1A1A"/>
                </a:solidFill>
                <a:effectLst/>
                <a:uFillTx/>
                <a:latin typeface="Arial"/>
                <a:ea typeface="DejaVu Sans"/>
              </a:rPr>
              <a:t>Incorporar tickeras térmicas de 80 mm para entregar recibos rápidos en el POS.</a:t>
            </a:r>
            <a:endParaRPr lang="es-E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3000"/>
              </a:lnSpc>
              <a:spcBef>
                <a:spcPts val="601"/>
              </a:spcBef>
            </a:pPr>
            <a:r>
              <a:rPr lang="es-ES" sz="1000" b="1" u="none" strike="noStrike">
                <a:solidFill>
                  <a:srgbClr val="1A1A1A"/>
                </a:solidFill>
                <a:effectLst/>
                <a:uFillTx/>
                <a:latin typeface="Arial"/>
                <a:ea typeface="DejaVu Sans"/>
              </a:rPr>
              <a:t>Módulo de cuentas por pagar y proceso de compras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3000"/>
              </a:lnSpc>
              <a:spcBef>
                <a:spcPts val="201"/>
              </a:spcBef>
            </a:pPr>
            <a:r>
              <a:rPr lang="es-ES" sz="950" b="0" u="none" strike="noStrike">
                <a:solidFill>
                  <a:srgbClr val="1A1A1A"/>
                </a:solidFill>
                <a:effectLst/>
                <a:uFillTx/>
                <a:latin typeface="Arial"/>
                <a:ea typeface="DejaVu Sans"/>
              </a:rPr>
              <a:t>Implementar el proceso P3 (Registrar Compras), ya diseñado en el diccionario de datos, y controlar las compras a crédito de proveedores.</a:t>
            </a:r>
            <a:endParaRPr lang="es-E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3000"/>
              </a:lnSpc>
              <a:spcBef>
                <a:spcPts val="601"/>
              </a:spcBef>
            </a:pPr>
            <a:r>
              <a:rPr lang="es-ES" sz="1000" b="1" u="none" strike="noStrike">
                <a:solidFill>
                  <a:srgbClr val="1A1A1A"/>
                </a:solidFill>
                <a:effectLst/>
                <a:uFillTx/>
                <a:latin typeface="Arial"/>
                <a:ea typeface="DejaVu Sans"/>
              </a:rPr>
              <a:t>Centralización sincronizada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3000"/>
              </a:lnSpc>
              <a:spcBef>
                <a:spcPts val="201"/>
              </a:spcBef>
            </a:pPr>
            <a:r>
              <a:rPr lang="es-ES" sz="950" b="0" u="none" strike="noStrike">
                <a:solidFill>
                  <a:srgbClr val="1A1A1A"/>
                </a:solidFill>
                <a:effectLst/>
                <a:uFillTx/>
                <a:latin typeface="Arial"/>
                <a:ea typeface="DejaVu Sans"/>
              </a:rPr>
              <a:t>Migrar la base de datos a PostgreSQL en la nube si el abasto se expande a varias tiendas físicas.</a:t>
            </a:r>
            <a:endParaRPr lang="es-E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3000"/>
              </a:lnSpc>
              <a:spcBef>
                <a:spcPts val="601"/>
              </a:spcBef>
            </a:pPr>
            <a:r>
              <a:rPr lang="es-ES" sz="1000" b="1" u="none" strike="noStrike">
                <a:solidFill>
                  <a:srgbClr val="1A1A1A"/>
                </a:solidFill>
                <a:effectLst/>
                <a:uFillTx/>
                <a:latin typeface="Arial"/>
                <a:ea typeface="DejaVu Sans"/>
              </a:rPr>
              <a:t>Capacitación del personal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3000"/>
              </a:lnSpc>
              <a:spcBef>
                <a:spcPts val="201"/>
              </a:spcBef>
            </a:pPr>
            <a:r>
              <a:rPr lang="es-ES" sz="950" b="0" u="none" strike="noStrike">
                <a:solidFill>
                  <a:srgbClr val="1A1A1A"/>
                </a:solidFill>
                <a:effectLst/>
                <a:uFillTx/>
                <a:latin typeface="Arial"/>
                <a:ea typeface="DejaVu Sans"/>
              </a:rPr>
              <a:t>Documentar el rol de cada usuario y acompañar el despliegue con una sesión de capacitación para el personal del local.</a:t>
            </a:r>
            <a:endParaRPr lang="es-E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781</TotalTime>
  <Application>LibreOffice/26.8.0.3$Windows_X86_64 LibreOffice_project/bce0998afefdbc355585ca324285661a2170ba77</Application>
  <AppVersion>15.0000</AppVersion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2026-07-22T02:15:55Z</dcterms:created>
  <dc:creator>Hernández, Edelyn</dc:creator>
  <dc:description/>
  <dc:language>es-ES</dc:language>
  <cp:lastModifiedBy/>
  <dcterms:modified xsi:type="dcterms:W3CDTF">2026-09-30T10:47:33Z</dcterms:modified>
  <cp:revision>7</cp:revision>
  <dc:subject>Proyecto Final - Gestion de Ventas e Inventario</dc:subject>
  <dc:title>Gestor de Ventas e Inventario - Proyecto Final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3" name="PresentationFormat">
    <vt:lpwstr>On-screen Show (16:9)</vt:lpwstr>
  </property>
  <property fmtid="{D5CDD505-2E9C-101B-9397-08002B2CF9AE}" pid="4" name="Slides">
    <vt:r8>31</vt:r8>
  </property>
</Properties>
</file>